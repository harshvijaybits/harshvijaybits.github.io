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  <p:sldId id="295" r:id="rId3"/>
    <p:sldId id="287" r:id="rId4"/>
    <p:sldId id="265" r:id="rId5"/>
    <p:sldId id="280" r:id="rId6"/>
    <p:sldId id="267" r:id="rId7"/>
    <p:sldId id="291" r:id="rId8"/>
    <p:sldId id="294" r:id="rId9"/>
    <p:sldId id="271" r:id="rId10"/>
    <p:sldId id="275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C8A456"/>
                </a:solidFill>
                <a:latin typeface="Georgia"/>
              </a:defRPr>
            </a:pPr>
            <a:r>
              <a:rPr lang="en-US" sz="1600" b="1" dirty="0">
                <a:solidFill>
                  <a:srgbClr val="C8A456"/>
                </a:solidFill>
                <a:latin typeface="Georgia"/>
              </a:rPr>
              <a:t>Revenue (Rs Cr) &amp; EBITDA Margin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Revenue (Rs Cr)</c:v>
          </c:tx>
          <c:spPr>
            <a:solidFill>
              <a:srgbClr val="4A90D9"/>
            </a:solidFill>
            <a:ln>
              <a:noFill/>
            </a:ln>
          </c:spPr>
          <c:invertIfNegative val="1"/>
          <c:cat>
            <c:strLit>
              <c:ptCount val="14"/>
              <c:pt idx="0">
                <c:v>FY22A</c:v>
              </c:pt>
              <c:pt idx="1">
                <c:v>FY23A</c:v>
              </c:pt>
              <c:pt idx="2">
                <c:v>FY24A</c:v>
              </c:pt>
              <c:pt idx="3">
                <c:v>FY25A</c:v>
              </c:pt>
              <c:pt idx="4">
                <c:v>FY26E</c:v>
              </c:pt>
              <c:pt idx="5">
                <c:v>FY27E</c:v>
              </c:pt>
              <c:pt idx="6">
                <c:v>FY28E</c:v>
              </c:pt>
              <c:pt idx="7">
                <c:v>FY29E</c:v>
              </c:pt>
              <c:pt idx="8">
                <c:v>FY30E</c:v>
              </c:pt>
              <c:pt idx="9">
                <c:v>FY31E</c:v>
              </c:pt>
              <c:pt idx="10">
                <c:v>FY32E</c:v>
              </c:pt>
              <c:pt idx="11">
                <c:v>FY33E</c:v>
              </c:pt>
              <c:pt idx="12">
                <c:v>FY34E</c:v>
              </c:pt>
              <c:pt idx="13">
                <c:v>FY35E</c:v>
              </c:pt>
            </c:strLit>
          </c:cat>
          <c:val>
            <c:numLit>
              <c:formatCode>General</c:formatCode>
              <c:ptCount val="14"/>
              <c:pt idx="0">
                <c:v>215</c:v>
              </c:pt>
              <c:pt idx="1">
                <c:v>280</c:v>
              </c:pt>
              <c:pt idx="2">
                <c:v>741</c:v>
              </c:pt>
              <c:pt idx="3">
                <c:v>1334</c:v>
              </c:pt>
              <c:pt idx="4">
                <c:v>1950</c:v>
              </c:pt>
              <c:pt idx="5">
                <c:v>3500</c:v>
              </c:pt>
              <c:pt idx="6">
                <c:v>5800</c:v>
              </c:pt>
              <c:pt idx="7">
                <c:v>7500</c:v>
              </c:pt>
              <c:pt idx="8">
                <c:v>9000</c:v>
              </c:pt>
              <c:pt idx="9">
                <c:v>10350</c:v>
              </c:pt>
              <c:pt idx="10">
                <c:v>11800</c:v>
              </c:pt>
              <c:pt idx="11">
                <c:v>13100</c:v>
              </c:pt>
              <c:pt idx="12">
                <c:v>14200</c:v>
              </c:pt>
              <c:pt idx="13">
                <c:v>15200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FDD-4EF0-91ED-6CEDFC09D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1"/>
          <c:order val="1"/>
          <c:tx>
            <c:v>EBITDA Margin (%)</c:v>
          </c:tx>
          <c:spPr>
            <a:ln w="28575">
              <a:solidFill>
                <a:srgbClr val="C8A456"/>
              </a:solidFill>
            </a:ln>
          </c:spPr>
          <c:marker>
            <c:symbol val="circle"/>
            <c:size val="6"/>
            <c:spPr>
              <a:solidFill>
                <a:srgbClr val="C8A456"/>
              </a:solidFill>
              <a:ln>
                <a:solidFill>
                  <a:srgbClr val="C8A456"/>
                </a:solidFill>
              </a:ln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C8A4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4"/>
              <c:pt idx="0">
                <c:v>FY22A</c:v>
              </c:pt>
              <c:pt idx="1">
                <c:v>FY23A</c:v>
              </c:pt>
              <c:pt idx="2">
                <c:v>FY24A</c:v>
              </c:pt>
              <c:pt idx="3">
                <c:v>FY25A</c:v>
              </c:pt>
              <c:pt idx="4">
                <c:v>FY26E</c:v>
              </c:pt>
              <c:pt idx="5">
                <c:v>FY27E</c:v>
              </c:pt>
              <c:pt idx="6">
                <c:v>FY28E</c:v>
              </c:pt>
              <c:pt idx="7">
                <c:v>FY29E</c:v>
              </c:pt>
              <c:pt idx="8">
                <c:v>FY30E</c:v>
              </c:pt>
              <c:pt idx="9">
                <c:v>FY31E</c:v>
              </c:pt>
              <c:pt idx="10">
                <c:v>FY32E</c:v>
              </c:pt>
              <c:pt idx="11">
                <c:v>FY33E</c:v>
              </c:pt>
              <c:pt idx="12">
                <c:v>FY34E</c:v>
              </c:pt>
              <c:pt idx="13">
                <c:v>FY35E</c:v>
              </c:pt>
            </c:strLit>
          </c:cat>
          <c:val>
            <c:numLit>
              <c:formatCode>General</c:formatCode>
              <c:ptCount val="14"/>
              <c:pt idx="0">
                <c:v>6</c:v>
              </c:pt>
              <c:pt idx="1">
                <c:v>6.7</c:v>
              </c:pt>
              <c:pt idx="2">
                <c:v>11.4</c:v>
              </c:pt>
              <c:pt idx="3">
                <c:v>12.8</c:v>
              </c:pt>
              <c:pt idx="4">
                <c:v>14</c:v>
              </c:pt>
              <c:pt idx="5">
                <c:v>15.5</c:v>
              </c:pt>
              <c:pt idx="6">
                <c:v>18</c:v>
              </c:pt>
              <c:pt idx="7">
                <c:v>18.5</c:v>
              </c:pt>
              <c:pt idx="8">
                <c:v>18</c:v>
              </c:pt>
              <c:pt idx="9">
                <c:v>17.5</c:v>
              </c:pt>
              <c:pt idx="10">
                <c:v>17</c:v>
              </c:pt>
              <c:pt idx="11">
                <c:v>17</c:v>
              </c:pt>
              <c:pt idx="12">
                <c:v>16.5</c:v>
              </c:pt>
              <c:pt idx="13">
                <c:v>16.5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6FDD-4EF0-91ED-6CEDFC09D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3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8A8278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A8278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  <c:valAx>
        <c:axId val="3"/>
        <c:scaling>
          <c:orientation val="minMax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C8A456"/>
                </a:solidFill>
                <a:latin typeface="Calibri"/>
              </a:defRPr>
            </a:pPr>
            <a:endParaRPr lang="en-US"/>
          </a:p>
        </c:txPr>
        <c:crossAx val="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B8B0A4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C8A456"/>
                </a:solidFill>
                <a:latin typeface="Georgia"/>
              </a:defRPr>
            </a:pPr>
            <a:r>
              <a:rPr lang="en-US" sz="1600" b="1" dirty="0">
                <a:solidFill>
                  <a:srgbClr val="C8A456"/>
                </a:solidFill>
                <a:latin typeface="Georgia"/>
              </a:rPr>
              <a:t>NOPAT, Capex &amp; FCFF (Rs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NOPAT</c:v>
          </c:tx>
          <c:spPr>
            <a:solidFill>
              <a:srgbClr val="4A90D9"/>
            </a:solidFill>
            <a:ln>
              <a:noFill/>
            </a:ln>
          </c:spPr>
          <c:invertIfNegative val="1"/>
          <c:cat>
            <c:strLit>
              <c:ptCount val="10"/>
              <c:pt idx="0">
                <c:v>FY26E</c:v>
              </c:pt>
              <c:pt idx="1">
                <c:v>FY27E</c:v>
              </c:pt>
              <c:pt idx="2">
                <c:v>FY28E</c:v>
              </c:pt>
              <c:pt idx="3">
                <c:v>FY29E</c:v>
              </c:pt>
              <c:pt idx="4">
                <c:v>FY30E</c:v>
              </c:pt>
              <c:pt idx="5">
                <c:v>FY31E</c:v>
              </c:pt>
              <c:pt idx="6">
                <c:v>FY32E</c:v>
              </c:pt>
              <c:pt idx="7">
                <c:v>FY33E</c:v>
              </c:pt>
              <c:pt idx="8">
                <c:v>FY34E</c:v>
              </c:pt>
              <c:pt idx="9">
                <c:v>FY35E</c:v>
              </c:pt>
            </c:strLit>
          </c:cat>
          <c:val>
            <c:numLit>
              <c:formatCode>General</c:formatCode>
              <c:ptCount val="10"/>
              <c:pt idx="0">
                <c:v>175.5</c:v>
              </c:pt>
              <c:pt idx="1">
                <c:v>341.25</c:v>
              </c:pt>
              <c:pt idx="2">
                <c:v>652.5</c:v>
              </c:pt>
              <c:pt idx="3">
                <c:v>871.875</c:v>
              </c:pt>
              <c:pt idx="4">
                <c:v>1026</c:v>
              </c:pt>
              <c:pt idx="5">
                <c:v>1164.375</c:v>
              </c:pt>
              <c:pt idx="6">
                <c:v>1300.95</c:v>
              </c:pt>
              <c:pt idx="7">
                <c:v>1454.1</c:v>
              </c:pt>
              <c:pt idx="8">
                <c:v>1544.25</c:v>
              </c:pt>
              <c:pt idx="9">
                <c:v>1653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48A-4F78-883B-94D6AD76E39A}"/>
            </c:ext>
          </c:extLst>
        </c:ser>
        <c:ser>
          <c:idx val="1"/>
          <c:order val="1"/>
          <c:tx>
            <c:v>Capex</c:v>
          </c:tx>
          <c:spPr>
            <a:solidFill>
              <a:srgbClr val="D4724E"/>
            </a:solidFill>
            <a:ln>
              <a:noFill/>
            </a:ln>
          </c:spPr>
          <c:invertIfNegative val="1"/>
          <c:cat>
            <c:strLit>
              <c:ptCount val="10"/>
              <c:pt idx="0">
                <c:v>FY26E</c:v>
              </c:pt>
              <c:pt idx="1">
                <c:v>FY27E</c:v>
              </c:pt>
              <c:pt idx="2">
                <c:v>FY28E</c:v>
              </c:pt>
              <c:pt idx="3">
                <c:v>FY29E</c:v>
              </c:pt>
              <c:pt idx="4">
                <c:v>FY30E</c:v>
              </c:pt>
              <c:pt idx="5">
                <c:v>FY31E</c:v>
              </c:pt>
              <c:pt idx="6">
                <c:v>FY32E</c:v>
              </c:pt>
              <c:pt idx="7">
                <c:v>FY33E</c:v>
              </c:pt>
              <c:pt idx="8">
                <c:v>FY34E</c:v>
              </c:pt>
              <c:pt idx="9">
                <c:v>FY35E</c:v>
              </c:pt>
            </c:strLit>
          </c:cat>
          <c:val>
            <c:numLit>
              <c:formatCode>General</c:formatCode>
              <c:ptCount val="10"/>
              <c:pt idx="0">
                <c:v>500</c:v>
              </c:pt>
              <c:pt idx="1">
                <c:v>600</c:v>
              </c:pt>
              <c:pt idx="2">
                <c:v>200</c:v>
              </c:pt>
              <c:pt idx="3">
                <c:v>150</c:v>
              </c:pt>
              <c:pt idx="4">
                <c:v>200</c:v>
              </c:pt>
              <c:pt idx="5">
                <c:v>200</c:v>
              </c:pt>
              <c:pt idx="6">
                <c:v>250</c:v>
              </c:pt>
              <c:pt idx="7">
                <c:v>250</c:v>
              </c:pt>
              <c:pt idx="8">
                <c:v>200</c:v>
              </c:pt>
              <c:pt idx="9">
                <c:v>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48A-4F78-883B-94D6AD76E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2"/>
          <c:order val="2"/>
          <c:tx>
            <c:v>FCFF</c:v>
          </c:tx>
          <c:spPr>
            <a:ln w="28575">
              <a:solidFill>
                <a:srgbClr val="C8A456"/>
              </a:solidFill>
            </a:ln>
          </c:spPr>
          <c:marker>
            <c:symbol val="diamond"/>
            <c:size val="8"/>
            <c:spPr>
              <a:solidFill>
                <a:srgbClr val="C8A456"/>
              </a:solidFill>
              <a:ln>
                <a:solidFill>
                  <a:srgbClr val="C8A456"/>
                </a:solidFill>
              </a:ln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C8A45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FY26E</c:v>
              </c:pt>
              <c:pt idx="1">
                <c:v>FY27E</c:v>
              </c:pt>
              <c:pt idx="2">
                <c:v>FY28E</c:v>
              </c:pt>
              <c:pt idx="3">
                <c:v>FY29E</c:v>
              </c:pt>
              <c:pt idx="4">
                <c:v>FY30E</c:v>
              </c:pt>
              <c:pt idx="5">
                <c:v>FY31E</c:v>
              </c:pt>
              <c:pt idx="6">
                <c:v>FY32E</c:v>
              </c:pt>
              <c:pt idx="7">
                <c:v>FY33E</c:v>
              </c:pt>
              <c:pt idx="8">
                <c:v>FY34E</c:v>
              </c:pt>
              <c:pt idx="9">
                <c:v>FY35E</c:v>
              </c:pt>
            </c:strLit>
          </c:cat>
          <c:val>
            <c:numLit>
              <c:formatCode>General</c:formatCode>
              <c:ptCount val="10"/>
              <c:pt idx="0">
                <c:v>-378.32</c:v>
              </c:pt>
              <c:pt idx="1">
                <c:v>-356.87</c:v>
              </c:pt>
              <c:pt idx="2">
                <c:v>311.43</c:v>
              </c:pt>
              <c:pt idx="3">
                <c:v>755.09</c:v>
              </c:pt>
              <c:pt idx="4">
                <c:v>954.71</c:v>
              </c:pt>
              <c:pt idx="5">
                <c:v>1056.69</c:v>
              </c:pt>
              <c:pt idx="6">
                <c:v>1143.58</c:v>
              </c:pt>
              <c:pt idx="7">
                <c:v>1332.03</c:v>
              </c:pt>
              <c:pt idx="8">
                <c:v>1492.63</c:v>
              </c:pt>
              <c:pt idx="9">
                <c:v>1633.71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F48A-4F78-883B-94D6AD76E3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8A8278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8A8278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B8B0A4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4281-B0F9-578C-6B72-F62CC2F8C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0A792-B365-4E25-6532-C1EDF30D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4E71-4DA6-336D-01A7-1CA20285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31C1-AB55-3D3B-1A04-B52587CD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84CA-EE28-EA97-8542-A4E2C24B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1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0126-F9F4-2029-1A15-74F99265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513A-3DB9-E9A5-557A-B2B69C417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2E278-68A7-851D-7BC0-5050B16D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536E7-FAAD-FDD1-544B-EBA68A67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1AF8-B401-1C6F-9FB3-F2AF73F0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29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9110-932A-1583-982E-9BF37F78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58080-C53E-C9C1-CA6A-10127E3C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79A5C-CABE-AC3B-D28B-7F8A3A77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8A5D-9394-3E8D-A56D-27601EE8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2F976-4302-A8F1-D28F-B4867DBB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2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0D17-5691-BEFD-B6AF-1CE2484D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EDCF9-75B6-B33B-3C94-8477A50E42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EAE55-8B73-3B9A-C330-D54CF33AB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56F6A-0AFD-DC9E-00AB-0DBABF77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BD37-B481-27E4-1485-8E7584A3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46647-965B-AD4C-7133-3AD93118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27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AF5C-4D92-12A5-200D-9E774A3A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10A0B-5502-D2BD-9E22-28CA3EA82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0F72B-2327-BED9-60E1-1D6505618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C87AD5-67AF-9CEC-BE5D-9A5B89888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62A35-EF05-A4DF-33DE-C1D31AC40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C397C-8F9F-D1A4-A0C0-1B139EAE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B6642-6CE6-97F2-0104-681123CF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6C22-FEFD-3979-9236-A43F68F8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1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6A62-6385-1890-33FA-48B9E5AB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C7677-59F5-393A-7F2C-1A062A08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4070A-36A4-380C-06BB-B9CBE478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619F4-9EAD-CB5B-DA23-3B8D8E24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9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DE01E-A537-375B-00D4-8E67223E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4BF36-DE2C-8E7A-CE36-A704D654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C4C26-A64F-25E7-403C-32299B56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0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0916-5638-06A6-22F5-1BF1D5CB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A6A6-CC6C-2A44-142A-D93C6EE6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0F37E-9E34-0F93-0756-2EE8E7942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BCA39-4EB0-BF0A-221A-6515CDDE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61135-22F6-0468-8C60-74FD1C3D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7C93B-EC96-7BA8-A65C-28BEC45B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46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83CA-CF8A-BE64-B17D-215216DD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E2501-34DA-6BC9-064D-8DF90F249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4E7DC-A928-8C1C-1FAF-47AE9A53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CE241-525E-819B-85D3-06D80E9E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5D42B-1EE4-5CB8-7B91-6BF7DAE0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A75EC-78ED-FBCA-12FC-86FD356E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8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B8E1-4DBA-30EC-76C6-8F71C304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CC5AD-4FE2-40B7-ED9B-227549CAA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BAA44-B29F-E9BD-C16E-147C79B2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435EB-B5FE-5C51-81C2-9F373AD2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90617-9127-8D30-0CF9-A67951CB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3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5336E-6D74-CDDC-43BE-CF79204B3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BB84A-0B1D-4F88-B411-972B27B9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0549-8878-3AE6-F6A0-5284C5E9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E1C08-ECEF-C8AE-10A1-3C8BDA04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980-A345-18FF-6842-313DAFC1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70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C1829"/>
            </a:gs>
            <a:gs pos="100000">
              <a:srgbClr val="0810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D970F-56D8-BCA0-7433-58E3068B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92D4C-C3D1-E3E6-FAC5-E82A7175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D66BD-368A-8273-B60B-BBD0B5266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CEEC1-8007-4AD4-8342-8845A04D1E02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BE512-1D8B-1099-0A47-F14E4C947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3588-31D1-4F5B-1166-E61A53D7C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CCB65-FD06-4303-8024-954B690BB972}" type="slidenum">
              <a:rPr lang="en-IN" smtClean="0"/>
              <a:t>‹#›</a:t>
            </a:fld>
            <a:endParaRPr lang="en-IN"/>
          </a:p>
        </p:txBody>
      </p:sp>
      <p:sp>
        <p:nvSpPr>
          <p:cNvPr id="1000" name="AccentLineTop"/>
          <p:cNvSpPr/>
          <p:nvPr userDrawn="1"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1" name="AccentLineBottom"/>
          <p:cNvSpPr/>
          <p:nvPr userDrawn="1"/>
        </p:nvSpPr>
        <p:spPr>
          <a:xfrm>
            <a:off x="0" y="6812280"/>
            <a:ext cx="12192000" cy="25400"/>
          </a:xfrm>
          <a:prstGeom prst="rect">
            <a:avLst/>
          </a:prstGeom>
          <a:solidFill>
            <a:srgbClr val="C8A456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5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4D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CA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CAC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CAC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CAC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CA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D0CAC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CAC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CAC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CAC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CAC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eftPanel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60D1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ivider"/>
          <p:cNvSpPr/>
          <p:nvPr/>
        </p:nvSpPr>
        <p:spPr>
          <a:xfrm>
            <a:off x="3657600" y="2590800"/>
            <a:ext cx="4876800" cy="2540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fidential"/>
          <p:cNvSpPr/>
          <p:nvPr/>
        </p:nvSpPr>
        <p:spPr>
          <a:xfrm>
            <a:off x="9144000" y="2286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000" spc="300" dirty="0">
                <a:solidFill>
                  <a:srgbClr val="C8A456"/>
                </a:solidFill>
                <a:latin typeface="Calibri"/>
              </a:rPr>
              <a:t>CONFIDENTIAL</a:t>
            </a:r>
          </a:p>
        </p:txBody>
      </p:sp>
      <p:sp>
        <p:nvSpPr>
          <p:cNvPr id="12" name="Title"/>
          <p:cNvSpPr/>
          <p:nvPr/>
        </p:nvSpPr>
        <p:spPr>
          <a:xfrm>
            <a:off x="3657600" y="1371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3600" dirty="0">
                <a:solidFill>
                  <a:srgbClr val="E8E4DF"/>
                </a:solidFill>
                <a:latin typeface="Georgia"/>
              </a:rPr>
              <a:t>Insolation Energy</a:t>
            </a:r>
          </a:p>
          <a:p>
            <a:pPr algn="l"/>
            <a:r>
              <a:rPr lang="en-US" sz="3600" dirty="0">
                <a:solidFill>
                  <a:srgbClr val="C8A456"/>
                </a:solidFill>
                <a:latin typeface="Georgia"/>
              </a:rPr>
              <a:t>Limited</a:t>
            </a:r>
          </a:p>
        </p:txBody>
      </p:sp>
      <p:sp>
        <p:nvSpPr>
          <p:cNvPr id="13" name="Subtitle"/>
          <p:cNvSpPr/>
          <p:nvPr/>
        </p:nvSpPr>
        <p:spPr>
          <a:xfrm>
            <a:off x="3657600" y="27305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spcBef>
                <a:spcPts val="600"/>
              </a:spcBef>
            </a:pPr>
            <a:r>
              <a:rPr lang="en-US" sz="2000" spc="200" dirty="0">
                <a:solidFill>
                  <a:srgbClr val="B8B0A4"/>
                </a:solidFill>
                <a:latin typeface="Calibri"/>
              </a:rPr>
              <a:t>INVESTMENT COMMITTEE MEMORANDUM</a:t>
            </a:r>
          </a:p>
          <a:p>
            <a:pPr algn="l">
              <a:spcBef>
                <a:spcPts val="400"/>
              </a:spcBef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Indian Solar PV Module Manufacturer  |  NSE: INSOLATION</a:t>
            </a:r>
          </a:p>
        </p:txBody>
      </p:sp>
      <p:sp>
        <p:nvSpPr>
          <p:cNvPr id="14" name="DateBox"/>
          <p:cNvSpPr/>
          <p:nvPr/>
        </p:nvSpPr>
        <p:spPr>
          <a:xfrm>
            <a:off x="3657600" y="4318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1400" dirty="0">
                <a:solidFill>
                  <a:srgbClr val="8A8278"/>
                </a:solidFill>
                <a:latin typeface="Calibri"/>
              </a:rPr>
              <a:t>March 2026  |  CMP: ₹96  |  Mkt Cap: ₹2,119 Cr</a:t>
            </a:r>
          </a:p>
        </p:txBody>
      </p:sp>
      <p:sp>
        <p:nvSpPr>
          <p:cNvPr id="16" name="SunSymbol"/>
          <p:cNvSpPr/>
          <p:nvPr/>
        </p:nvSpPr>
        <p:spPr>
          <a:xfrm>
            <a:off x="914400" y="2286000"/>
            <a:ext cx="1371600" cy="1371600"/>
          </a:xfrm>
          <a:prstGeom prst="donut">
            <a:avLst/>
          </a:prstGeom>
          <a:solidFill>
            <a:srgbClr val="C8A456">
              <a:alpha val="25000"/>
            </a:srgbClr>
          </a:solidFill>
          <a:ln w="19050">
            <a:solidFill>
              <a:srgbClr val="C8A456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VertAccent"/>
          <p:cNvSpPr/>
          <p:nvPr/>
        </p:nvSpPr>
        <p:spPr>
          <a:xfrm>
            <a:off x="3200400" y="0"/>
            <a:ext cx="25400" cy="6858000"/>
          </a:xfrm>
          <a:prstGeom prst="rect">
            <a:avLst/>
          </a:prstGeom>
          <a:solidFill>
            <a:srgbClr val="C8A456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raphic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177800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0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Investment Highlights</a:t>
            </a:r>
          </a:p>
        </p:txBody>
      </p:sp>
      <p:sp>
        <p:nvSpPr>
          <p:cNvPr id="21" name="Title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0"/>
          <p:cNvSpPr/>
          <p:nvPr/>
        </p:nvSpPr>
        <p:spPr>
          <a:xfrm>
            <a:off x="457200" y="9144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C8A456"/>
                </a:solidFill>
                <a:latin typeface="Georgia"/>
              </a:rPr>
              <a:t>168% Upside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Blended fair value of ₹258/sh vs CMP ₹96 implies significant re-rating potential</a:t>
            </a:r>
          </a:p>
        </p:txBody>
      </p:sp>
      <p:sp>
        <p:nvSpPr>
          <p:cNvPr id="31" name="Accent0"/>
          <p:cNvSpPr/>
          <p:nvPr/>
        </p:nvSpPr>
        <p:spPr>
          <a:xfrm>
            <a:off x="5486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1"/>
          <p:cNvSpPr/>
          <p:nvPr/>
        </p:nvSpPr>
        <p:spPr>
          <a:xfrm>
            <a:off x="4191000" y="9144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4A90D9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4A90D9"/>
                </a:solidFill>
                <a:latin typeface="Georgia"/>
              </a:rPr>
              <a:t>5.5 GW Capacity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Scaling to 8GW+ with backward integration into cell manufacturing as key catalyst</a:t>
            </a:r>
          </a:p>
        </p:txBody>
      </p:sp>
      <p:sp>
        <p:nvSpPr>
          <p:cNvPr id="33" name="Accent1"/>
          <p:cNvSpPr/>
          <p:nvPr/>
        </p:nvSpPr>
        <p:spPr>
          <a:xfrm>
            <a:off x="42824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Card2"/>
          <p:cNvSpPr/>
          <p:nvPr/>
        </p:nvSpPr>
        <p:spPr>
          <a:xfrm>
            <a:off x="7924800" y="9144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5BAD7A"/>
                </a:solidFill>
                <a:latin typeface="Georgia"/>
              </a:rPr>
              <a:t>80% Rev CAGR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Revenue grew from ₹215 Cr (FY22) to ₹1,334 Cr (FY25) — 3-yr historical CAGR of ~84%</a:t>
            </a:r>
          </a:p>
        </p:txBody>
      </p:sp>
      <p:sp>
        <p:nvSpPr>
          <p:cNvPr id="35" name="Accent2"/>
          <p:cNvSpPr/>
          <p:nvPr/>
        </p:nvSpPr>
        <p:spPr>
          <a:xfrm>
            <a:off x="80162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5BAD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Card3"/>
          <p:cNvSpPr/>
          <p:nvPr/>
        </p:nvSpPr>
        <p:spPr>
          <a:xfrm>
            <a:off x="457200" y="28956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D4724E"/>
                </a:solidFill>
                <a:latin typeface="Georgia"/>
              </a:rPr>
              <a:t>Mainboard Migration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Recently migrated to NSE mainboard (Mar 2026) — unlocks institutional ownership</a:t>
            </a:r>
          </a:p>
        </p:txBody>
      </p:sp>
      <p:sp>
        <p:nvSpPr>
          <p:cNvPr id="37" name="Accent3"/>
          <p:cNvSpPr/>
          <p:nvPr/>
        </p:nvSpPr>
        <p:spPr>
          <a:xfrm>
            <a:off x="548640" y="28956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D472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Card4"/>
          <p:cNvSpPr/>
          <p:nvPr/>
        </p:nvSpPr>
        <p:spPr>
          <a:xfrm>
            <a:off x="4191000" y="28956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8B6DB0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8B6DB0"/>
                </a:solidFill>
                <a:latin typeface="Georgia"/>
              </a:rPr>
              <a:t>Peer Discount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Trades at 14.6x P/E vs 37x peer median — 60% discount despite comparable margins</a:t>
            </a:r>
          </a:p>
        </p:txBody>
      </p:sp>
      <p:sp>
        <p:nvSpPr>
          <p:cNvPr id="39" name="Accent4"/>
          <p:cNvSpPr/>
          <p:nvPr/>
        </p:nvSpPr>
        <p:spPr>
          <a:xfrm>
            <a:off x="4282440" y="28956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8B6D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Card5"/>
          <p:cNvSpPr/>
          <p:nvPr/>
        </p:nvSpPr>
        <p:spPr>
          <a:xfrm>
            <a:off x="7924800" y="2895600"/>
            <a:ext cx="3505200" cy="18288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3D7A8A">
                <a:alpha val="40000"/>
              </a:srgbClr>
            </a:solidFill>
          </a:ln>
        </p:spPr>
        <p:txBody>
          <a:bodyPr lIns="182880" tIns="182880" rIns="182880" bIns="91440" anchor="t"/>
          <a:lstStyle/>
          <a:p>
            <a:pPr algn="l">
              <a:spcAft>
                <a:spcPts val="400"/>
              </a:spcAft>
            </a:pPr>
            <a:r>
              <a:rPr lang="en-US" sz="2200" b="1" dirty="0">
                <a:solidFill>
                  <a:srgbClr val="3D7A8A"/>
                </a:solidFill>
                <a:latin typeface="Georgia"/>
              </a:rPr>
              <a:t>Strong Execution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Management has delivered on capacity and margin guidance consistently across FY22-FY25</a:t>
            </a:r>
          </a:p>
        </p:txBody>
      </p:sp>
      <p:sp>
        <p:nvSpPr>
          <p:cNvPr id="41" name="Accent5"/>
          <p:cNvSpPr/>
          <p:nvPr/>
        </p:nvSpPr>
        <p:spPr>
          <a:xfrm>
            <a:off x="8016240" y="28956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3D7A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Label"/>
          <p:cNvSpPr/>
          <p:nvPr/>
        </p:nvSpPr>
        <p:spPr>
          <a:xfrm>
            <a:off x="457200" y="50292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1400" spc="200" dirty="0">
                <a:solidFill>
                  <a:srgbClr val="8A8278"/>
                </a:solidFill>
                <a:latin typeface="Calibri"/>
              </a:rPr>
              <a:t>FY25 ACTUALS AT A GLANCE</a:t>
            </a:r>
          </a:p>
        </p:txBody>
      </p:sp>
      <p:sp>
        <p:nvSpPr>
          <p:cNvPr id="46" name="SepLine"/>
          <p:cNvSpPr/>
          <p:nvPr/>
        </p:nvSpPr>
        <p:spPr>
          <a:xfrm>
            <a:off x="457200" y="5334000"/>
            <a:ext cx="11277600" cy="12700"/>
          </a:xfrm>
          <a:prstGeom prst="rect">
            <a:avLst/>
          </a:prstGeom>
          <a:solidFill>
            <a:srgbClr val="C8A456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KPI0"/>
          <p:cNvSpPr/>
          <p:nvPr/>
        </p:nvSpPr>
        <p:spPr>
          <a:xfrm>
            <a:off x="457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Revenue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₹1,334 Cr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5BAD7A"/>
                </a:solidFill>
                <a:latin typeface="Calibri"/>
              </a:rPr>
              <a:t>+80% YoY</a:t>
            </a:r>
          </a:p>
        </p:txBody>
      </p:sp>
      <p:sp>
        <p:nvSpPr>
          <p:cNvPr id="48" name="KPI1"/>
          <p:cNvSpPr/>
          <p:nvPr/>
        </p:nvSpPr>
        <p:spPr>
          <a:xfrm>
            <a:off x="2362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EBITDA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₹171 Cr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A90D9"/>
                </a:solidFill>
                <a:latin typeface="Calibri"/>
              </a:rPr>
              <a:t>12.8% Margin</a:t>
            </a:r>
          </a:p>
        </p:txBody>
      </p:sp>
      <p:sp>
        <p:nvSpPr>
          <p:cNvPr id="49" name="KPI2"/>
          <p:cNvSpPr/>
          <p:nvPr/>
        </p:nvSpPr>
        <p:spPr>
          <a:xfrm>
            <a:off x="4267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PAT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₹100 Cr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4A90D9"/>
                </a:solidFill>
                <a:latin typeface="Calibri"/>
              </a:rPr>
              <a:t>7.5% Margin</a:t>
            </a:r>
          </a:p>
        </p:txBody>
      </p:sp>
      <p:sp>
        <p:nvSpPr>
          <p:cNvPr id="50" name="KPI3"/>
          <p:cNvSpPr/>
          <p:nvPr/>
        </p:nvSpPr>
        <p:spPr>
          <a:xfrm>
            <a:off x="6172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EPS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₹48.10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8A8278"/>
                </a:solidFill>
                <a:latin typeface="Calibri"/>
              </a:rPr>
              <a:t>Pre-Split Basis</a:t>
            </a:r>
          </a:p>
        </p:txBody>
      </p:sp>
      <p:sp>
        <p:nvSpPr>
          <p:cNvPr id="51" name="KPI4"/>
          <p:cNvSpPr/>
          <p:nvPr/>
        </p:nvSpPr>
        <p:spPr>
          <a:xfrm>
            <a:off x="8077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ROCE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30.0%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C8A456"/>
                </a:solidFill>
                <a:latin typeface="Calibri"/>
              </a:rPr>
              <a:t>FY25A</a:t>
            </a:r>
          </a:p>
        </p:txBody>
      </p:sp>
      <p:sp>
        <p:nvSpPr>
          <p:cNvPr id="52" name="KPI5"/>
          <p:cNvSpPr/>
          <p:nvPr/>
        </p:nvSpPr>
        <p:spPr>
          <a:xfrm>
            <a:off x="9982200" y="5410200"/>
            <a:ext cx="1752600" cy="762000"/>
          </a:xfrm>
          <a:prstGeom prst="rect">
            <a:avLst/>
          </a:prstGeom>
          <a:noFill/>
          <a:ln>
            <a:noFill/>
          </a:ln>
        </p:spPr>
        <p:txBody>
          <a:bodyPr lIns="45720" tIns="0" rIns="45720" bIns="0" anchor="t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D/E Ratio</a:t>
            </a:r>
          </a:p>
          <a:p>
            <a:pPr algn="l">
              <a:spcBef>
                <a:spcPts val="100"/>
              </a:spcBef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0.55x</a:t>
            </a:r>
          </a:p>
          <a:p>
            <a:pPr algn="l">
              <a:spcBef>
                <a:spcPts val="100"/>
              </a:spcBef>
            </a:pPr>
            <a:r>
              <a:rPr lang="en-US" sz="1100" dirty="0">
                <a:solidFill>
                  <a:srgbClr val="D4724E"/>
                </a:solidFill>
                <a:latin typeface="Calibri"/>
              </a:rPr>
              <a:t>Moderate Leverage</a:t>
            </a:r>
          </a:p>
        </p:txBody>
      </p:sp>
    </p:spTree>
    <p:extLst>
      <p:ext uri="{BB962C8B-B14F-4D97-AF65-F5344CB8AC3E}">
        <p14:creationId xmlns:p14="http://schemas.microsoft.com/office/powerpoint/2010/main" val="95400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Company Overview</a:t>
            </a:r>
          </a:p>
        </p:txBody>
      </p:sp>
      <p:sp>
        <p:nvSpPr>
          <p:cNvPr id="5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Desc"/>
          <p:cNvSpPr/>
          <p:nvPr/>
        </p:nvSpPr>
        <p:spPr>
          <a:xfrm>
            <a:off x="457200" y="914400"/>
            <a:ext cx="6858000" cy="198120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C8A456">
                <a:alpha val="30000"/>
              </a:srgbClr>
            </a:solidFill>
          </a:ln>
        </p:spPr>
        <p:txBody>
          <a:bodyPr lIns="182880" tIns="137160" rIns="182880" bIns="137160" anchor="t"/>
          <a:lstStyle/>
          <a:p>
            <a:pPr algn="l">
              <a:spcAft>
                <a:spcPts val="500"/>
              </a:spcAft>
            </a:pPr>
            <a:r>
              <a:rPr lang="en-US" sz="1600" b="1" dirty="0">
                <a:solidFill>
                  <a:srgbClr val="C8A456"/>
                </a:solidFill>
                <a:latin typeface="Calibri"/>
              </a:rPr>
              <a:t>Business Description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Indian solar PV module manufacturer with 5.5 GW installed capacity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Scaling to 8GW+ with cell integration as key upcoming catalyst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Migrated to NSE mainboard (Mar 9, 2026) — unlocking institutional flows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Trades at deep discount to peers due to smaller scale and limited analyst coverage</a:t>
            </a:r>
          </a:p>
        </p:txBody>
      </p:sp>
      <p:sp>
        <p:nvSpPr>
          <p:cNvPr id="60" name="Metric0"/>
          <p:cNvSpPr/>
          <p:nvPr/>
        </p:nvSpPr>
        <p:spPr>
          <a:xfrm>
            <a:off x="7620000" y="914400"/>
            <a:ext cx="3962400" cy="41148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4A90D9">
                <a:alpha val="30000"/>
              </a:srgbClr>
            </a:solidFill>
          </a:ln>
        </p:spPr>
        <p:txBody>
          <a:bodyPr lIns="137160" tIns="45720" rIns="137160" bIns="45720" anchor="ctr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Module Capacity    </a:t>
            </a:r>
            <a:r>
              <a:rPr lang="en-US" sz="1600" b="1" dirty="0">
                <a:solidFill>
                  <a:srgbClr val="C8A456"/>
                </a:solidFill>
                <a:latin typeface="Georgia"/>
              </a:rPr>
              <a:t>5.5 GW</a:t>
            </a:r>
            <a:r>
              <a:rPr lang="en-US" sz="1200" dirty="0">
                <a:solidFill>
                  <a:srgbClr val="5BAD7A"/>
                </a:solidFill>
                <a:latin typeface="Calibri"/>
              </a:rPr>
              <a:t>   Scaling to 8GW+</a:t>
            </a:r>
          </a:p>
        </p:txBody>
      </p:sp>
      <p:sp>
        <p:nvSpPr>
          <p:cNvPr id="61" name="Metric1"/>
          <p:cNvSpPr/>
          <p:nvPr/>
        </p:nvSpPr>
        <p:spPr>
          <a:xfrm>
            <a:off x="7620000" y="1402080"/>
            <a:ext cx="3962400" cy="41148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4A90D9">
                <a:alpha val="30000"/>
              </a:srgbClr>
            </a:solidFill>
          </a:ln>
        </p:spPr>
        <p:txBody>
          <a:bodyPr lIns="137160" tIns="45720" rIns="137160" bIns="45720" anchor="ctr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FY25 Revenue    </a:t>
            </a:r>
            <a:r>
              <a:rPr lang="en-US" sz="1600" b="1" dirty="0">
                <a:solidFill>
                  <a:srgbClr val="C8A456"/>
                </a:solidFill>
                <a:latin typeface="Georgia"/>
              </a:rPr>
              <a:t>₹1,334 Cr</a:t>
            </a:r>
            <a:r>
              <a:rPr lang="en-US" sz="1200" dirty="0">
                <a:solidFill>
                  <a:srgbClr val="5BAD7A"/>
                </a:solidFill>
                <a:latin typeface="Calibri"/>
              </a:rPr>
              <a:t>   80% YoY Growth</a:t>
            </a:r>
          </a:p>
        </p:txBody>
      </p:sp>
      <p:sp>
        <p:nvSpPr>
          <p:cNvPr id="62" name="Metric2"/>
          <p:cNvSpPr/>
          <p:nvPr/>
        </p:nvSpPr>
        <p:spPr>
          <a:xfrm>
            <a:off x="7620000" y="1889760"/>
            <a:ext cx="3962400" cy="41148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4A90D9">
                <a:alpha val="30000"/>
              </a:srgbClr>
            </a:solidFill>
          </a:ln>
        </p:spPr>
        <p:txBody>
          <a:bodyPr lIns="137160" tIns="45720" rIns="137160" bIns="45720" anchor="ctr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Market Cap    </a:t>
            </a:r>
            <a:r>
              <a:rPr lang="en-US" sz="1600" b="1" dirty="0">
                <a:solidFill>
                  <a:srgbClr val="C8A456"/>
                </a:solidFill>
                <a:latin typeface="Georgia"/>
              </a:rPr>
              <a:t>₹2,119 Cr</a:t>
            </a:r>
            <a:r>
              <a:rPr lang="en-US" sz="1200" dirty="0">
                <a:solidFill>
                  <a:srgbClr val="5BAD7A"/>
                </a:solidFill>
                <a:latin typeface="Calibri"/>
              </a:rPr>
              <a:t>   NSE: INSOLATION</a:t>
            </a:r>
          </a:p>
        </p:txBody>
      </p:sp>
      <p:sp>
        <p:nvSpPr>
          <p:cNvPr id="63" name="Metric3"/>
          <p:cNvSpPr/>
          <p:nvPr/>
        </p:nvSpPr>
        <p:spPr>
          <a:xfrm>
            <a:off x="7620000" y="2377440"/>
            <a:ext cx="3962400" cy="41148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4A90D9">
                <a:alpha val="30000"/>
              </a:srgbClr>
            </a:solidFill>
          </a:ln>
        </p:spPr>
        <p:txBody>
          <a:bodyPr lIns="137160" tIns="45720" rIns="137160" bIns="45720" anchor="ctr"/>
          <a:lstStyle/>
          <a:p>
            <a:pPr algn="l"/>
            <a:r>
              <a:rPr lang="en-US" sz="1200" dirty="0">
                <a:solidFill>
                  <a:srgbClr val="8A8278"/>
                </a:solidFill>
                <a:latin typeface="Calibri"/>
              </a:rPr>
              <a:t>CARE Rating    </a:t>
            </a:r>
            <a:r>
              <a:rPr lang="en-US" sz="1600" b="1" dirty="0">
                <a:solidFill>
                  <a:srgbClr val="C8A456"/>
                </a:solidFill>
                <a:latin typeface="Georgia"/>
              </a:rPr>
              <a:t>BBB+</a:t>
            </a:r>
            <a:r>
              <a:rPr lang="en-US" sz="1200" dirty="0">
                <a:solidFill>
                  <a:srgbClr val="5BAD7A"/>
                </a:solidFill>
                <a:latin typeface="Calibri"/>
              </a:rPr>
              <a:t>   Assigned Feb 2026</a:t>
            </a:r>
          </a:p>
        </p:txBody>
      </p:sp>
      <p:sp>
        <p:nvSpPr>
          <p:cNvPr id="70" name="KeyInfo"/>
          <p:cNvSpPr/>
          <p:nvPr/>
        </p:nvSpPr>
        <p:spPr>
          <a:xfrm>
            <a:off x="457200" y="3124200"/>
            <a:ext cx="11277600" cy="1600200"/>
          </a:xfrm>
          <a:prstGeom prst="roundRect">
            <a:avLst/>
          </a:prstGeom>
          <a:solidFill>
            <a:srgbClr val="111E30"/>
          </a:solidFill>
          <a:ln w="6350">
            <a:solidFill>
              <a:srgbClr val="C8A456">
                <a:alpha val="20000"/>
              </a:srgbClr>
            </a:solidFill>
          </a:ln>
        </p:spPr>
        <p:txBody>
          <a:bodyPr lIns="182880" tIns="137160" rIns="182880" bIns="91440" anchor="t"/>
          <a:lstStyle/>
          <a:p>
            <a:pPr algn="l">
              <a:spcAft>
                <a:spcPts val="500"/>
              </a:spcAft>
            </a:pPr>
            <a:r>
              <a:rPr lang="en-US" sz="1600" b="1" dirty="0">
                <a:solidFill>
                  <a:srgbClr val="C8A456"/>
                </a:solidFill>
                <a:latin typeface="Calibri"/>
              </a:rPr>
              <a:t>Key Thesis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India’s solar installed base growing at ~25 GW/year — Insolation is a pure-play beneficiary of this structural tailwind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Cell manufacturing (H1 FY27) will add 400-500 bps to EBITDA margins and reduce import dependency</a:t>
            </a:r>
          </a:p>
          <a:p>
            <a:pPr algn="l">
              <a:lnSpc>
                <a:spcPts val="2200"/>
              </a:lnSpc>
              <a:buFont typeface="Arial"/>
              <a:buChar char="▸"/>
            </a:pPr>
            <a:r>
              <a:rPr lang="en-US" sz="1500" dirty="0">
                <a:solidFill>
                  <a:srgbClr val="D0CAC0"/>
                </a:solidFill>
                <a:latin typeface="Calibri"/>
              </a:rPr>
              <a:t>Mainboard migration + scaling to 8GW should narrow the valuation gap with larger peers (Waaree, Premier)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76102B-0709-413D-9151-74AAC29F4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050482"/>
              </p:ext>
            </p:extLst>
          </p:nvPr>
        </p:nvGraphicFramePr>
        <p:xfrm>
          <a:off x="457200" y="4978400"/>
          <a:ext cx="6350000" cy="1524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0691333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750032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268432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7447666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5472274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endParaRPr lang="en-IN" sz="1400" b="1">
                        <a:solidFill>
                          <a:srgbClr val="0C1829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FY22A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FY23A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FY24A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FY25A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C8A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890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B8B0A4"/>
                          </a:solidFill>
                          <a:latin typeface="Calibri"/>
                          <a:ea typeface="Calibri"/>
                          <a:cs typeface="Calibri"/>
                        </a:rPr>
                        <a:t>Revenue (₹ Cr)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215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280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741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1,334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778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B8B0A4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6.0%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6.7%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11.4%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12.8%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6173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B8B0A4"/>
                          </a:solidFill>
                          <a:latin typeface="Calibri"/>
                          <a:ea typeface="Calibri"/>
                          <a:cs typeface="Calibri"/>
                        </a:rPr>
                        <a:t>PAT (₹ Cr)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7.3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10.9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55.0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100.1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4444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B8B0A4"/>
                          </a:solidFill>
                          <a:latin typeface="Calibri"/>
                          <a:ea typeface="Calibri"/>
                          <a:cs typeface="Calibri"/>
                        </a:rPr>
                        <a:t>ROCE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11.3%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15.3%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E8E4DF"/>
                          </a:solidFill>
                          <a:latin typeface="Calibri"/>
                          <a:ea typeface="Calibri"/>
                          <a:cs typeface="Calibri"/>
                        </a:rPr>
                        <a:t>55.5%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30.0%</a:t>
                      </a:r>
                    </a:p>
                  </a:txBody>
                  <a:tcPr marT="44450" marB="444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00205"/>
                  </a:ext>
                </a:extLst>
              </a:tr>
            </a:tbl>
          </a:graphicData>
        </a:graphic>
      </p:graphicFrame>
      <p:sp>
        <p:nvSpPr>
          <p:cNvPr id="75" name="HistLabel"/>
          <p:cNvSpPr/>
          <p:nvPr/>
        </p:nvSpPr>
        <p:spPr>
          <a:xfrm>
            <a:off x="457200" y="472440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1400" spc="200" dirty="0">
                <a:solidFill>
                  <a:srgbClr val="8A8278"/>
                </a:solidFill>
                <a:latin typeface="Calibri"/>
              </a:rPr>
              <a:t>HISTORICAL FINANCIAL SNAPSHOT</a:t>
            </a:r>
          </a:p>
        </p:txBody>
      </p:sp>
      <p:sp>
        <p:nvSpPr>
          <p:cNvPr id="76" name="ValDiscount"/>
          <p:cNvSpPr/>
          <p:nvPr/>
        </p:nvSpPr>
        <p:spPr>
          <a:xfrm>
            <a:off x="7010400" y="4953000"/>
            <a:ext cx="4724400" cy="16764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137160" tIns="91440" rIns="137160" bIns="91440" anchor="ctr"/>
          <a:lstStyle/>
          <a:p>
            <a:pPr algn="ctr">
              <a:spcAft>
                <a:spcPts val="300"/>
              </a:spcAft>
            </a:pPr>
            <a:r>
              <a:rPr lang="en-US" sz="1200" spc="200" dirty="0">
                <a:solidFill>
                  <a:srgbClr val="8A8278"/>
                </a:solidFill>
                <a:latin typeface="Calibri"/>
              </a:rPr>
              <a:t>VALUATION DISCOUNT</a:t>
            </a:r>
          </a:p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P/E:  </a:t>
            </a:r>
            <a:r>
              <a:rPr lang="en-US" sz="1800" b="1" dirty="0">
                <a:solidFill>
                  <a:srgbClr val="C8A456"/>
                </a:solidFill>
                <a:latin typeface="Georgia"/>
              </a:rPr>
              <a:t>14.6x</a:t>
            </a:r>
            <a:r>
              <a:rPr lang="en-US" sz="1400" dirty="0">
                <a:solidFill>
                  <a:srgbClr val="8A8278"/>
                </a:solidFill>
                <a:latin typeface="Calibri"/>
              </a:rPr>
              <a:t>  vs Peer Median  </a:t>
            </a:r>
            <a:r>
              <a:rPr lang="en-US" sz="1800" b="1" dirty="0">
                <a:solidFill>
                  <a:srgbClr val="4A90D9"/>
                </a:solidFill>
                <a:latin typeface="Georgia"/>
              </a:rPr>
              <a:t>37.0x</a:t>
            </a:r>
          </a:p>
          <a:p>
            <a:pPr algn="ctr">
              <a:lnSpc>
                <a:spcPts val="24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EV/EBITDA:  </a:t>
            </a:r>
            <a:r>
              <a:rPr lang="en-US" sz="1800" b="1" dirty="0">
                <a:solidFill>
                  <a:srgbClr val="C8A456"/>
                </a:solidFill>
                <a:latin typeface="Georgia"/>
              </a:rPr>
              <a:t>8.7x</a:t>
            </a:r>
            <a:r>
              <a:rPr lang="en-US" sz="1400" dirty="0">
                <a:solidFill>
                  <a:srgbClr val="8A8278"/>
                </a:solidFill>
                <a:latin typeface="Calibri"/>
              </a:rPr>
              <a:t>  vs Peer Median  </a:t>
            </a:r>
            <a:r>
              <a:rPr lang="en-US" sz="1800" b="1" dirty="0">
                <a:solidFill>
                  <a:srgbClr val="4A90D9"/>
                </a:solidFill>
                <a:latin typeface="Georgia"/>
              </a:rPr>
              <a:t>15.4x</a:t>
            </a:r>
          </a:p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rgbClr val="D4724E"/>
                </a:solidFill>
                <a:latin typeface="Calibri"/>
              </a:rPr>
              <a:t>~60% discount to peer group on both metrics</a:t>
            </a:r>
          </a:p>
        </p:txBody>
      </p:sp>
    </p:spTree>
    <p:extLst>
      <p:ext uri="{BB962C8B-B14F-4D97-AF65-F5344CB8AC3E}">
        <p14:creationId xmlns:p14="http://schemas.microsoft.com/office/powerpoint/2010/main" val="22366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Revenue &amp; Profitability Trajectory</a:t>
            </a:r>
          </a:p>
        </p:txBody>
      </p:sp>
      <p:sp>
        <p:nvSpPr>
          <p:cNvPr id="8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Callout0"/>
          <p:cNvSpPr/>
          <p:nvPr/>
        </p:nvSpPr>
        <p:spPr>
          <a:xfrm>
            <a:off x="457200" y="5181600"/>
            <a:ext cx="2590800" cy="457200"/>
          </a:xfrm>
          <a:prstGeom prst="roundRect">
            <a:avLst>
              <a:gd name="adj" fmla="val 8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FY25A Revenue</a:t>
            </a:r>
          </a:p>
          <a:p>
            <a:pPr algn="ctr"/>
            <a:r>
              <a:rPr lang="en-US" sz="2000" b="1" dirty="0">
                <a:solidFill>
                  <a:srgbClr val="C8A456"/>
                </a:solidFill>
                <a:latin typeface="Georgia"/>
              </a:rPr>
              <a:t>₹1,334 Cr</a:t>
            </a:r>
          </a:p>
        </p:txBody>
      </p:sp>
      <p:sp>
        <p:nvSpPr>
          <p:cNvPr id="91" name="Callout1"/>
          <p:cNvSpPr/>
          <p:nvPr/>
        </p:nvSpPr>
        <p:spPr>
          <a:xfrm>
            <a:off x="3200400" y="5181600"/>
            <a:ext cx="2590800" cy="457200"/>
          </a:xfrm>
          <a:prstGeom prst="roundRect">
            <a:avLst>
              <a:gd name="adj" fmla="val 8000"/>
            </a:avLst>
          </a:prstGeom>
          <a:solidFill>
            <a:srgbClr val="111E30"/>
          </a:solidFill>
          <a:ln w="6350">
            <a:solidFill>
              <a:srgbClr val="4A90D9">
                <a:alpha val="40000"/>
              </a:srgbClr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FY28E Revenue</a:t>
            </a:r>
          </a:p>
          <a:p>
            <a:pPr algn="ctr"/>
            <a:r>
              <a:rPr lang="en-US" sz="2000" b="1" dirty="0">
                <a:solidFill>
                  <a:srgbClr val="4A90D9"/>
                </a:solidFill>
                <a:latin typeface="Georgia"/>
              </a:rPr>
              <a:t>₹5,800 Cr</a:t>
            </a:r>
          </a:p>
        </p:txBody>
      </p:sp>
      <p:sp>
        <p:nvSpPr>
          <p:cNvPr id="92" name="Callout2"/>
          <p:cNvSpPr/>
          <p:nvPr/>
        </p:nvSpPr>
        <p:spPr>
          <a:xfrm>
            <a:off x="5943600" y="5181600"/>
            <a:ext cx="2590800" cy="457200"/>
          </a:xfrm>
          <a:prstGeom prst="roundRect">
            <a:avLst>
              <a:gd name="adj" fmla="val 8000"/>
            </a:avLst>
          </a:prstGeom>
          <a:solidFill>
            <a:srgbClr val="111E30"/>
          </a:solidFill>
          <a:ln w="6350">
            <a:solidFill>
              <a:srgbClr val="5BAD7A">
                <a:alpha val="40000"/>
              </a:srgbClr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FY35E Revenue</a:t>
            </a:r>
          </a:p>
          <a:p>
            <a:pPr algn="ctr"/>
            <a:r>
              <a:rPr lang="en-US" sz="2000" b="1" dirty="0">
                <a:solidFill>
                  <a:srgbClr val="5BAD7A"/>
                </a:solidFill>
                <a:latin typeface="Georgia"/>
              </a:rPr>
              <a:t>₹15,200 Cr</a:t>
            </a:r>
          </a:p>
        </p:txBody>
      </p:sp>
      <p:sp>
        <p:nvSpPr>
          <p:cNvPr id="93" name="Callout3"/>
          <p:cNvSpPr/>
          <p:nvPr/>
        </p:nvSpPr>
        <p:spPr>
          <a:xfrm>
            <a:off x="8686800" y="5181600"/>
            <a:ext cx="2590800" cy="457200"/>
          </a:xfrm>
          <a:prstGeom prst="roundRect">
            <a:avLst>
              <a:gd name="adj" fmla="val 8000"/>
            </a:avLst>
          </a:prstGeom>
          <a:solidFill>
            <a:srgbClr val="111E30"/>
          </a:solidFill>
          <a:ln w="6350">
            <a:solidFill>
              <a:srgbClr val="D4724E">
                <a:alpha val="40000"/>
              </a:srgbClr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Peak EBITDA Margin</a:t>
            </a:r>
          </a:p>
          <a:p>
            <a:pPr algn="ctr"/>
            <a:r>
              <a:rPr lang="en-US" sz="2000" b="1" dirty="0">
                <a:solidFill>
                  <a:srgbClr val="D4724E"/>
                </a:solidFill>
                <a:latin typeface="Georgia"/>
              </a:rPr>
              <a:t>18.5%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304800" y="838200"/>
          <a:ext cx="115824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539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Free Cash Flow to Firm Projections</a:t>
            </a:r>
          </a:p>
        </p:txBody>
      </p:sp>
      <p:sp>
        <p:nvSpPr>
          <p:cNvPr id="26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1" name="Chart 1"/>
          <p:cNvGraphicFramePr/>
          <p:nvPr/>
        </p:nvGraphicFramePr>
        <p:xfrm>
          <a:off x="304800" y="838200"/>
          <a:ext cx="115824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643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DCF Valuation Summary</a:t>
            </a:r>
          </a:p>
        </p:txBody>
      </p:sp>
      <p:sp>
        <p:nvSpPr>
          <p:cNvPr id="10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WACC"/>
          <p:cNvSpPr/>
          <p:nvPr/>
        </p:nvSpPr>
        <p:spPr>
          <a:xfrm>
            <a:off x="457200" y="9144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4A90D9">
                <a:alpha val="40000"/>
              </a:srgbClr>
            </a:solidFill>
          </a:ln>
        </p:spPr>
        <p:txBody>
          <a:bodyPr lIns="182880" tIns="137160" rIns="182880" bIns="91440" anchor="t"/>
          <a:lstStyle/>
          <a:p>
            <a:pPr algn="l">
              <a:spcAft>
                <a:spcPts val="500"/>
              </a:spcAft>
            </a:pPr>
            <a:r>
              <a:rPr lang="en-US" sz="1800" b="1" dirty="0">
                <a:solidFill>
                  <a:srgbClr val="4A90D9"/>
                </a:solidFill>
                <a:latin typeface="Calibri"/>
              </a:rPr>
              <a:t>WACC Build-Up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Risk-Free Rate (10Y G-Sec)</a:t>
            </a:r>
            <a:r>
              <a:rPr lang="en-US" sz="1400" dirty="0">
                <a:solidFill>
                  <a:srgbClr val="E8E4DF"/>
                </a:solidFill>
                <a:latin typeface="Calibri"/>
              </a:rPr>
              <a:t>         6.7%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Equity Risk Premium</a:t>
            </a:r>
            <a:r>
              <a:rPr lang="en-US" sz="1400" dirty="0">
                <a:solidFill>
                  <a:srgbClr val="E8E4DF"/>
                </a:solidFill>
                <a:latin typeface="Calibri"/>
              </a:rPr>
              <a:t>                    7.5%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Levered Beta</a:t>
            </a:r>
            <a:r>
              <a:rPr lang="en-US" sz="1400" dirty="0">
                <a:solidFill>
                  <a:srgbClr val="E8E4DF"/>
                </a:solidFill>
                <a:latin typeface="Calibri"/>
              </a:rPr>
              <a:t>                                 1.48x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Cost of Equity (Ke)</a:t>
            </a:r>
            <a:r>
              <a:rPr lang="en-US" sz="1400" b="1" dirty="0">
                <a:solidFill>
                  <a:srgbClr val="C8A456"/>
                </a:solidFill>
                <a:latin typeface="Calibri"/>
              </a:rPr>
              <a:t>                       18.7%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After-Tax Kd (BBB+)</a:t>
            </a:r>
            <a:r>
              <a:rPr lang="en-US" sz="1400" dirty="0">
                <a:solidFill>
                  <a:srgbClr val="E8E4DF"/>
                </a:solidFill>
                <a:latin typeface="Calibri"/>
              </a:rPr>
              <a:t>                     7.9%</a:t>
            </a:r>
          </a:p>
          <a:p>
            <a:pPr algn="l">
              <a:lnSpc>
                <a:spcPts val="2400"/>
              </a:lnSpc>
            </a:pPr>
            <a:r>
              <a:rPr lang="en-US" sz="1400" dirty="0">
                <a:solidFill>
                  <a:srgbClr val="8A8278"/>
                </a:solidFill>
                <a:latin typeface="Calibri"/>
              </a:rPr>
              <a:t>E/D Weights</a:t>
            </a:r>
            <a:r>
              <a:rPr lang="en-US" sz="1400" dirty="0">
                <a:solidFill>
                  <a:srgbClr val="E8E4DF"/>
                </a:solidFill>
                <a:latin typeface="Calibri"/>
              </a:rPr>
              <a:t>                           64.5% / 35.5%</a:t>
            </a:r>
          </a:p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8A8278"/>
                </a:solidFill>
                <a:latin typeface="Calibri"/>
              </a:rPr>
              <a:t>WACC                                    </a:t>
            </a:r>
            <a:r>
              <a:rPr lang="en-US" sz="1600" b="1" dirty="0">
                <a:solidFill>
                  <a:srgbClr val="C8A456"/>
                </a:solidFill>
                <a:latin typeface="Georgia"/>
              </a:rPr>
              <a:t>14.9%</a:t>
            </a:r>
            <a:endParaRPr lang="en-US" sz="2000" b="1" dirty="0">
              <a:solidFill>
                <a:srgbClr val="C8A456"/>
              </a:solidFill>
              <a:latin typeface="Georgia"/>
            </a:endParaRPr>
          </a:p>
        </p:txBody>
      </p:sp>
      <p:sp>
        <p:nvSpPr>
          <p:cNvPr id="103" name="EVBridge"/>
          <p:cNvSpPr/>
          <p:nvPr/>
        </p:nvSpPr>
        <p:spPr>
          <a:xfrm>
            <a:off x="4343400" y="914400"/>
            <a:ext cx="7391400" cy="32004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182880" tIns="137160" rIns="182880" bIns="91440" anchor="t"/>
          <a:lstStyle/>
          <a:p>
            <a:pPr algn="l">
              <a:spcAft>
                <a:spcPts val="500"/>
              </a:spcAft>
            </a:pPr>
            <a:r>
              <a:rPr lang="en-US" sz="1800" b="1" dirty="0">
                <a:solidFill>
                  <a:srgbClr val="C8A456"/>
                </a:solidFill>
                <a:latin typeface="Calibri"/>
              </a:rPr>
              <a:t>Enterprise Value Bridge</a:t>
            </a:r>
          </a:p>
          <a:p>
            <a:pPr algn="l">
              <a:lnSpc>
                <a:spcPts val="2600"/>
              </a:lnSpc>
            </a:pPr>
            <a:r>
              <a:rPr lang="en-US" sz="1500" dirty="0">
                <a:solidFill>
                  <a:srgbClr val="8A8278"/>
                </a:solidFill>
                <a:latin typeface="Calibri"/>
              </a:rPr>
              <a:t>PV of FCFF (FY26E–FY35E)</a:t>
            </a:r>
            <a:r>
              <a:rPr lang="en-US" sz="1500" dirty="0">
                <a:solidFill>
                  <a:srgbClr val="4A90D9"/>
                </a:solidFill>
                <a:latin typeface="Calibri"/>
              </a:rPr>
              <a:t>                                ₹2,683 Cr</a:t>
            </a:r>
          </a:p>
          <a:p>
            <a:pPr algn="l">
              <a:lnSpc>
                <a:spcPts val="2600"/>
              </a:lnSpc>
            </a:pPr>
            <a:r>
              <a:rPr lang="en-US" sz="1500" dirty="0">
                <a:solidFill>
                  <a:srgbClr val="8A8278"/>
                </a:solidFill>
                <a:latin typeface="Calibri"/>
              </a:rPr>
              <a:t>PV of Terminal Value (5% TGR)</a:t>
            </a:r>
            <a:r>
              <a:rPr lang="en-US" sz="1500" dirty="0">
                <a:solidFill>
                  <a:srgbClr val="4A90D9"/>
                </a:solidFill>
                <a:latin typeface="Calibri"/>
              </a:rPr>
              <a:t>                        ₹4,331 Cr</a:t>
            </a:r>
          </a:p>
          <a:p>
            <a:pPr algn="l">
              <a:lnSpc>
                <a:spcPts val="2600"/>
              </a:lnSpc>
            </a:pPr>
            <a:r>
              <a:rPr lang="en-US" sz="1500" b="1" dirty="0">
                <a:solidFill>
                  <a:srgbClr val="E8E4DF"/>
                </a:solidFill>
                <a:latin typeface="Calibri"/>
              </a:rPr>
              <a:t>Enterprise Value</a:t>
            </a:r>
            <a:r>
              <a:rPr lang="en-US" sz="1500" b="1" dirty="0">
                <a:solidFill>
                  <a:srgbClr val="C8A456"/>
                </a:solidFill>
                <a:latin typeface="Calibri"/>
              </a:rPr>
              <a:t>                                                ₹7,014 Cr</a:t>
            </a:r>
          </a:p>
          <a:p>
            <a:pPr algn="l">
              <a:lnSpc>
                <a:spcPts val="2600"/>
              </a:lnSpc>
            </a:pPr>
            <a:r>
              <a:rPr lang="en-US" sz="1500" dirty="0">
                <a:solidFill>
                  <a:srgbClr val="8A8278"/>
                </a:solidFill>
                <a:latin typeface="Calibri"/>
              </a:rPr>
              <a:t>Less: Net Debt (FY25A)</a:t>
            </a:r>
            <a:r>
              <a:rPr lang="en-US" sz="1500" dirty="0">
                <a:solidFill>
                  <a:srgbClr val="D4724E"/>
                </a:solidFill>
                <a:latin typeface="Calibri"/>
              </a:rPr>
              <a:t>                                     (₹260 Cr)</a:t>
            </a:r>
          </a:p>
          <a:p>
            <a:pPr algn="l">
              <a:lnSpc>
                <a:spcPts val="2600"/>
              </a:lnSpc>
            </a:pPr>
            <a:r>
              <a:rPr lang="en-US" sz="1500" b="1" dirty="0">
                <a:solidFill>
                  <a:srgbClr val="E8E4DF"/>
                </a:solidFill>
                <a:latin typeface="Calibri"/>
              </a:rPr>
              <a:t>Equity Value</a:t>
            </a:r>
            <a:r>
              <a:rPr lang="en-US" sz="1500" b="1" dirty="0">
                <a:solidFill>
                  <a:srgbClr val="5BAD7A"/>
                </a:solidFill>
                <a:latin typeface="Calibri"/>
              </a:rPr>
              <a:t>                                                       ₹6,754 Cr</a:t>
            </a:r>
          </a:p>
          <a:p>
            <a:pPr algn="l">
              <a:lnSpc>
                <a:spcPts val="2600"/>
              </a:lnSpc>
            </a:pPr>
            <a:r>
              <a:rPr lang="en-US" sz="1500" dirty="0">
                <a:solidFill>
                  <a:srgbClr val="8A8278"/>
                </a:solidFill>
                <a:latin typeface="Calibri"/>
              </a:rPr>
              <a:t>Shares Outstanding</a:t>
            </a:r>
            <a:r>
              <a:rPr lang="en-US" sz="1500" dirty="0">
                <a:solidFill>
                  <a:srgbClr val="E8E4DF"/>
                </a:solidFill>
                <a:latin typeface="Calibri"/>
              </a:rPr>
              <a:t>                                           22.04 Cr</a:t>
            </a:r>
          </a:p>
          <a:p>
            <a:pPr algn="l">
              <a:lnSpc>
                <a:spcPts val="3200"/>
              </a:lnSpc>
            </a:pPr>
            <a:r>
              <a:rPr lang="en-US" sz="1800" b="1" dirty="0">
                <a:solidFill>
                  <a:srgbClr val="E8E4DF"/>
                </a:solidFill>
                <a:latin typeface="Georgia"/>
              </a:rPr>
              <a:t>DCF Fair Value</a:t>
            </a:r>
            <a:r>
              <a:rPr lang="en-US" sz="2400" b="1" dirty="0">
                <a:solidFill>
                  <a:srgbClr val="C8A456"/>
                </a:solidFill>
                <a:latin typeface="Georgia"/>
              </a:rPr>
              <a:t>                   ₹306 / share</a:t>
            </a:r>
          </a:p>
        </p:txBody>
      </p:sp>
      <p:sp>
        <p:nvSpPr>
          <p:cNvPr id="110" name="BMetric0"/>
          <p:cNvSpPr/>
          <p:nvPr/>
        </p:nvSpPr>
        <p:spPr>
          <a:xfrm>
            <a:off x="457200" y="4577080"/>
            <a:ext cx="2590800" cy="1219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4A90D9">
                <a:alpha val="40000"/>
              </a:srgbClr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Terminal Growth</a:t>
            </a:r>
          </a:p>
          <a:p>
            <a:pPr algn="ctr">
              <a:spcBef>
                <a:spcPts val="300"/>
              </a:spcBef>
            </a:pPr>
            <a:r>
              <a:rPr lang="en-US" sz="2800" b="1" dirty="0">
                <a:solidFill>
                  <a:srgbClr val="4A90D9"/>
                </a:solidFill>
                <a:latin typeface="Georgia"/>
              </a:rPr>
              <a:t>5.0%</a:t>
            </a:r>
          </a:p>
          <a:p>
            <a:pPr algn="ctr">
              <a:spcBef>
                <a:spcPts val="200"/>
              </a:spcBef>
            </a:pPr>
            <a:r>
              <a:rPr lang="en-US" sz="1200" dirty="0">
                <a:solidFill>
                  <a:srgbClr val="8A8278"/>
                </a:solidFill>
                <a:latin typeface="Calibri"/>
              </a:rPr>
              <a:t>India Nominal GDP</a:t>
            </a:r>
          </a:p>
        </p:txBody>
      </p:sp>
      <p:sp>
        <p:nvSpPr>
          <p:cNvPr id="111" name="BMetric1"/>
          <p:cNvSpPr/>
          <p:nvPr/>
        </p:nvSpPr>
        <p:spPr>
          <a:xfrm>
            <a:off x="3219450" y="4577080"/>
            <a:ext cx="2590800" cy="1219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40000"/>
              </a:srgbClr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TV % of EV</a:t>
            </a:r>
          </a:p>
          <a:p>
            <a:pPr algn="ctr">
              <a:spcBef>
                <a:spcPts val="300"/>
              </a:spcBef>
            </a:pPr>
            <a:r>
              <a:rPr lang="en-US" sz="2800" b="1" dirty="0">
                <a:solidFill>
                  <a:srgbClr val="D4724E"/>
                </a:solidFill>
                <a:latin typeface="Georgia"/>
              </a:rPr>
              <a:t>62%</a:t>
            </a:r>
          </a:p>
          <a:p>
            <a:pPr algn="ctr">
              <a:spcBef>
                <a:spcPts val="200"/>
              </a:spcBef>
            </a:pPr>
            <a:r>
              <a:rPr lang="en-US" sz="1200" dirty="0">
                <a:solidFill>
                  <a:srgbClr val="8A8278"/>
                </a:solidFill>
                <a:latin typeface="Calibri"/>
              </a:rPr>
              <a:t>PV of Terminal Value</a:t>
            </a:r>
          </a:p>
        </p:txBody>
      </p:sp>
      <p:sp>
        <p:nvSpPr>
          <p:cNvPr id="112" name="BMetric2"/>
          <p:cNvSpPr/>
          <p:nvPr/>
        </p:nvSpPr>
        <p:spPr>
          <a:xfrm>
            <a:off x="5981700" y="4577080"/>
            <a:ext cx="2590800" cy="1219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DCF Fair Value</a:t>
            </a:r>
          </a:p>
          <a:p>
            <a:pPr algn="ctr">
              <a:spcBef>
                <a:spcPts val="300"/>
              </a:spcBef>
            </a:pPr>
            <a:r>
              <a:rPr lang="en-US" sz="2800" b="1" dirty="0">
                <a:solidFill>
                  <a:srgbClr val="C8A456"/>
                </a:solidFill>
                <a:latin typeface="Georgia"/>
              </a:rPr>
              <a:t>₹306</a:t>
            </a:r>
          </a:p>
          <a:p>
            <a:pPr algn="ctr">
              <a:spcBef>
                <a:spcPts val="200"/>
              </a:spcBef>
            </a:pPr>
            <a:r>
              <a:rPr lang="en-US" sz="1200" dirty="0">
                <a:solidFill>
                  <a:srgbClr val="8A8278"/>
                </a:solidFill>
                <a:latin typeface="Calibri"/>
              </a:rPr>
              <a:t>vs CMP ₹96</a:t>
            </a:r>
          </a:p>
        </p:txBody>
      </p:sp>
      <p:sp>
        <p:nvSpPr>
          <p:cNvPr id="113" name="BMetric3"/>
          <p:cNvSpPr/>
          <p:nvPr/>
        </p:nvSpPr>
        <p:spPr>
          <a:xfrm>
            <a:off x="8743950" y="4577080"/>
            <a:ext cx="2590800" cy="1219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40000"/>
              </a:srgbClr>
            </a:solidFill>
          </a:ln>
        </p:spPr>
        <p:txBody>
          <a:bodyPr lIns="91440" tIns="91440" rIns="91440" bIns="91440" anchor="ctr"/>
          <a:lstStyle/>
          <a:p>
            <a:pPr algn="ctr"/>
            <a:r>
              <a:rPr lang="en-US" sz="1200" dirty="0">
                <a:solidFill>
                  <a:srgbClr val="8A8278"/>
                </a:solidFill>
                <a:latin typeface="Calibri"/>
              </a:rPr>
              <a:t>DCF Upside</a:t>
            </a:r>
          </a:p>
          <a:p>
            <a:pPr algn="ctr">
              <a:spcBef>
                <a:spcPts val="300"/>
              </a:spcBef>
            </a:pPr>
            <a:r>
              <a:rPr lang="en-US" sz="2800" b="1" dirty="0">
                <a:solidFill>
                  <a:srgbClr val="5BAD7A"/>
                </a:solidFill>
                <a:latin typeface="Georgia"/>
              </a:rPr>
              <a:t>219%</a:t>
            </a:r>
          </a:p>
          <a:p>
            <a:pPr algn="ctr">
              <a:spcBef>
                <a:spcPts val="200"/>
              </a:spcBef>
            </a:pPr>
            <a:r>
              <a:rPr lang="en-US" sz="1200" dirty="0">
                <a:solidFill>
                  <a:srgbClr val="8A8278"/>
                </a:solidFill>
                <a:latin typeface="Calibri"/>
              </a:rPr>
              <a:t>To Fair Value</a:t>
            </a:r>
          </a:p>
        </p:txBody>
      </p:sp>
    </p:spTree>
    <p:extLst>
      <p:ext uri="{BB962C8B-B14F-4D97-AF65-F5344CB8AC3E}">
        <p14:creationId xmlns:p14="http://schemas.microsoft.com/office/powerpoint/2010/main" val="4287675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E932FC-8D08-4976-A103-A22E9ACA9236}"/>
              </a:ext>
            </a:extLst>
          </p:cNvPr>
          <p:cNvSpPr txBox="1"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>
                <a:solidFill>
                  <a:srgbClr val="C8A456"/>
                </a:solidFill>
                <a:latin typeface="Georgia"/>
              </a:rPr>
              <a:t>Comparable Company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CFE4AB-1604-488F-A540-578AE73B3D04}"/>
              </a:ext>
            </a:extLst>
          </p:cNvPr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0" name="Method0"/>
          <p:cNvSpPr/>
          <p:nvPr/>
        </p:nvSpPr>
        <p:spPr>
          <a:xfrm>
            <a:off x="457200" y="3937000"/>
            <a:ext cx="3505200" cy="1371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4A90D9">
                <a:alpha val="40000"/>
              </a:srgbClr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P/E (FY26E)</a:t>
            </a:r>
          </a:p>
          <a:p>
            <a:pPr algn="ctr">
              <a:spcBef>
                <a:spcPts val="200"/>
              </a:spcBef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25.0x on PAT ₹145 Cr</a:t>
            </a:r>
          </a:p>
          <a:p>
            <a:pPr algn="ctr">
              <a:spcBef>
                <a:spcPts val="300"/>
              </a:spcBef>
            </a:pPr>
            <a:r>
              <a:rPr lang="en-US" sz="2400" b="1" dirty="0">
                <a:solidFill>
                  <a:srgbClr val="4A90D9"/>
                </a:solidFill>
                <a:latin typeface="Georgia"/>
              </a:rPr>
              <a:t>₹164/sh</a:t>
            </a:r>
          </a:p>
        </p:txBody>
      </p:sp>
      <p:sp>
        <p:nvSpPr>
          <p:cNvPr id="131" name="Method1"/>
          <p:cNvSpPr/>
          <p:nvPr/>
        </p:nvSpPr>
        <p:spPr>
          <a:xfrm>
            <a:off x="4191000" y="3937000"/>
            <a:ext cx="3505200" cy="1371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40000"/>
              </a:srgbClr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EV/EBITDA (FY26E)</a:t>
            </a:r>
          </a:p>
          <a:p>
            <a:pPr algn="ctr">
              <a:spcBef>
                <a:spcPts val="200"/>
              </a:spcBef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14.0x on EBITDA ₹273 Cr</a:t>
            </a:r>
          </a:p>
          <a:p>
            <a:pPr algn="ctr">
              <a:spcBef>
                <a:spcPts val="300"/>
              </a:spcBef>
            </a:pPr>
            <a:r>
              <a:rPr lang="en-US" sz="2400" b="1" dirty="0">
                <a:solidFill>
                  <a:srgbClr val="5BAD7A"/>
                </a:solidFill>
                <a:latin typeface="Georgia"/>
              </a:rPr>
              <a:t>₹162/sh</a:t>
            </a:r>
          </a:p>
        </p:txBody>
      </p:sp>
      <p:sp>
        <p:nvSpPr>
          <p:cNvPr id="132" name="Method2"/>
          <p:cNvSpPr/>
          <p:nvPr/>
        </p:nvSpPr>
        <p:spPr>
          <a:xfrm>
            <a:off x="7924800" y="3937000"/>
            <a:ext cx="3505200" cy="1371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C8A456">
                <a:alpha val="40000"/>
              </a:srgbClr>
            </a:solidFill>
          </a:ln>
        </p:spPr>
        <p:txBody>
          <a:bodyPr lIns="137160" tIns="91440" rIns="137160" bIns="91440" anchor="ctr"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Mkt Cap/Rev (FY26E)</a:t>
            </a:r>
          </a:p>
          <a:p>
            <a:pPr algn="ctr">
              <a:spcBef>
                <a:spcPts val="200"/>
              </a:spcBef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2.57x on Rev ₹1,950 Cr</a:t>
            </a:r>
          </a:p>
          <a:p>
            <a:pPr algn="ctr">
              <a:spcBef>
                <a:spcPts val="300"/>
              </a:spcBef>
            </a:pPr>
            <a:r>
              <a:rPr lang="en-US" sz="2400" b="1" dirty="0">
                <a:solidFill>
                  <a:srgbClr val="C8A456"/>
                </a:solidFill>
                <a:latin typeface="Georgia"/>
              </a:rPr>
              <a:t>₹227/sh</a:t>
            </a:r>
          </a:p>
        </p:txBody>
      </p:sp>
      <p:sp>
        <p:nvSpPr>
          <p:cNvPr id="135" name="AvgLabel"/>
          <p:cNvSpPr/>
          <p:nvPr/>
        </p:nvSpPr>
        <p:spPr>
          <a:xfrm>
            <a:off x="457200" y="54356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8A8278"/>
                </a:solidFill>
                <a:latin typeface="Calibri"/>
              </a:rPr>
              <a:t>Comps Average Fair Value:  </a:t>
            </a:r>
            <a:r>
              <a:rPr lang="en-US" sz="2000" b="1" dirty="0">
                <a:solidFill>
                  <a:srgbClr val="C8A456"/>
                </a:solidFill>
                <a:latin typeface="Georgia"/>
              </a:rPr>
              <a:t>₹184 / share</a:t>
            </a:r>
            <a:r>
              <a:rPr lang="en-US" sz="1600" dirty="0">
                <a:solidFill>
                  <a:srgbClr val="8A8278"/>
                </a:solidFill>
                <a:latin typeface="Calibri"/>
              </a:rPr>
              <a:t>      |      All methods based on FY26E estimates  |  Peer MC/Rev median: 2.57x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89961C-6696-4AE6-BE22-B3CB78DB1C4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016000"/>
          <a:ext cx="111125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46844559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00943463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7189087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18306110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21702624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92130028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660766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6981823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Company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Mkt Cap (₹Cr)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Rev TTM (₹Cr)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P/E (x)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EV/EBITDA (x)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EBITDA Margin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Cap (GW)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MC/Rev (x)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220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Waaree Energies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76,409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21,000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40.0x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16.8x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13.0%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15.0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3.6x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6488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Premier Energies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40,494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6,992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33.9x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18.5x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17.0%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5.1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5.8x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94109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Vikram Solar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6,824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4,543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45.1x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14.0x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14.0%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4.2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1.5x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3784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Saatvik Green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4,829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3,500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17.2x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12.0x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12.0%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3.5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1.4x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2024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Insolation Energy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2,119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1,334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14.6x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8.7x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14.0%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5.5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1.1x</a:t>
                      </a:r>
                    </a:p>
                  </a:txBody>
                  <a:tcPr anchor="ctr"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1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29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Blended Valuation &amp; Price Target</a:t>
            </a:r>
          </a:p>
        </p:txBody>
      </p:sp>
      <p:sp>
        <p:nvSpPr>
          <p:cNvPr id="16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Pillar0"/>
          <p:cNvSpPr/>
          <p:nvPr/>
        </p:nvSpPr>
        <p:spPr>
          <a:xfrm>
            <a:off x="457200" y="91440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4A90D9"/>
            </a:solidFill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60% Weight</a:t>
            </a:r>
          </a:p>
          <a:p>
            <a:pPr algn="ctr">
              <a:spcBef>
                <a:spcPts val="300"/>
              </a:spcBef>
            </a:pPr>
            <a:r>
              <a:rPr lang="en-US" sz="1800" b="1" dirty="0">
                <a:solidFill>
                  <a:srgbClr val="E8E4DF"/>
                </a:solidFill>
                <a:latin typeface="Calibri"/>
              </a:rPr>
              <a:t>DCF Valuation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4A90D9"/>
                </a:solidFill>
                <a:latin typeface="Georgia"/>
              </a:rPr>
              <a:t>₹306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10-year FCFF projection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WACC: 14.9% | TGR: 5.0%</a:t>
            </a:r>
          </a:p>
        </p:txBody>
      </p:sp>
      <p:sp>
        <p:nvSpPr>
          <p:cNvPr id="175" name="PAccent0"/>
          <p:cNvSpPr/>
          <p:nvPr/>
        </p:nvSpPr>
        <p:spPr>
          <a:xfrm>
            <a:off x="5486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Pillar1"/>
          <p:cNvSpPr/>
          <p:nvPr/>
        </p:nvSpPr>
        <p:spPr>
          <a:xfrm>
            <a:off x="4191000" y="91440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/>
            </a:solidFill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40% Weight</a:t>
            </a:r>
          </a:p>
          <a:p>
            <a:pPr algn="ctr">
              <a:spcBef>
                <a:spcPts val="300"/>
              </a:spcBef>
            </a:pPr>
            <a:r>
              <a:rPr lang="en-US" sz="1800" b="1" dirty="0">
                <a:solidFill>
                  <a:srgbClr val="E8E4DF"/>
                </a:solidFill>
                <a:latin typeface="Calibri"/>
              </a:rPr>
              <a:t>Comps Valuation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5BAD7A"/>
                </a:solidFill>
                <a:latin typeface="Georgia"/>
              </a:rPr>
              <a:t>₹184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Avg of 3 FY26E methods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P/E + EV/EBITDA + MC/Rev</a:t>
            </a:r>
          </a:p>
        </p:txBody>
      </p:sp>
      <p:sp>
        <p:nvSpPr>
          <p:cNvPr id="176" name="PAccent1"/>
          <p:cNvSpPr/>
          <p:nvPr/>
        </p:nvSpPr>
        <p:spPr>
          <a:xfrm>
            <a:off x="42824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5BAD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Pillar2"/>
          <p:cNvSpPr/>
          <p:nvPr/>
        </p:nvSpPr>
        <p:spPr>
          <a:xfrm>
            <a:off x="7924800" y="914400"/>
            <a:ext cx="3505200" cy="27432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19050">
            <a:solidFill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8A8278"/>
                </a:solidFill>
                <a:latin typeface="Calibri"/>
              </a:rPr>
              <a:t>Weighted Average</a:t>
            </a:r>
          </a:p>
          <a:p>
            <a:pPr algn="ctr">
              <a:spcBef>
                <a:spcPts val="300"/>
              </a:spcBef>
            </a:pPr>
            <a:r>
              <a:rPr lang="en-US" sz="1800" b="1" dirty="0">
                <a:solidFill>
                  <a:srgbClr val="E8E4DF"/>
                </a:solidFill>
                <a:latin typeface="Calibri"/>
              </a:rPr>
              <a:t>Blended Fair Value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8A456"/>
                </a:solidFill>
                <a:latin typeface="Georgia"/>
              </a:rPr>
              <a:t>₹258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168% implied upside</a:t>
            </a:r>
          </a:p>
          <a:p>
            <a:pPr algn="ctr">
              <a:lnSpc>
                <a:spcPts val="2200"/>
              </a:lnSpc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vs CMP of ₹96</a:t>
            </a:r>
          </a:p>
        </p:txBody>
      </p:sp>
      <p:sp>
        <p:nvSpPr>
          <p:cNvPr id="177" name="PAccent2"/>
          <p:cNvSpPr/>
          <p:nvPr/>
        </p:nvSpPr>
        <p:spPr>
          <a:xfrm>
            <a:off x="8016240" y="914400"/>
            <a:ext cx="3322320" cy="38100"/>
          </a:xfrm>
          <a:prstGeom prst="roundRect">
            <a:avLst>
              <a:gd name="adj" fmla="val 50000"/>
            </a:avLst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Verdict"/>
          <p:cNvSpPr/>
          <p:nvPr/>
        </p:nvSpPr>
        <p:spPr>
          <a:xfrm>
            <a:off x="457200" y="3886200"/>
            <a:ext cx="11277600" cy="1600200"/>
          </a:xfrm>
          <a:prstGeom prst="roundRect">
            <a:avLst>
              <a:gd name="adj" fmla="val 5000"/>
            </a:avLst>
          </a:prstGeom>
          <a:solidFill>
            <a:srgbClr val="142236"/>
          </a:solidFill>
          <a:ln w="12700">
            <a:solidFill>
              <a:srgbClr val="C8A456">
                <a:alpha val="50000"/>
              </a:srgbClr>
            </a:solidFill>
          </a:ln>
        </p:spPr>
        <p:txBody>
          <a:bodyPr lIns="228600" tIns="137160" rIns="228600" bIns="137160" anchor="ctr"/>
          <a:lstStyle/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8A8278"/>
                </a:solidFill>
                <a:latin typeface="Calibri"/>
              </a:rPr>
              <a:t>INVESTMENT VERDICT</a:t>
            </a:r>
          </a:p>
          <a:p>
            <a:pPr algn="ctr"/>
            <a:r>
              <a:rPr lang="en-US" sz="2400" b="1" dirty="0">
                <a:solidFill>
                  <a:srgbClr val="C8A456"/>
                </a:solidFill>
                <a:latin typeface="Georgia"/>
              </a:rPr>
              <a:t>Target Price: ₹258  |  CMP: ₹96  |  Upside: 168%</a:t>
            </a:r>
          </a:p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rgbClr val="B8B0A4"/>
                </a:solidFill>
                <a:latin typeface="Calibri"/>
              </a:rPr>
              <a:t>Even at the most conservative DCF scenario (WACC 16.9%, TGR 3%), fair value of ₹210 implies 119% upside from current levels</a:t>
            </a:r>
          </a:p>
        </p:txBody>
      </p:sp>
      <p:pic>
        <p:nvPicPr>
          <p:cNvPr id="181" name="Graphic 18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500" y="37465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0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1B7AC-57AF-4C3C-9EC2-2D244ED7A8EF}"/>
              </a:ext>
            </a:extLst>
          </p:cNvPr>
          <p:cNvSpPr txBox="1"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>
                <a:solidFill>
                  <a:srgbClr val="C8A456"/>
                </a:solidFill>
                <a:latin typeface="Georgia"/>
              </a:rPr>
              <a:t>Sensitivity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7C5EF-014C-4A75-990D-DCA6367D105B}"/>
              </a:ext>
            </a:extLst>
          </p:cNvPr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297F8-FE34-4EC3-8865-8F376E40A440}"/>
              </a:ext>
            </a:extLst>
          </p:cNvPr>
          <p:cNvSpPr txBox="1"/>
          <p:nvPr/>
        </p:nvSpPr>
        <p:spPr>
          <a:xfrm>
            <a:off x="457200" y="863600"/>
            <a:ext cx="762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DCF Fair Value (₹/share) — WACC vs Terminal Growth Rate</a:t>
            </a:r>
            <a:endParaRPr lang="en-IN" sz="1600">
              <a:solidFill>
                <a:srgbClr val="B8B0A4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138381-4B52-45DC-B1A7-2C2D9228D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03485"/>
              </p:ext>
            </p:extLst>
          </p:nvPr>
        </p:nvGraphicFramePr>
        <p:xfrm>
          <a:off x="914400" y="1524000"/>
          <a:ext cx="10388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58570057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93291205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1485677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57780724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5867879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20647252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69524790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55307676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WACC \ TGR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3.0%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4.0%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4.5%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5.0%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5.5%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6.0%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7.0%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798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12.9%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₹358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₹386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₹403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₹422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₹443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₹467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₹529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8504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13.9%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₹310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₹331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₹343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₹357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₹373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₹390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₹432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80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14.4%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₹289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₹308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₹318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₹330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₹344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₹358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₹394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1981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14.9%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₹270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₹287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₹296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₹306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₹318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₹331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₹361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8799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15.4%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₹253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₹268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₹276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₹285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₹295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₹306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₹332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818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15.9%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₹238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₹250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₹258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₹266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₹274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₹284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₹306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390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16.9%</a:t>
                      </a:r>
                    </a:p>
                  </a:txBody>
                  <a:tcPr anchor="ctr">
                    <a:solidFill>
                      <a:srgbClr val="16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₹210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₹220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₹226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₹232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₹239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₹246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₹263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887720"/>
                  </a:ext>
                </a:extLst>
              </a:tr>
            </a:tbl>
          </a:graphicData>
        </a:graphic>
      </p:graphicFrame>
      <p:sp>
        <p:nvSpPr>
          <p:cNvPr id="150" name="Range"/>
          <p:cNvSpPr/>
          <p:nvPr/>
        </p:nvSpPr>
        <p:spPr>
          <a:xfrm>
            <a:off x="914400" y="5397500"/>
            <a:ext cx="10363200" cy="457200"/>
          </a:xfrm>
          <a:prstGeom prst="roundRect">
            <a:avLst>
              <a:gd name="adj" fmla="val 8000"/>
            </a:avLst>
          </a:prstGeom>
          <a:solidFill>
            <a:srgbClr val="111E30"/>
          </a:solidFill>
          <a:ln w="6350">
            <a:solidFill>
              <a:srgbClr val="C8A456">
                <a:alpha val="30000"/>
              </a:srgbClr>
            </a:solidFill>
          </a:ln>
        </p:spPr>
        <p:txBody>
          <a:bodyPr lIns="137160" tIns="45720" rIns="137160" bIns="45720" anchor="ctr"/>
          <a:lstStyle/>
          <a:p>
            <a:pPr algn="ctr"/>
            <a:r>
              <a:rPr lang="en-US" sz="1600" dirty="0">
                <a:solidFill>
                  <a:srgbClr val="B8B0A4"/>
                </a:solidFill>
                <a:latin typeface="Calibri"/>
              </a:rPr>
              <a:t>Fair Value Range: </a:t>
            </a:r>
            <a:r>
              <a:rPr lang="en-US" sz="1800" b="1" dirty="0">
                <a:solidFill>
                  <a:srgbClr val="D4724E"/>
                </a:solidFill>
                <a:latin typeface="Georgia"/>
              </a:rPr>
              <a:t>₹210</a:t>
            </a:r>
            <a:r>
              <a:rPr lang="en-US" sz="1600" dirty="0">
                <a:solidFill>
                  <a:srgbClr val="8A8278"/>
                </a:solidFill>
                <a:latin typeface="Calibri"/>
              </a:rPr>
              <a:t>  —  </a:t>
            </a:r>
            <a:r>
              <a:rPr lang="en-US" sz="1800" b="1" dirty="0">
                <a:solidFill>
                  <a:srgbClr val="5BAD7A"/>
                </a:solidFill>
                <a:latin typeface="Georgia"/>
              </a:rPr>
              <a:t>₹529</a:t>
            </a:r>
            <a:r>
              <a:rPr lang="en-US" sz="1600" dirty="0">
                <a:solidFill>
                  <a:srgbClr val="8A8278"/>
                </a:solidFill>
                <a:latin typeface="Calibri"/>
              </a:rPr>
              <a:t>     |     Base Case: </a:t>
            </a:r>
            <a:r>
              <a:rPr lang="en-US" sz="1800" b="1" dirty="0">
                <a:solidFill>
                  <a:srgbClr val="C8A456"/>
                </a:solidFill>
                <a:latin typeface="Georgia"/>
              </a:rPr>
              <a:t>₹306</a:t>
            </a:r>
            <a:r>
              <a:rPr lang="en-US" sz="1600" dirty="0">
                <a:solidFill>
                  <a:srgbClr val="8A8278"/>
                </a:solidFill>
                <a:latin typeface="Calibri"/>
              </a:rPr>
              <a:t>     |     CMP: ₹96 (All scenarios show upside)</a:t>
            </a:r>
          </a:p>
        </p:txBody>
      </p:sp>
    </p:spTree>
    <p:extLst>
      <p:ext uri="{BB962C8B-B14F-4D97-AF65-F5344CB8AC3E}">
        <p14:creationId xmlns:p14="http://schemas.microsoft.com/office/powerpoint/2010/main" val="365122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085CA-C9C0-4C46-B22F-400DADEDA226}"/>
              </a:ext>
            </a:extLst>
          </p:cNvPr>
          <p:cNvSpPr txBox="1"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>
                <a:solidFill>
                  <a:srgbClr val="C8A456"/>
                </a:solidFill>
                <a:latin typeface="Georgia"/>
              </a:rPr>
              <a:t>Management Guidance Track Record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142D0D-42C3-42B2-A9FC-9542F5E9F176}"/>
              </a:ext>
            </a:extLst>
          </p:cNvPr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8F6400-D96D-4850-8D95-55EF405A2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74577"/>
              </p:ext>
            </p:extLst>
          </p:nvPr>
        </p:nvGraphicFramePr>
        <p:xfrm>
          <a:off x="457200" y="1016000"/>
          <a:ext cx="1041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38120349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66982953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02480253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820188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8453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Actual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C1829"/>
                          </a:solidFill>
                          <a:latin typeface="Calibri"/>
                          <a:ea typeface="Calibri"/>
                          <a:cs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C8A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773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FY24 Concall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Double Rev by FY25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~₹560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₹741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OVER-DELIVERED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6726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PAT Margin FY25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~9.5%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9.5%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MET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5327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Revenue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₹1,334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₹1,334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MET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7958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3GW Module Line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5BAD7A"/>
                          </a:solidFill>
                          <a:latin typeface="Calibri"/>
                          <a:ea typeface="Calibri"/>
                          <a:cs typeface="Calibri"/>
                        </a:rPr>
                        <a:t>ON TIME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8542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FY26E Revenue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₹3,000-3,300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9M: ₹1,352 Cr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LIKELY MISS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6442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FY26E PAT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₹350-366 Cr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9M: ₹131 Cr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D4724E"/>
                          </a:solidFill>
                          <a:latin typeface="Calibri"/>
                          <a:ea typeface="Calibri"/>
                          <a:cs typeface="Calibri"/>
                        </a:rPr>
                        <a:t>LIKELY MISS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45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FY25 Concall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Cell Mfg Start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H1 FY27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Now Q3 FY27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C8A456"/>
                          </a:solidFill>
                          <a:latin typeface="Calibri"/>
                          <a:ea typeface="Calibri"/>
                          <a:cs typeface="Calibri"/>
                        </a:rPr>
                        <a:t>SLIGHT DELAY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1349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Q3 FY26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40-45% Rev CAGR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Medium-term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Ongoing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4A90D9"/>
                          </a:solidFill>
                          <a:latin typeface="Calibri"/>
                          <a:ea typeface="Calibri"/>
                          <a:cs typeface="Calibri"/>
                        </a:rPr>
                        <a:t>TRACKING</a:t>
                      </a:r>
                    </a:p>
                  </a:txBody>
                  <a:tcPr anchor="ctr">
                    <a:solidFill>
                      <a:srgbClr val="14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237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Q3 FY26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EBITDA +400-500bps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Post Cell Integ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D0CAC0"/>
                          </a:solidFill>
                          <a:latin typeface="Calibri"/>
                          <a:ea typeface="Calibri"/>
                          <a:cs typeface="Calibri"/>
                        </a:rPr>
                        <a:t>Pending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8A8278"/>
                          </a:solidFill>
                          <a:latin typeface="Calibri"/>
                          <a:ea typeface="Calibri"/>
                          <a:cs typeface="Calibri"/>
                        </a:rPr>
                        <a:t>FUTURE</a:t>
                      </a:r>
                    </a:p>
                  </a:txBody>
                  <a:tcPr anchor="ctr">
                    <a:solidFill>
                      <a:srgbClr val="11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559062"/>
                  </a:ext>
                </a:extLst>
              </a:tr>
            </a:tbl>
          </a:graphicData>
        </a:graphic>
      </p:graphicFrame>
      <p:sp>
        <p:nvSpPr>
          <p:cNvPr id="200" name="VerdictSummary"/>
          <p:cNvSpPr/>
          <p:nvPr/>
        </p:nvSpPr>
        <p:spPr>
          <a:xfrm>
            <a:off x="457200" y="5334000"/>
            <a:ext cx="11277600" cy="609600"/>
          </a:xfrm>
          <a:prstGeom prst="roundRect">
            <a:avLst>
              <a:gd name="adj" fmla="val 8000"/>
            </a:avLst>
          </a:prstGeom>
          <a:solidFill>
            <a:srgbClr val="142236"/>
          </a:solidFill>
          <a:ln w="6350">
            <a:solidFill>
              <a:srgbClr val="5BAD7A">
                <a:alpha val="40000"/>
              </a:srgbClr>
            </a:solidFill>
          </a:ln>
        </p:spPr>
        <p:txBody>
          <a:bodyPr lIns="182880" tIns="45720" rIns="182880" bIns="45720" anchor="ctr"/>
          <a:lstStyle/>
          <a:p>
            <a:pPr algn="l"/>
            <a:r>
              <a:rPr lang="en-US" sz="1600" b="1" dirty="0">
                <a:solidFill>
                  <a:srgbClr val="5BAD7A"/>
                </a:solidFill>
                <a:latin typeface="Calibri"/>
              </a:rPr>
              <a:t>VERDICT: </a:t>
            </a:r>
            <a:r>
              <a:rPr lang="en-US" sz="1500" dirty="0">
                <a:solidFill>
                  <a:srgbClr val="D0CAC0"/>
                </a:solidFill>
                <a:latin typeface="Calibri"/>
              </a:rPr>
              <a:t>Strong ops/margin track record. Revenue guidance is aspirational (apply 15–20% haircut). Cell manufacturing integration remains the key upcoming catalyst. Model uses conservative estimates vs management targets.</a:t>
            </a:r>
          </a:p>
        </p:txBody>
      </p:sp>
    </p:spTree>
    <p:extLst>
      <p:ext uri="{BB962C8B-B14F-4D97-AF65-F5344CB8AC3E}">
        <p14:creationId xmlns:p14="http://schemas.microsoft.com/office/powerpoint/2010/main" val="513739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"/>
          <p:cNvSpPr/>
          <p:nvPr/>
        </p:nvSpPr>
        <p:spPr>
          <a:xfrm>
            <a:off x="457200" y="152400"/>
            <a:ext cx="11277600" cy="6096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2800" dirty="0">
                <a:solidFill>
                  <a:srgbClr val="C8A456"/>
                </a:solidFill>
                <a:latin typeface="Georgia"/>
              </a:rPr>
              <a:t>Key Risks &amp; Mitigants</a:t>
            </a:r>
          </a:p>
        </p:txBody>
      </p:sp>
      <p:sp>
        <p:nvSpPr>
          <p:cNvPr id="211" name="TLine"/>
          <p:cNvSpPr/>
          <p:nvPr/>
        </p:nvSpPr>
        <p:spPr>
          <a:xfrm>
            <a:off x="457200" y="762000"/>
            <a:ext cx="2743200" cy="19050"/>
          </a:xfrm>
          <a:prstGeom prst="rect">
            <a:avLst/>
          </a:prstGeom>
          <a:solidFill>
            <a:srgbClr val="C8A4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Risk0"/>
          <p:cNvSpPr/>
          <p:nvPr/>
        </p:nvSpPr>
        <p:spPr>
          <a:xfrm>
            <a:off x="457200" y="9144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D4724E"/>
                </a:solidFill>
                <a:latin typeface="Calibri"/>
              </a:rPr>
              <a:t>RISK: Execution Risk on Cell Integration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Cell manufacturing is complex; delays beyond Q3 FY27 could impact margin expansion trajectory</a:t>
            </a:r>
          </a:p>
        </p:txBody>
      </p:sp>
      <p:sp>
        <p:nvSpPr>
          <p:cNvPr id="221" name="Mit0"/>
          <p:cNvSpPr/>
          <p:nvPr/>
        </p:nvSpPr>
        <p:spPr>
          <a:xfrm>
            <a:off x="6096000" y="9144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5BAD7A"/>
                </a:solidFill>
                <a:latin typeface="Calibri"/>
              </a:rPr>
              <a:t>MITIGANT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Management has delivered on module capacity targets; ₹500 Cr capex already committed with equipment ordered</a:t>
            </a:r>
          </a:p>
        </p:txBody>
      </p:sp>
      <p:sp>
        <p:nvSpPr>
          <p:cNvPr id="240" name="Arrow0"/>
          <p:cNvSpPr/>
          <p:nvPr/>
        </p:nvSpPr>
        <p:spPr>
          <a:xfrm>
            <a:off x="5962650" y="1333500"/>
            <a:ext cx="114300" cy="152400"/>
          </a:xfrm>
          <a:prstGeom prst="rightArrow">
            <a:avLst/>
          </a:prstGeom>
          <a:solidFill>
            <a:srgbClr val="C8A456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Risk1"/>
          <p:cNvSpPr/>
          <p:nvPr/>
        </p:nvSpPr>
        <p:spPr>
          <a:xfrm>
            <a:off x="457200" y="19812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D4724E"/>
                </a:solidFill>
                <a:latin typeface="Calibri"/>
              </a:rPr>
              <a:t>RISK: Revenue Guidance Misses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FY26E revenue likely to miss management target of ₹3,000-3,300 Cr (model assumes ₹1,950 Cr)</a:t>
            </a:r>
          </a:p>
        </p:txBody>
      </p:sp>
      <p:sp>
        <p:nvSpPr>
          <p:cNvPr id="223" name="Mit1"/>
          <p:cNvSpPr/>
          <p:nvPr/>
        </p:nvSpPr>
        <p:spPr>
          <a:xfrm>
            <a:off x="6096000" y="19812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5BAD7A"/>
                </a:solidFill>
                <a:latin typeface="Calibri"/>
              </a:rPr>
              <a:t>MITIGANT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Model already applies 15-20% haircut to guidance; conservative estimates provide margin of safety</a:t>
            </a:r>
          </a:p>
        </p:txBody>
      </p:sp>
      <p:sp>
        <p:nvSpPr>
          <p:cNvPr id="241" name="Arrow1"/>
          <p:cNvSpPr/>
          <p:nvPr/>
        </p:nvSpPr>
        <p:spPr>
          <a:xfrm>
            <a:off x="5962650" y="2400300"/>
            <a:ext cx="114300" cy="152400"/>
          </a:xfrm>
          <a:prstGeom prst="rightArrow">
            <a:avLst/>
          </a:prstGeom>
          <a:solidFill>
            <a:srgbClr val="C8A456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4" name="Risk2"/>
          <p:cNvSpPr/>
          <p:nvPr/>
        </p:nvSpPr>
        <p:spPr>
          <a:xfrm>
            <a:off x="457200" y="30480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D4724E"/>
                </a:solidFill>
                <a:latin typeface="Calibri"/>
              </a:rPr>
              <a:t>RISK: Small-Cap Liquidity Risk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Limited analyst coverage and institutional ownership; recently migrated to mainboard</a:t>
            </a:r>
          </a:p>
        </p:txBody>
      </p:sp>
      <p:sp>
        <p:nvSpPr>
          <p:cNvPr id="225" name="Mit2"/>
          <p:cNvSpPr/>
          <p:nvPr/>
        </p:nvSpPr>
        <p:spPr>
          <a:xfrm>
            <a:off x="6096000" y="30480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5BAD7A"/>
                </a:solidFill>
                <a:latin typeface="Calibri"/>
              </a:rPr>
              <a:t>MITIGANT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Mainboard migration unlocks institutional flows; growing scale will attract coverage naturally</a:t>
            </a:r>
          </a:p>
        </p:txBody>
      </p:sp>
      <p:sp>
        <p:nvSpPr>
          <p:cNvPr id="242" name="Arrow2"/>
          <p:cNvSpPr/>
          <p:nvPr/>
        </p:nvSpPr>
        <p:spPr>
          <a:xfrm>
            <a:off x="5962650" y="3467100"/>
            <a:ext cx="114300" cy="152400"/>
          </a:xfrm>
          <a:prstGeom prst="rightArrow">
            <a:avLst/>
          </a:prstGeom>
          <a:solidFill>
            <a:srgbClr val="C8A456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6" name="Risk3"/>
          <p:cNvSpPr/>
          <p:nvPr/>
        </p:nvSpPr>
        <p:spPr>
          <a:xfrm>
            <a:off x="457200" y="41148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D4724E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D4724E"/>
                </a:solidFill>
                <a:latin typeface="Calibri"/>
              </a:rPr>
              <a:t>RISK: Module Price Compression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Chinese oversupply and global module ASP pressure could squeeze margins</a:t>
            </a:r>
          </a:p>
        </p:txBody>
      </p:sp>
      <p:sp>
        <p:nvSpPr>
          <p:cNvPr id="227" name="Mit3"/>
          <p:cNvSpPr/>
          <p:nvPr/>
        </p:nvSpPr>
        <p:spPr>
          <a:xfrm>
            <a:off x="6096000" y="4114800"/>
            <a:ext cx="5486400" cy="990600"/>
          </a:xfrm>
          <a:prstGeom prst="roundRect">
            <a:avLst>
              <a:gd name="adj" fmla="val 5000"/>
            </a:avLst>
          </a:prstGeom>
          <a:solidFill>
            <a:srgbClr val="111E30"/>
          </a:solidFill>
          <a:ln w="6350">
            <a:solidFill>
              <a:srgbClr val="5BAD7A">
                <a:alpha val="50000"/>
              </a:srgbClr>
            </a:solidFill>
          </a:ln>
        </p:spPr>
        <p:txBody>
          <a:bodyPr lIns="137160" tIns="91440" rIns="137160" bIns="91440" anchor="ctr"/>
          <a:lstStyle/>
          <a:p>
            <a:pPr algn="l">
              <a:spcAft>
                <a:spcPts val="200"/>
              </a:spcAft>
            </a:pPr>
            <a:r>
              <a:rPr lang="en-US" sz="1500" b="1" dirty="0">
                <a:solidFill>
                  <a:srgbClr val="5BAD7A"/>
                </a:solidFill>
                <a:latin typeface="Calibri"/>
              </a:rPr>
              <a:t>MITIGANT</a:t>
            </a:r>
          </a:p>
          <a:p>
            <a:pPr algn="l"/>
            <a:r>
              <a:rPr lang="en-US" sz="1400" dirty="0">
                <a:solidFill>
                  <a:srgbClr val="B8B0A4"/>
                </a:solidFill>
                <a:latin typeface="Calibri"/>
              </a:rPr>
              <a:t>BIS certification and ALMM list act as non-tariff barriers; cell integration reduces import dependency</a:t>
            </a:r>
          </a:p>
        </p:txBody>
      </p:sp>
      <p:sp>
        <p:nvSpPr>
          <p:cNvPr id="243" name="Arrow3"/>
          <p:cNvSpPr/>
          <p:nvPr/>
        </p:nvSpPr>
        <p:spPr>
          <a:xfrm>
            <a:off x="5962650" y="4533900"/>
            <a:ext cx="114300" cy="152400"/>
          </a:xfrm>
          <a:prstGeom prst="rightArrow">
            <a:avLst/>
          </a:prstGeom>
          <a:solidFill>
            <a:srgbClr val="C8A456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" name="RiskH"/>
          <p:cNvSpPr/>
          <p:nvPr/>
        </p:nvSpPr>
        <p:spPr>
          <a:xfrm>
            <a:off x="457200" y="54864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D4724E"/>
                </a:solidFill>
                <a:latin typeface="Calibri"/>
              </a:rPr>
              <a:t>▲ RISKS</a:t>
            </a:r>
          </a:p>
        </p:txBody>
      </p:sp>
      <p:sp>
        <p:nvSpPr>
          <p:cNvPr id="251" name="MitH"/>
          <p:cNvSpPr/>
          <p:nvPr/>
        </p:nvSpPr>
        <p:spPr>
          <a:xfrm>
            <a:off x="6096000" y="54864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dirty="0">
                <a:solidFill>
                  <a:srgbClr val="5BAD7A"/>
                </a:solidFill>
                <a:latin typeface="Calibri"/>
              </a:rPr>
              <a:t>▲ MITIGANTS</a:t>
            </a:r>
          </a:p>
        </p:txBody>
      </p:sp>
    </p:spTree>
    <p:extLst>
      <p:ext uri="{BB962C8B-B14F-4D97-AF65-F5344CB8AC3E}">
        <p14:creationId xmlns:p14="http://schemas.microsoft.com/office/powerpoint/2010/main" val="163799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 Investment">
      <a:dk1>
        <a:srgbClr val="E8E4DF"/>
      </a:dk1>
      <a:lt1>
        <a:srgbClr val="0C1829"/>
      </a:lt1>
      <a:dk2>
        <a:srgbClr val="B8B0A4"/>
      </a:dk2>
      <a:lt2>
        <a:srgbClr val="142236"/>
      </a:lt2>
      <a:accent1>
        <a:srgbClr val="C8A456"/>
      </a:accent1>
      <a:accent2>
        <a:srgbClr val="4A90D9"/>
      </a:accent2>
      <a:accent3>
        <a:srgbClr val="5BAD7A"/>
      </a:accent3>
      <a:accent4>
        <a:srgbClr val="D4724E"/>
      </a:accent4>
      <a:accent5>
        <a:srgbClr val="8B6DB0"/>
      </a:accent5>
      <a:accent6>
        <a:srgbClr val="3D7A8A"/>
      </a:accent6>
      <a:hlink>
        <a:srgbClr val="0563C1"/>
      </a:hlink>
      <a:folHlink>
        <a:srgbClr val="954F72"/>
      </a:folHlink>
    </a:clrScheme>
    <a:fontScheme name="PE Investment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9F1A89-5011-4F6B-BC8A-1B8A733ACCDC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1328</Words>
  <Application>Microsoft Office PowerPoint</Application>
  <PresentationFormat>Widescreen</PresentationFormat>
  <Paragraphs>338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Vijay</dc:creator>
  <cp:lastModifiedBy>Harsh Vijay</cp:lastModifiedBy>
  <cp:revision>1</cp:revision>
  <dcterms:created xsi:type="dcterms:W3CDTF">2026-03-11T06:15:30Z</dcterms:created>
  <dcterms:modified xsi:type="dcterms:W3CDTF">2026-03-11T07:40:54Z</dcterms:modified>
</cp:coreProperties>
</file>