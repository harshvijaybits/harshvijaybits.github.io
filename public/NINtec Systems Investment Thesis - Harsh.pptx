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C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 Spend ($B)</c:v>
                </c:pt>
              </c:strCache>
            </c:strRef>
          </c:tx>
          <c:spPr>
            <a:solidFill>
              <a:srgbClr val="2B8EB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D4A84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</c:v>
                </c:pt>
                <c:pt idx="1">
                  <c:v>125</c:v>
                </c:pt>
                <c:pt idx="2">
                  <c:v>145</c:v>
                </c:pt>
                <c:pt idx="3">
                  <c:v>162</c:v>
                </c:pt>
                <c:pt idx="4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C-44FF-A2BB-E8B8F8D3AD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26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0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0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8EB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  <c:pt idx="7">
                  <c:v>FY28E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11.7</c:v>
                </c:pt>
                <c:pt idx="1">
                  <c:v>17.3</c:v>
                </c:pt>
                <c:pt idx="2">
                  <c:v>35</c:v>
                </c:pt>
                <c:pt idx="3">
                  <c:v>83.1</c:v>
                </c:pt>
                <c:pt idx="4">
                  <c:v>139.80000000000001</c:v>
                </c:pt>
                <c:pt idx="5">
                  <c:v>170.6</c:v>
                </c:pt>
                <c:pt idx="6">
                  <c:v>204.7</c:v>
                </c:pt>
                <c:pt idx="7">
                  <c:v>241.5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7-4FD9-93A7-C3D9AFDEA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PAT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  <c:pt idx="7">
                  <c:v>FY28E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2.1</c:v>
                </c:pt>
                <c:pt idx="1">
                  <c:v>3.2</c:v>
                </c:pt>
                <c:pt idx="2">
                  <c:v>7.5</c:v>
                </c:pt>
                <c:pt idx="3">
                  <c:v>18</c:v>
                </c:pt>
                <c:pt idx="4">
                  <c:v>26.6</c:v>
                </c:pt>
                <c:pt idx="5">
                  <c:v>33.1</c:v>
                </c:pt>
                <c:pt idx="6">
                  <c:v>41.3</c:v>
                </c:pt>
                <c:pt idx="7">
                  <c:v>50.5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37-4FD9-93A7-C3D9AFDEA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26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03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C8CDD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255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1.jpeg"/><Relationship Id="rId5" Type="http://schemas.openxmlformats.org/officeDocument/2006/relationships/image" Target="../media/image3.png"/><Relationship Id="rId10" Type="http://schemas.openxmlformats.org/officeDocument/2006/relationships/chart" Target="../charts/chart2.xml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8E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IT SERVICES — MACRO LANDSCAPE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66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positioned at the intersection of cloud migration, AI adoption &amp; global offshoring tailwinds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583680" y="274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-Harsh Vijay  |  FEBRUARY 2026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11480" y="987552"/>
            <a:ext cx="1920240" cy="86868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987552"/>
            <a:ext cx="54864" cy="868680"/>
          </a:xfrm>
          <a:prstGeom prst="rect">
            <a:avLst/>
          </a:prstGeom>
          <a:solidFill>
            <a:srgbClr val="2B8E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521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060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$176B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14400" y="1426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IT Spend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 (Gartner)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539670" y="987552"/>
            <a:ext cx="1920240" cy="86868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2532888" y="987552"/>
            <a:ext cx="54864" cy="868680"/>
          </a:xfrm>
          <a:prstGeom prst="rect">
            <a:avLst/>
          </a:prstGeom>
          <a:solidFill>
            <a:srgbClr val="2B8E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5768" y="115214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35808" y="1060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10.6%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035808" y="1426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IT Spend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2026E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654296" y="987552"/>
            <a:ext cx="1920240" cy="86868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4654296" y="987552"/>
            <a:ext cx="54864" cy="868680"/>
          </a:xfrm>
          <a:prstGeom prst="rect">
            <a:avLst/>
          </a:prstGeom>
          <a:solidFill>
            <a:srgbClr val="2B8E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115214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57216" y="1060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~9.5M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5157216" y="1426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Professionals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FY26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6775704" y="987552"/>
            <a:ext cx="1920240" cy="86868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6775704" y="987552"/>
            <a:ext cx="54864" cy="868680"/>
          </a:xfrm>
          <a:prstGeom prst="rect">
            <a:avLst/>
          </a:prstGeom>
          <a:solidFill>
            <a:srgbClr val="2B8E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8584" y="115214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78624" y="1060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11.1%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7278624" y="1426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Spend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CAGR</a:t>
            </a:r>
            <a:endParaRPr lang="en-US" sz="7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103120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580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TAILWINDS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84632" y="23957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digital transformation spend rising; India IT exports ~$224B in FY25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484632" y="26426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adoption accelerating: India AI market projected ~$17B by 2027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484632" y="2889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expansion: 1,800+ centers today, forecast 2,400–5,000 by 2030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484632" y="31363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mandates &amp; data localization driving new service demand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484632" y="3383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IT players in engineering services/AI growing at 18–22% CAGR</a:t>
            </a:r>
            <a:endParaRPr lang="en-US" sz="8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739896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580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HEADWINDS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84632" y="4014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GDP growth slowing (Fed cut forecast to 1.4%); tighter enterprise tech budgets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484632" y="4261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Large-cap IT revenue growth muted at 4–6% YoY (ICRA FY26E); FII outflows of 26%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484632" y="450799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displacement risk (for ex, due to the recently launched Claude Cowork and other advancements in AI happening rapidly) for low-end IT services; wage inflation in niche skills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4754880" y="20665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IT Spending Trajectory (US$ B)</a:t>
            </a:r>
            <a:endParaRPr lang="en-US" sz="95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4754880" y="2331720"/>
          <a:ext cx="39776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1" name="Shape 31"/>
          <p:cNvSpPr/>
          <p:nvPr/>
        </p:nvSpPr>
        <p:spPr>
          <a:xfrm>
            <a:off x="4754880" y="3977640"/>
            <a:ext cx="3977640" cy="96012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2"/>
          <p:cNvSpPr/>
          <p:nvPr/>
        </p:nvSpPr>
        <p:spPr>
          <a:xfrm>
            <a:off x="4754880" y="3977640"/>
            <a:ext cx="54864" cy="9601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3"/>
          <p:cNvSpPr/>
          <p:nvPr/>
        </p:nvSpPr>
        <p:spPr>
          <a:xfrm>
            <a:off x="4919472" y="40325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NICHE IT &gt; LARGE-CAP IT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4919472" y="42428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large-cap IT (TCS, Infosys) grows at 4–6%, niche players in AI/ML, cybersecurity &amp; engineering services are growing at 18–22% CAGR. NINtec sits at exactly this intersection - small enough to be agile, diversified enough across 18 verticals and multiple geographies to mitigate any kind of concentration risk.</a:t>
            </a:r>
            <a:endParaRPr lang="en-US" sz="800" dirty="0"/>
          </a:p>
        </p:txBody>
      </p:sp>
      <p:sp>
        <p:nvSpPr>
          <p:cNvPr id="45" name="Text 35"/>
          <p:cNvSpPr/>
          <p:nvPr/>
        </p:nvSpPr>
        <p:spPr>
          <a:xfrm>
            <a:off x="41148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Gartner (Nov 2025), NASSCOM, ICRA, IBEF, Mordor Intelligence  |  Investment 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8EBF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ABA562C-1F09-588B-745C-43424582D847}"/>
              </a:ext>
            </a:extLst>
          </p:cNvPr>
          <p:cNvGrpSpPr/>
          <p:nvPr/>
        </p:nvGrpSpPr>
        <p:grpSpPr>
          <a:xfrm>
            <a:off x="438912" y="754380"/>
            <a:ext cx="4023360" cy="1188720"/>
            <a:chOff x="411480" y="896112"/>
            <a:chExt cx="4023360" cy="1188720"/>
          </a:xfrm>
        </p:grpSpPr>
        <p:sp>
          <p:nvSpPr>
            <p:cNvPr id="6" name="Shape 3"/>
            <p:cNvSpPr/>
            <p:nvPr/>
          </p:nvSpPr>
          <p:spPr>
            <a:xfrm>
              <a:off x="411480" y="896112"/>
              <a:ext cx="1920240" cy="530352"/>
            </a:xfrm>
            <a:prstGeom prst="rect">
              <a:avLst/>
            </a:prstGeom>
            <a:solidFill>
              <a:srgbClr val="162036"/>
            </a:solidFill>
            <a:ln w="6350">
              <a:solidFill>
                <a:srgbClr val="26335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208" y="1033272"/>
              <a:ext cx="219456" cy="219456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795528" y="95097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4A84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₹602 Cr</a:t>
              </a:r>
              <a:endParaRPr lang="en-US" sz="14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795528" y="1188720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 Cap</a:t>
              </a:r>
              <a:endParaRPr lang="en-US" sz="70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2514600" y="896112"/>
              <a:ext cx="1920240" cy="530352"/>
            </a:xfrm>
            <a:prstGeom prst="rect">
              <a:avLst/>
            </a:prstGeom>
            <a:solidFill>
              <a:srgbClr val="162036"/>
            </a:solidFill>
            <a:ln w="6350">
              <a:solidFill>
                <a:srgbClr val="26335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24328" y="1033272"/>
              <a:ext cx="219456" cy="219456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2898648" y="95097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4A84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30+</a:t>
              </a:r>
              <a:endParaRPr lang="en-US" sz="14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2898648" y="1188720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Fortune 500 Clients</a:t>
              </a:r>
              <a:endParaRPr lang="en-US" sz="700" dirty="0"/>
            </a:p>
          </p:txBody>
        </p:sp>
        <p:sp>
          <p:nvSpPr>
            <p:cNvPr id="22" name="Shape 15"/>
            <p:cNvSpPr/>
            <p:nvPr/>
          </p:nvSpPr>
          <p:spPr>
            <a:xfrm>
              <a:off x="411480" y="1554480"/>
              <a:ext cx="1920240" cy="530352"/>
            </a:xfrm>
            <a:prstGeom prst="rect">
              <a:avLst/>
            </a:prstGeom>
            <a:solidFill>
              <a:srgbClr val="162036"/>
            </a:solidFill>
            <a:ln w="6350">
              <a:solidFill>
                <a:srgbClr val="26335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3" name="Image 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1208" y="1691640"/>
              <a:ext cx="219456" cy="219456"/>
            </a:xfrm>
            <a:prstGeom prst="rect">
              <a:avLst/>
            </a:prstGeom>
          </p:spPr>
        </p:pic>
        <p:sp>
          <p:nvSpPr>
            <p:cNvPr id="24" name="Text 16"/>
            <p:cNvSpPr/>
            <p:nvPr/>
          </p:nvSpPr>
          <p:spPr>
            <a:xfrm>
              <a:off x="795528" y="1609344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4A84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55%</a:t>
              </a:r>
              <a:endParaRPr lang="en-US" sz="1400" dirty="0"/>
            </a:p>
          </p:txBody>
        </p:sp>
        <p:sp>
          <p:nvSpPr>
            <p:cNvPr id="25" name="Text 17"/>
            <p:cNvSpPr/>
            <p:nvPr/>
          </p:nvSpPr>
          <p:spPr>
            <a:xfrm>
              <a:off x="795528" y="1847088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ROCE (TTM)</a:t>
              </a:r>
              <a:endParaRPr lang="en-US" sz="700" dirty="0"/>
            </a:p>
          </p:txBody>
        </p:sp>
        <p:sp>
          <p:nvSpPr>
            <p:cNvPr id="26" name="Shape 18"/>
            <p:cNvSpPr/>
            <p:nvPr/>
          </p:nvSpPr>
          <p:spPr>
            <a:xfrm>
              <a:off x="2514600" y="1554480"/>
              <a:ext cx="1920240" cy="530352"/>
            </a:xfrm>
            <a:prstGeom prst="rect">
              <a:avLst/>
            </a:prstGeom>
            <a:solidFill>
              <a:srgbClr val="162036"/>
            </a:solidFill>
            <a:ln w="6350">
              <a:solidFill>
                <a:srgbClr val="26335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7" name="Image 6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24328" y="1691640"/>
              <a:ext cx="219456" cy="219456"/>
            </a:xfrm>
            <a:prstGeom prst="rect">
              <a:avLst/>
            </a:prstGeom>
          </p:spPr>
        </p:pic>
        <p:sp>
          <p:nvSpPr>
            <p:cNvPr id="28" name="Text 19"/>
            <p:cNvSpPr/>
            <p:nvPr/>
          </p:nvSpPr>
          <p:spPr>
            <a:xfrm>
              <a:off x="2898648" y="1609344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4A84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0.03x</a:t>
              </a:r>
              <a:endParaRPr lang="en-US" sz="1400" dirty="0"/>
            </a:p>
          </p:txBody>
        </p:sp>
        <p:sp>
          <p:nvSpPr>
            <p:cNvPr id="29" name="Text 20"/>
            <p:cNvSpPr/>
            <p:nvPr/>
          </p:nvSpPr>
          <p:spPr>
            <a:xfrm>
              <a:off x="2898648" y="1847088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D/E Ratio</a:t>
              </a:r>
              <a:endParaRPr lang="en-US" sz="7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A39796-A8C8-DA72-09EA-40CF1BF0CD48}"/>
              </a:ext>
            </a:extLst>
          </p:cNvPr>
          <p:cNvGrpSpPr/>
          <p:nvPr/>
        </p:nvGrpSpPr>
        <p:grpSpPr>
          <a:xfrm>
            <a:off x="4654296" y="758952"/>
            <a:ext cx="4023360" cy="1188720"/>
            <a:chOff x="4617720" y="896112"/>
            <a:chExt cx="4023360" cy="1188720"/>
          </a:xfrm>
        </p:grpSpPr>
        <p:sp>
          <p:nvSpPr>
            <p:cNvPr id="14" name="Shape 9"/>
            <p:cNvSpPr/>
            <p:nvPr/>
          </p:nvSpPr>
          <p:spPr>
            <a:xfrm>
              <a:off x="4617720" y="896112"/>
              <a:ext cx="1920240" cy="530352"/>
            </a:xfrm>
            <a:prstGeom prst="rect">
              <a:avLst/>
            </a:prstGeom>
            <a:solidFill>
              <a:srgbClr val="162036"/>
            </a:solidFill>
            <a:ln w="6350">
              <a:solidFill>
                <a:srgbClr val="26335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27448" y="1033272"/>
              <a:ext cx="219456" cy="219456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5001768" y="95097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4A84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18</a:t>
              </a:r>
              <a:endParaRPr lang="en-US" sz="140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5001768" y="1188720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Industry Verticals</a:t>
              </a:r>
              <a:endParaRPr lang="en-US" sz="700" dirty="0"/>
            </a:p>
          </p:txBody>
        </p:sp>
        <p:sp>
          <p:nvSpPr>
            <p:cNvPr id="18" name="Shape 12"/>
            <p:cNvSpPr/>
            <p:nvPr/>
          </p:nvSpPr>
          <p:spPr>
            <a:xfrm>
              <a:off x="6720840" y="896112"/>
              <a:ext cx="1920240" cy="530352"/>
            </a:xfrm>
            <a:prstGeom prst="rect">
              <a:avLst/>
            </a:prstGeom>
            <a:solidFill>
              <a:srgbClr val="162036"/>
            </a:solidFill>
            <a:ln w="6350">
              <a:solidFill>
                <a:srgbClr val="26335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9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0568" y="1033272"/>
              <a:ext cx="219456" cy="219456"/>
            </a:xfrm>
            <a:prstGeom prst="rect">
              <a:avLst/>
            </a:prstGeom>
          </p:spPr>
        </p:pic>
        <p:sp>
          <p:nvSpPr>
            <p:cNvPr id="20" name="Text 13"/>
            <p:cNvSpPr/>
            <p:nvPr/>
          </p:nvSpPr>
          <p:spPr>
            <a:xfrm>
              <a:off x="7104888" y="95097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4A84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452</a:t>
              </a:r>
              <a:endParaRPr lang="en-US" sz="1400" dirty="0"/>
            </a:p>
          </p:txBody>
        </p:sp>
        <p:sp>
          <p:nvSpPr>
            <p:cNvPr id="21" name="Text 14"/>
            <p:cNvSpPr/>
            <p:nvPr/>
          </p:nvSpPr>
          <p:spPr>
            <a:xfrm>
              <a:off x="7104888" y="1188720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Employees</a:t>
              </a:r>
              <a:endParaRPr lang="en-US" sz="700" dirty="0"/>
            </a:p>
          </p:txBody>
        </p:sp>
        <p:sp>
          <p:nvSpPr>
            <p:cNvPr id="30" name="Shape 21"/>
            <p:cNvSpPr/>
            <p:nvPr/>
          </p:nvSpPr>
          <p:spPr>
            <a:xfrm>
              <a:off x="4617720" y="1554480"/>
              <a:ext cx="1920240" cy="530352"/>
            </a:xfrm>
            <a:prstGeom prst="rect">
              <a:avLst/>
            </a:prstGeom>
            <a:solidFill>
              <a:srgbClr val="162036"/>
            </a:solidFill>
            <a:ln w="6350">
              <a:solidFill>
                <a:srgbClr val="26335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31" name="Image 7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27448" y="1691640"/>
              <a:ext cx="219456" cy="219456"/>
            </a:xfrm>
            <a:prstGeom prst="rect">
              <a:avLst/>
            </a:prstGeom>
          </p:spPr>
        </p:pic>
        <p:sp>
          <p:nvSpPr>
            <p:cNvPr id="32" name="Text 22"/>
            <p:cNvSpPr/>
            <p:nvPr/>
          </p:nvSpPr>
          <p:spPr>
            <a:xfrm>
              <a:off x="5001768" y="1609344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4A84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₹50 Cr</a:t>
              </a:r>
              <a:endParaRPr lang="en-US" sz="1400" dirty="0"/>
            </a:p>
          </p:txBody>
        </p:sp>
        <p:sp>
          <p:nvSpPr>
            <p:cNvPr id="33" name="Text 23"/>
            <p:cNvSpPr/>
            <p:nvPr/>
          </p:nvSpPr>
          <p:spPr>
            <a:xfrm>
              <a:off x="5001768" y="1847088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 Cash Position</a:t>
              </a:r>
              <a:endParaRPr lang="en-US" sz="700" dirty="0"/>
            </a:p>
          </p:txBody>
        </p:sp>
        <p:sp>
          <p:nvSpPr>
            <p:cNvPr id="34" name="Shape 24"/>
            <p:cNvSpPr/>
            <p:nvPr/>
          </p:nvSpPr>
          <p:spPr>
            <a:xfrm>
              <a:off x="6720840" y="1554480"/>
              <a:ext cx="1920240" cy="530352"/>
            </a:xfrm>
            <a:prstGeom prst="rect">
              <a:avLst/>
            </a:prstGeom>
            <a:solidFill>
              <a:srgbClr val="162036"/>
            </a:solidFill>
            <a:ln w="6350">
              <a:solidFill>
                <a:srgbClr val="26335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35" name="Image 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30568" y="1691640"/>
              <a:ext cx="219456" cy="219456"/>
            </a:xfrm>
            <a:prstGeom prst="rect">
              <a:avLst/>
            </a:prstGeom>
          </p:spPr>
        </p:pic>
        <p:sp>
          <p:nvSpPr>
            <p:cNvPr id="36" name="Text 25"/>
            <p:cNvSpPr/>
            <p:nvPr/>
          </p:nvSpPr>
          <p:spPr>
            <a:xfrm>
              <a:off x="7104888" y="1609344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4A84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68%</a:t>
              </a:r>
              <a:endParaRPr lang="en-US" sz="1400" dirty="0"/>
            </a:p>
          </p:txBody>
        </p:sp>
        <p:sp>
          <p:nvSpPr>
            <p:cNvPr id="37" name="Text 26"/>
            <p:cNvSpPr/>
            <p:nvPr/>
          </p:nvSpPr>
          <p:spPr>
            <a:xfrm>
              <a:off x="7104888" y="1847088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5Y Rev CAGR</a:t>
              </a:r>
              <a:endParaRPr lang="en-US" sz="7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5FFB25C-DB85-4443-15FB-8A7BFF452EDB}"/>
              </a:ext>
            </a:extLst>
          </p:cNvPr>
          <p:cNvGrpSpPr/>
          <p:nvPr/>
        </p:nvGrpSpPr>
        <p:grpSpPr>
          <a:xfrm>
            <a:off x="425365" y="2007108"/>
            <a:ext cx="4114800" cy="1988820"/>
            <a:chOff x="411480" y="2176272"/>
            <a:chExt cx="4114800" cy="1810512"/>
          </a:xfrm>
        </p:grpSpPr>
        <p:sp>
          <p:nvSpPr>
            <p:cNvPr id="38" name="Text 27"/>
            <p:cNvSpPr/>
            <p:nvPr/>
          </p:nvSpPr>
          <p:spPr>
            <a:xfrm>
              <a:off x="411480" y="2176272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DA5D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&amp; PAT Trajectory (₹ Cr)</a:t>
              </a:r>
              <a:endParaRPr lang="en-US" sz="1000" dirty="0"/>
            </a:p>
          </p:txBody>
        </p:sp>
        <p:graphicFrame>
          <p:nvGraphicFramePr>
            <p:cNvPr id="39" name="Chart 0"/>
            <p:cNvGraphicFramePr/>
            <p:nvPr>
              <p:extLst>
                <p:ext uri="{D42A27DB-BD31-4B8C-83A1-F6EECF244321}">
                  <p14:modId xmlns:p14="http://schemas.microsoft.com/office/powerpoint/2010/main" val="894045075"/>
                </p:ext>
              </p:extLst>
            </p:nvPr>
          </p:nvGraphicFramePr>
          <p:xfrm>
            <a:off x="411480" y="2432304"/>
            <a:ext cx="4114800" cy="15544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</p:grpSp>
      <p:sp>
        <p:nvSpPr>
          <p:cNvPr id="40" name="Text 28"/>
          <p:cNvSpPr/>
          <p:nvPr/>
        </p:nvSpPr>
        <p:spPr>
          <a:xfrm>
            <a:off x="4723045" y="1931585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METRICS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939034"/>
              </p:ext>
            </p:extLst>
          </p:nvPr>
        </p:nvGraphicFramePr>
        <p:xfrm>
          <a:off x="4723045" y="2187617"/>
          <a:ext cx="3639312" cy="19888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Revenue (₹ Cr)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Rev Growth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EBITDA 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PAT (₹ Cr)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PAT 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EPS (₹)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ROE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FCFF (₹ Cr)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Debt/Equity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Shape 29"/>
          <p:cNvSpPr/>
          <p:nvPr/>
        </p:nvSpPr>
        <p:spPr>
          <a:xfrm>
            <a:off x="411480" y="4114800"/>
            <a:ext cx="8321040" cy="749808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0"/>
          <p:cNvSpPr/>
          <p:nvPr/>
        </p:nvSpPr>
        <p:spPr>
          <a:xfrm>
            <a:off x="411480" y="4114800"/>
            <a:ext cx="54864" cy="74980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1"/>
          <p:cNvSpPr/>
          <p:nvPr/>
        </p:nvSpPr>
        <p:spPr>
          <a:xfrm>
            <a:off x="594360" y="415137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594360" y="431292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NINtec Systems is an Ahmedabad-headquartered IT services company (est. 2015) serving 30+ Fortune 500 clients and 100+ SMEs across 18 verticals including Auto, BFSI, Healthcare &amp; Logistics. The company migrated from SME to BSE/NSE mainboard in Feb 2023. It operates a Netherlands subsidiary (NINtec Systems B.V.) for European delivery. Key capabilities span Application Engineering, Cloud, Business Analytics, Testing, and emerging tech: AI/ML, IoT, Cybersecurity SOCs, and Blockchain. Asset-light model with employee costs ~28–30% of revenue and extensive subcontracting. Multi-year contracts provide strong revenue visibility. Promoter holding: 47.42% (have bought multiple times from the market in recent months)</a:t>
            </a:r>
            <a:endParaRPr lang="en-US" sz="750" dirty="0"/>
          </a:p>
        </p:txBody>
      </p:sp>
      <p:sp>
        <p:nvSpPr>
          <p:cNvPr id="46" name="Text 33"/>
          <p:cNvSpPr/>
          <p:nvPr/>
        </p:nvSpPr>
        <p:spPr>
          <a:xfrm>
            <a:off x="41148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NINtec FY25 Annual Report, BSE Filings, Company Website  |  9M FY26 consolidated data; Investment Thesis</a:t>
            </a:r>
            <a:endParaRPr lang="en-US" sz="65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121E23-6BC5-106D-0D07-F685E9C5E600}"/>
              </a:ext>
            </a:extLst>
          </p:cNvPr>
          <p:cNvGrpSpPr/>
          <p:nvPr/>
        </p:nvGrpSpPr>
        <p:grpSpPr>
          <a:xfrm>
            <a:off x="405003" y="114300"/>
            <a:ext cx="7730489" cy="594360"/>
            <a:chOff x="407671" y="201168"/>
            <a:chExt cx="7730489" cy="594360"/>
          </a:xfrm>
        </p:grpSpPr>
        <p:sp>
          <p:nvSpPr>
            <p:cNvPr id="4" name="Text 1"/>
            <p:cNvSpPr/>
            <p:nvPr/>
          </p:nvSpPr>
          <p:spPr>
            <a:xfrm>
              <a:off x="822960" y="201168"/>
              <a:ext cx="5943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NINtec SYSTEMS LTD — COMPANY OVERVIEW</a:t>
              </a:r>
              <a:endParaRPr lang="en-US" sz="17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822960" y="566928"/>
              <a:ext cx="7315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BSE: 539843  |  NSE: NINSYS  |  Sector: IT Services &amp; Consulting  |  HQ: Ahmedabad, India</a:t>
              </a:r>
              <a:endParaRPr lang="en-US" sz="850" dirty="0"/>
            </a:p>
          </p:txBody>
        </p:sp>
        <p:pic>
          <p:nvPicPr>
            <p:cNvPr id="1028" name="Picture 4" descr="NINtec Systems Limited | LinkedIn">
              <a:extLst>
                <a:ext uri="{FF2B5EF4-FFF2-40B4-BE49-F238E27FC236}">
                  <a16:creationId xmlns:a16="http://schemas.microsoft.com/office/drawing/2014/main" id="{269A95F4-E622-BB06-FC66-1B3CBD53C9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671" y="237744"/>
              <a:ext cx="332994" cy="332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8E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1008"/>
            <a:ext cx="320040" cy="311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THESIS — VALUATION &amp; RISKS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48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+ Relative Valuation  |  CMP: ₹324  |  Shares: 1.858 Cr  |  Mkt Cap: ₹602 Cr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11480" y="914400"/>
            <a:ext cx="4114800" cy="182880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11480" y="914400"/>
            <a:ext cx="54864" cy="1828800"/>
          </a:xfrm>
          <a:prstGeom prst="rect">
            <a:avLst/>
          </a:prstGeom>
          <a:solidFill>
            <a:srgbClr val="2B8E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76072" y="969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PRICING</a:t>
            </a:r>
            <a:endParaRPr lang="en-US" sz="10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A5968D4-B9B5-6AEA-2507-0971A68E7881}"/>
              </a:ext>
            </a:extLst>
          </p:cNvPr>
          <p:cNvGrpSpPr/>
          <p:nvPr/>
        </p:nvGrpSpPr>
        <p:grpSpPr>
          <a:xfrm>
            <a:off x="576072" y="1180592"/>
            <a:ext cx="3675888" cy="1335024"/>
            <a:chOff x="576072" y="1234440"/>
            <a:chExt cx="3675888" cy="1335024"/>
          </a:xfrm>
        </p:grpSpPr>
        <p:sp>
          <p:nvSpPr>
            <p:cNvPr id="9" name="Text 6"/>
            <p:cNvSpPr/>
            <p:nvPr/>
          </p:nvSpPr>
          <p:spPr>
            <a:xfrm>
              <a:off x="576072" y="1234440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CMP</a:t>
              </a:r>
              <a:endParaRPr lang="en-US" sz="7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2606040" y="1234440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₹324</a:t>
              </a:r>
              <a:endParaRPr lang="en-US" sz="7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76072" y="1426464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 Cap</a:t>
              </a:r>
              <a:endParaRPr lang="en-US" sz="7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2606040" y="1426464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₹602 Cr</a:t>
              </a:r>
              <a:endParaRPr lang="en-US" sz="7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576072" y="1618488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P/E (TTM)</a:t>
              </a:r>
              <a:endParaRPr lang="en-US" sz="7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2606040" y="1618488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19.9x</a:t>
              </a:r>
              <a:endParaRPr lang="en-US" sz="75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76072" y="1810512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EV/EBITDA (TTM)</a:t>
              </a:r>
              <a:endParaRPr lang="en-US" sz="7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2606040" y="1810512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23.3x</a:t>
              </a:r>
              <a:endParaRPr lang="en-US" sz="75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76072" y="2002536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P/B</a:t>
              </a:r>
              <a:endParaRPr lang="en-US" sz="7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2606040" y="200253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12.3x</a:t>
              </a:r>
              <a:endParaRPr lang="en-US" sz="75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76072" y="2194560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 Margin (TTM)</a:t>
              </a:r>
              <a:endParaRPr lang="en-US" sz="75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2606040" y="2194560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18.7%</a:t>
              </a:r>
              <a:endParaRPr lang="en-US" sz="75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76072" y="2386584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Dividend Yield</a:t>
              </a:r>
              <a:endParaRPr lang="en-US" sz="75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2606040" y="2386584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NIL </a:t>
              </a:r>
              <a:r>
                <a:rPr lang="en-US" sz="750" b="1" dirty="0">
                  <a:solidFill>
                    <a:srgbClr val="34C7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Co. able to maintain ~55% ROCE without giving out any dividends</a:t>
              </a:r>
            </a:p>
          </p:txBody>
        </p:sp>
      </p:grpSp>
      <p:sp>
        <p:nvSpPr>
          <p:cNvPr id="23" name="Text 20"/>
          <p:cNvSpPr/>
          <p:nvPr/>
        </p:nvSpPr>
        <p:spPr>
          <a:xfrm>
            <a:off x="578612" y="256717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Peer Median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380744" y="2572427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P/E Median:  41.4x (NINtec: 19..9x — 48% discount)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76072" y="29718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EV/EBITDA Median:  22x (NINtec: 23.3x — in line)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709160" y="908219"/>
            <a:ext cx="4114800" cy="182880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4"/>
          <p:cNvSpPr/>
          <p:nvPr/>
        </p:nvSpPr>
        <p:spPr>
          <a:xfrm>
            <a:off x="4709160" y="914400"/>
            <a:ext cx="54864" cy="18288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873752" y="969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PRICING — BLENDED FAIR VALUE</a:t>
            </a:r>
            <a:endParaRPr lang="en-US" sz="1000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BAEB3FE-C070-4134-42C6-4F6F441FB097}"/>
              </a:ext>
            </a:extLst>
          </p:cNvPr>
          <p:cNvGrpSpPr/>
          <p:nvPr/>
        </p:nvGrpSpPr>
        <p:grpSpPr>
          <a:xfrm>
            <a:off x="4892040" y="1095333"/>
            <a:ext cx="3675888" cy="425196"/>
            <a:chOff x="4873752" y="1225296"/>
            <a:chExt cx="3675888" cy="425196"/>
          </a:xfrm>
        </p:grpSpPr>
        <p:sp>
          <p:nvSpPr>
            <p:cNvPr id="29" name="Text 26"/>
            <p:cNvSpPr/>
            <p:nvPr/>
          </p:nvSpPr>
          <p:spPr>
            <a:xfrm>
              <a:off x="4873752" y="1225296"/>
              <a:ext cx="1181608" cy="425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4C759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₹395</a:t>
              </a:r>
              <a:endParaRPr lang="en-US" sz="24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6720840" y="1261872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Blended Fair Value / Share</a:t>
              </a:r>
              <a:endParaRPr lang="en-US" sz="8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6720840" y="1426464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4C7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+22% Upside to CMP of ₹324</a:t>
              </a:r>
              <a:endParaRPr lang="en-US" sz="90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6E815AD-0AD2-4DFA-C5BC-BA6BE11707D7}"/>
              </a:ext>
            </a:extLst>
          </p:cNvPr>
          <p:cNvGrpSpPr/>
          <p:nvPr/>
        </p:nvGrpSpPr>
        <p:grpSpPr>
          <a:xfrm>
            <a:off x="4892040" y="1523662"/>
            <a:ext cx="3621024" cy="731520"/>
            <a:chOff x="4873752" y="1755648"/>
            <a:chExt cx="3621024" cy="731520"/>
          </a:xfrm>
        </p:grpSpPr>
        <p:sp>
          <p:nvSpPr>
            <p:cNvPr id="32" name="Text 29"/>
            <p:cNvSpPr/>
            <p:nvPr/>
          </p:nvSpPr>
          <p:spPr>
            <a:xfrm>
              <a:off x="4873752" y="1755648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Methodology</a:t>
              </a:r>
              <a:endParaRPr lang="en-US" sz="7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6400800" y="1755648"/>
              <a:ext cx="685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Implied (₹)</a:t>
              </a:r>
              <a:endParaRPr lang="en-US" sz="7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7104888" y="1755648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Weight</a:t>
              </a:r>
              <a:endParaRPr lang="en-US" sz="7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7671816" y="1755648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</a:t>
              </a:r>
              <a:endParaRPr lang="en-US" sz="7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4873752" y="1956816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E8EC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DCF (Base Case)</a:t>
              </a:r>
              <a:endParaRPr lang="en-US" sz="75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6400800" y="1956816"/>
              <a:ext cx="685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₹253</a:t>
              </a:r>
              <a:endParaRPr lang="en-US" sz="75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7104888" y="1956816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50%</a:t>
              </a:r>
              <a:endParaRPr lang="en-US" sz="75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7671816" y="1956816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E74C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22% Downside</a:t>
              </a:r>
              <a:endParaRPr lang="en-US" sz="75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4873752" y="2139696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E8EC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Peer EV/EBITDA (FY27E)</a:t>
              </a:r>
              <a:endParaRPr lang="en-US" sz="75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6400800" y="2139696"/>
              <a:ext cx="685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₹403</a:t>
              </a:r>
              <a:endParaRPr lang="en-US" sz="75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7104888" y="2139696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30%</a:t>
              </a:r>
              <a:endParaRPr lang="en-US" sz="75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7671816" y="2139696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34C7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24.3% Upside</a:t>
              </a:r>
              <a:endParaRPr lang="en-US" sz="75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4873752" y="2322576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E8EC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Peer P/E (FY27E)</a:t>
              </a:r>
              <a:endParaRPr lang="en-US" sz="75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6400800" y="2322576"/>
              <a:ext cx="685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₹737</a:t>
              </a:r>
              <a:endParaRPr lang="en-US" sz="75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7104888" y="2322576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20%</a:t>
              </a:r>
              <a:endParaRPr lang="en-US" sz="75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7671816" y="2322576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34C7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127.6% Upside</a:t>
              </a:r>
              <a:endParaRPr lang="en-US" sz="750" dirty="0"/>
            </a:p>
          </p:txBody>
        </p:sp>
      </p:grpSp>
      <p:sp>
        <p:nvSpPr>
          <p:cNvPr id="48" name="Text 45"/>
          <p:cNvSpPr/>
          <p:nvPr/>
        </p:nvSpPr>
        <p:spPr>
          <a:xfrm>
            <a:off x="4873752" y="256032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Rationale: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5464048" y="2261531"/>
            <a:ext cx="33839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weighted highest as it captures company-specific FCFs without peer noise. Peer comps suggest deep discount — NINtec trades at 20x P/E vs peer median of 41.4x, reflecting micro-cap liquidity discount and lower institutional ownership. Blending all three methods yields a fair value of ₹499/share. 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411480" y="2907792"/>
            <a:ext cx="4114800" cy="196596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411480" y="2907792"/>
            <a:ext cx="54864" cy="1965960"/>
          </a:xfrm>
          <a:prstGeom prst="rect">
            <a:avLst/>
          </a:prstGeom>
          <a:solidFill>
            <a:srgbClr val="2B8E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576072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576072" y="321868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FY26E: 22% → tapering to 12% by FY31E (India IT niche CAGR 15–18%)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76072" y="339242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FY26E → 29.5% FY31E via operating leverage + mix shift to AI/ML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576072" y="356616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Cost: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 of rev (FY26E) → 27% by FY31E; scale economies, automation gains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576072" y="37398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Expenses: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45.5% FY26E → 43.5% FY31E; subcontracting optimization, fixed cost absorption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576072" y="391363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 of revenue (asset-light model; FY25 actual was 4.3%)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576072" y="408736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of revenue (receivables-heavy, typical for IT services)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576072" y="42611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Inputs: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WACC: 14.6% (Ke ≈ WACC, near-zero debt); Rf: 7.1%, β: 1.15, ERP: 6.5%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576072" y="443484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(India nominal GDP; IT co. can sustain ~5% in perpetuity)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576072" y="460857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effective rate (new tax regime steady state)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4709160" y="2907792"/>
            <a:ext cx="4114800" cy="196596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0"/>
          <p:cNvSpPr/>
          <p:nvPr/>
        </p:nvSpPr>
        <p:spPr>
          <a:xfrm>
            <a:off x="4709160" y="2907792"/>
            <a:ext cx="54864" cy="19659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4873752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4873752" y="321868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Deceleration: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 FY26 PAT growth 23% vs FY25's 70%. Revenue growth normalizing from hyper-growth phase; base effect kicking in.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4873752" y="345186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Micro-Cap Liquidity: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₹602 Cr market cap with low float. Mainboard since Feb 2023 but daily volumes remain thin; exit risk for institutional investors.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4873752" y="368503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Concentration: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client base is a strength, but loss of a top-5 client could materially impact revenue given small base.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873752" y="39182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Promoter-Led, Low Institutional: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 promoter holding, minimal FII/DII ownership. Governance overhang and limited price discovery by sophisticated investors.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4873752" y="415137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Dividend Policy: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dividend payout despite ₹50 Cr net cash. No capital return commitment; reinvestment efficiency yet to be proven at scale.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4873752" y="43845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Displacement: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 IT work at risk from GenAI automation. NINtec's pivot to AI/ML is a hedge, but execution risk remains.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73752" y="461772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Shows Downside: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DCF implies ₹253 (–22% vs CMP). Upside is contingent on market re-rating to peer multiples over time.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411480" y="48508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as of Feb 2026  |  DCF uses FY27E–FY31E projected FCFFs  |  Peer comps based on FY27E estimates  |  All figures in ₹ Cr unless stated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1236</Words>
  <Application>Microsoft Office PowerPoint</Application>
  <PresentationFormat>On-screen Show (16:9)</PresentationFormat>
  <Paragraphs>166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NINtec Systems Ltd — Buy-Side Equity Research</dc:title>
  <dc:subject>PptxGenJS Presentation</dc:subject>
  <dc:creator>Harsh</dc:creator>
  <cp:lastModifiedBy>Harsh Vijay</cp:lastModifiedBy>
  <cp:revision>5</cp:revision>
  <dcterms:created xsi:type="dcterms:W3CDTF">2026-02-20T11:14:58Z</dcterms:created>
  <dcterms:modified xsi:type="dcterms:W3CDTF">2026-02-22T12:12:32Z</dcterms:modified>
</cp:coreProperties>
</file>