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9" r:id="rId3"/>
    <p:sldId id="284" r:id="rId4"/>
    <p:sldId id="288" r:id="rId5"/>
    <p:sldId id="265" r:id="rId6"/>
    <p:sldId id="283" r:id="rId7"/>
    <p:sldId id="268" r:id="rId8"/>
    <p:sldId id="286" r:id="rId9"/>
    <p:sldId id="271" r:id="rId10"/>
    <p:sldId id="273" r:id="rId11"/>
    <p:sldId id="274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Vijay" userId="cef078f2e7b793b4" providerId="LiveId" clId="{38B71653-101D-4B7E-AC6C-FDD42F8C068A}"/>
    <pc:docChg chg="undo custSel modSld">
      <pc:chgData name="Harsh Vijay" userId="cef078f2e7b793b4" providerId="LiveId" clId="{38B71653-101D-4B7E-AC6C-FDD42F8C068A}" dt="2026-03-13T15:33:08.568" v="30" actId="20577"/>
      <pc:docMkLst>
        <pc:docMk/>
      </pc:docMkLst>
      <pc:sldChg chg="modSp mod">
        <pc:chgData name="Harsh Vijay" userId="cef078f2e7b793b4" providerId="LiveId" clId="{38B71653-101D-4B7E-AC6C-FDD42F8C068A}" dt="2026-03-13T15:33:08.568" v="30" actId="20577"/>
        <pc:sldMkLst>
          <pc:docMk/>
          <pc:sldMk cId="1078608972" sldId="258"/>
        </pc:sldMkLst>
        <pc:spChg chg="mod">
          <ac:chgData name="Harsh Vijay" userId="cef078f2e7b793b4" providerId="LiveId" clId="{38B71653-101D-4B7E-AC6C-FDD42F8C068A}" dt="2026-03-13T15:32:19.690" v="9" actId="1076"/>
          <ac:spMkLst>
            <pc:docMk/>
            <pc:sldMk cId="1078608972" sldId="258"/>
            <ac:spMk id="2" creationId="{AC2D7D88-CC90-D000-F322-9001AA8B3C18}"/>
          </ac:spMkLst>
        </pc:spChg>
        <pc:spChg chg="mod">
          <ac:chgData name="Harsh Vijay" userId="cef078f2e7b793b4" providerId="LiveId" clId="{38B71653-101D-4B7E-AC6C-FDD42F8C068A}" dt="2026-03-13T15:32:14.508" v="8" actId="1076"/>
          <ac:spMkLst>
            <pc:docMk/>
            <pc:sldMk cId="1078608972" sldId="258"/>
            <ac:spMk id="3" creationId="{D4428AF5-0DD6-EA80-36F7-3DD15971292C}"/>
          </ac:spMkLst>
        </pc:spChg>
        <pc:spChg chg="mod">
          <ac:chgData name="Harsh Vijay" userId="cef078f2e7b793b4" providerId="LiveId" clId="{38B71653-101D-4B7E-AC6C-FDD42F8C068A}" dt="2026-03-13T15:33:08.568" v="30" actId="20577"/>
          <ac:spMkLst>
            <pc:docMk/>
            <pc:sldMk cId="1078608972" sldId="258"/>
            <ac:spMk id="100" creationId="{00000000-0000-0000-0000-000000000000}"/>
          </ac:spMkLst>
        </pc:spChg>
        <pc:spChg chg="mod">
          <ac:chgData name="Harsh Vijay" userId="cef078f2e7b793b4" providerId="LiveId" clId="{38B71653-101D-4B7E-AC6C-FDD42F8C068A}" dt="2026-03-13T15:32:51.488" v="11" actId="1076"/>
          <ac:spMkLst>
            <pc:docMk/>
            <pc:sldMk cId="1078608972" sldId="258"/>
            <ac:spMk id="101" creationId="{00000000-0000-0000-0000-000000000000}"/>
          </ac:spMkLst>
        </pc:spChg>
        <pc:picChg chg="mod">
          <ac:chgData name="Harsh Vijay" userId="cef078f2e7b793b4" providerId="LiveId" clId="{38B71653-101D-4B7E-AC6C-FDD42F8C068A}" dt="2026-03-13T15:32:27.687" v="10" actId="1076"/>
          <ac:picMkLst>
            <pc:docMk/>
            <pc:sldMk cId="1078608972" sldId="258"/>
            <ac:picMk id="1026" creationId="{6338D45C-F13D-7B3D-8531-B02100961B16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 algn="l"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lang="en-US" sz="1600" b="1" dirty="0">
                <a:solidFill>
                  <a:srgbClr val="FFFFFF"/>
                </a:solidFill>
                <a:latin typeface="Georgia"/>
              </a:rPr>
              <a:t>Revenue &amp; PAT (₹ Cr)  |  EBITDA Margin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Revenue</c:v>
          </c:tx>
          <c:spPr>
            <a:solidFill>
              <a:srgbClr val="2E86AB"/>
            </a:solidFill>
            <a:ln>
              <a:noFill/>
            </a:ln>
          </c:spPr>
          <c:invertIfNegative val="1"/>
          <c:cat>
            <c:strLit>
              <c:ptCount val="14"/>
              <c:pt idx="0">
                <c:v>FY22A</c:v>
              </c:pt>
              <c:pt idx="1">
                <c:v>FY23A</c:v>
              </c:pt>
              <c:pt idx="2">
                <c:v>FY24A</c:v>
              </c:pt>
              <c:pt idx="3">
                <c:v>FY25A</c:v>
              </c:pt>
              <c:pt idx="4">
                <c:v>FY26E</c:v>
              </c:pt>
              <c:pt idx="5">
                <c:v>FY27E</c:v>
              </c:pt>
              <c:pt idx="6">
                <c:v>FY28E</c:v>
              </c:pt>
              <c:pt idx="7">
                <c:v>FY29E</c:v>
              </c:pt>
              <c:pt idx="8">
                <c:v>FY30E</c:v>
              </c:pt>
              <c:pt idx="9">
                <c:v>FY31E</c:v>
              </c:pt>
              <c:pt idx="10">
                <c:v>FY32E</c:v>
              </c:pt>
              <c:pt idx="11">
                <c:v>FY33E</c:v>
              </c:pt>
              <c:pt idx="12">
                <c:v>FY34E</c:v>
              </c:pt>
              <c:pt idx="13">
                <c:v>FY35E</c:v>
              </c:pt>
            </c:strLit>
          </c:cat>
          <c:val>
            <c:numLit>
              <c:formatCode>General</c:formatCode>
              <c:ptCount val="14"/>
              <c:pt idx="0">
                <c:v>42.2</c:v>
              </c:pt>
              <c:pt idx="1">
                <c:v>125.3</c:v>
              </c:pt>
              <c:pt idx="2">
                <c:v>172.6</c:v>
              </c:pt>
              <c:pt idx="3">
                <c:v>316.3</c:v>
              </c:pt>
              <c:pt idx="4">
                <c:v>475</c:v>
              </c:pt>
              <c:pt idx="5">
                <c:v>665</c:v>
              </c:pt>
              <c:pt idx="6">
                <c:v>930</c:v>
              </c:pt>
              <c:pt idx="7">
                <c:v>1255</c:v>
              </c:pt>
              <c:pt idx="8">
                <c:v>1630</c:v>
              </c:pt>
              <c:pt idx="9">
                <c:v>2040</c:v>
              </c:pt>
              <c:pt idx="10">
                <c:v>2450</c:v>
              </c:pt>
              <c:pt idx="11">
                <c:v>2890</c:v>
              </c:pt>
              <c:pt idx="12">
                <c:v>3350</c:v>
              </c:pt>
              <c:pt idx="13">
                <c:v>3820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BB9-43AD-A393-50FB386F86E3}"/>
            </c:ext>
          </c:extLst>
        </c:ser>
        <c:ser>
          <c:idx val="1"/>
          <c:order val="1"/>
          <c:tx>
            <c:v>PAT</c:v>
          </c:tx>
          <c:spPr>
            <a:solidFill>
              <a:srgbClr val="C8B07B"/>
            </a:solidFill>
            <a:ln>
              <a:noFill/>
            </a:ln>
          </c:spPr>
          <c:invertIfNegative val="1"/>
          <c:cat>
            <c:strLit>
              <c:ptCount val="14"/>
              <c:pt idx="0">
                <c:v>FY22A</c:v>
              </c:pt>
              <c:pt idx="1">
                <c:v>FY23A</c:v>
              </c:pt>
              <c:pt idx="2">
                <c:v>FY24A</c:v>
              </c:pt>
              <c:pt idx="3">
                <c:v>FY25A</c:v>
              </c:pt>
              <c:pt idx="4">
                <c:v>FY26E</c:v>
              </c:pt>
              <c:pt idx="5">
                <c:v>FY27E</c:v>
              </c:pt>
              <c:pt idx="6">
                <c:v>FY28E</c:v>
              </c:pt>
              <c:pt idx="7">
                <c:v>FY29E</c:v>
              </c:pt>
              <c:pt idx="8">
                <c:v>FY30E</c:v>
              </c:pt>
              <c:pt idx="9">
                <c:v>FY31E</c:v>
              </c:pt>
              <c:pt idx="10">
                <c:v>FY32E</c:v>
              </c:pt>
              <c:pt idx="11">
                <c:v>FY33E</c:v>
              </c:pt>
              <c:pt idx="12">
                <c:v>FY34E</c:v>
              </c:pt>
              <c:pt idx="13">
                <c:v>FY35E</c:v>
              </c:pt>
            </c:strLit>
          </c:cat>
          <c:val>
            <c:numLit>
              <c:formatCode>General</c:formatCode>
              <c:ptCount val="14"/>
              <c:pt idx="0">
                <c:v>-1.4</c:v>
              </c:pt>
              <c:pt idx="1">
                <c:v>4.8</c:v>
              </c:pt>
              <c:pt idx="2">
                <c:v>38</c:v>
              </c:pt>
              <c:pt idx="3">
                <c:v>36.6</c:v>
              </c:pt>
              <c:pt idx="4">
                <c:v>47.9</c:v>
              </c:pt>
              <c:pt idx="5">
                <c:v>74.099999999999994</c:v>
              </c:pt>
              <c:pt idx="6">
                <c:v>115.7</c:v>
              </c:pt>
              <c:pt idx="7">
                <c:v>166.6</c:v>
              </c:pt>
              <c:pt idx="8">
                <c:v>231.7</c:v>
              </c:pt>
              <c:pt idx="9">
                <c:v>300.5</c:v>
              </c:pt>
              <c:pt idx="10">
                <c:v>374.8</c:v>
              </c:pt>
              <c:pt idx="11">
                <c:v>453.8</c:v>
              </c:pt>
              <c:pt idx="12">
                <c:v>539.29999999999995</c:v>
              </c:pt>
              <c:pt idx="13">
                <c:v>629.79999999999995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BB9-43AD-A393-50FB386F86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lineChart>
        <c:grouping val="standard"/>
        <c:varyColors val="1"/>
        <c:ser>
          <c:idx val="2"/>
          <c:order val="2"/>
          <c:tx>
            <c:v>EBITDA Margin %</c:v>
          </c:tx>
          <c:spPr>
            <a:ln w="28575">
              <a:solidFill>
                <a:srgbClr val="4CAF50"/>
              </a:solidFill>
            </a:ln>
          </c:spPr>
          <c:marker>
            <c:symbol val="circle"/>
            <c:size val="4"/>
            <c:spPr>
              <a:solidFill>
                <a:srgbClr val="4CAF50"/>
              </a:solidFill>
            </c:spPr>
          </c:marker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4CAF50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4"/>
              <c:pt idx="0">
                <c:v>FY22A</c:v>
              </c:pt>
              <c:pt idx="1">
                <c:v>FY23A</c:v>
              </c:pt>
              <c:pt idx="2">
                <c:v>FY24A</c:v>
              </c:pt>
              <c:pt idx="3">
                <c:v>FY25A</c:v>
              </c:pt>
              <c:pt idx="4">
                <c:v>FY26E</c:v>
              </c:pt>
              <c:pt idx="5">
                <c:v>FY27E</c:v>
              </c:pt>
              <c:pt idx="6">
                <c:v>FY28E</c:v>
              </c:pt>
              <c:pt idx="7">
                <c:v>FY29E</c:v>
              </c:pt>
              <c:pt idx="8">
                <c:v>FY30E</c:v>
              </c:pt>
              <c:pt idx="9">
                <c:v>FY31E</c:v>
              </c:pt>
              <c:pt idx="10">
                <c:v>FY32E</c:v>
              </c:pt>
              <c:pt idx="11">
                <c:v>FY33E</c:v>
              </c:pt>
              <c:pt idx="12">
                <c:v>FY34E</c:v>
              </c:pt>
              <c:pt idx="13">
                <c:v>FY35E</c:v>
              </c:pt>
            </c:strLit>
          </c:cat>
          <c:val>
            <c:numLit>
              <c:formatCode>General</c:formatCode>
              <c:ptCount val="14"/>
              <c:pt idx="0">
                <c:v>3.1</c:v>
              </c:pt>
              <c:pt idx="1">
                <c:v>10.9</c:v>
              </c:pt>
              <c:pt idx="2">
                <c:v>31.5</c:v>
              </c:pt>
              <c:pt idx="3">
                <c:v>19.399999999999999</c:v>
              </c:pt>
              <c:pt idx="4">
                <c:v>16.5</c:v>
              </c:pt>
              <c:pt idx="5">
                <c:v>17.899999999999999</c:v>
              </c:pt>
              <c:pt idx="6">
                <c:v>19.5</c:v>
              </c:pt>
              <c:pt idx="7">
                <c:v>20.399999999999999</c:v>
              </c:pt>
              <c:pt idx="8">
                <c:v>21.4</c:v>
              </c:pt>
              <c:pt idx="9">
                <c:v>21.9</c:v>
              </c:pt>
              <c:pt idx="10">
                <c:v>22.5</c:v>
              </c:pt>
              <c:pt idx="11">
                <c:v>22.9</c:v>
              </c:pt>
              <c:pt idx="12">
                <c:v>23.4</c:v>
              </c:pt>
              <c:pt idx="13">
                <c:v>23.8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DBB9-43AD-A393-50FB386F86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3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555555"/>
            </a:solidFill>
          </a:ln>
        </c:spPr>
        <c:txPr>
          <a:bodyPr rot="-2700000"/>
          <a:lstStyle/>
          <a:p>
            <a:pPr>
              <a:defRPr sz="1000" b="1">
                <a:solidFill>
                  <a:srgbClr val="CCCCCC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555555"/>
            </a:solidFill>
          </a:ln>
        </c:spPr>
        <c:txPr>
          <a:bodyPr/>
          <a:lstStyle/>
          <a:p>
            <a:pPr>
              <a:defRPr sz="1000">
                <a:solidFill>
                  <a:srgbClr val="CCCCCC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  <c:valAx>
        <c:axId val="3"/>
        <c:scaling>
          <c:orientation val="minMax"/>
          <c:max val="35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>
            <a:solidFill>
              <a:srgbClr val="555555"/>
            </a:solidFill>
          </a:ln>
        </c:spPr>
        <c:txPr>
          <a:bodyPr/>
          <a:lstStyle/>
          <a:p>
            <a:pPr>
              <a:defRPr sz="1000">
                <a:solidFill>
                  <a:srgbClr val="4CAF50"/>
                </a:solidFill>
                <a:latin typeface="Calibri"/>
              </a:defRPr>
            </a:pPr>
            <a:endParaRPr lang="en-US"/>
          </a:p>
        </c:txPr>
        <c:crossAx val="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100" b="1">
              <a:solidFill>
                <a:srgbClr val="CCCCCC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0B5B-C600-635D-3E24-64348E5AC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14752-974C-F212-DADB-389CEE36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1177E-52FA-CD79-D053-CC919F12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2D7C2-7DD1-AE55-8C42-1D64F937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81FA4-FA9A-BB10-0264-BEB75869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33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D5AD-D7C3-7834-E3DD-82AC6860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590A4-56E4-1572-FA05-5A1627D4F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F0AB-9D5D-2671-E6A4-8693A43F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749FB-F9EC-13CA-5FAD-0F2BFC96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D26FE-DA6C-92DB-37B9-C930E84F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4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7E10-CDFE-6624-28C2-2C0C8D91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DD4A9-3378-03F1-635B-D6AB6C9CD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277E3-9DCE-54E0-7ACC-4C7B1C44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7C17B-5A89-B03D-F860-957C35A89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728EA-C63A-E7E2-DC31-C2836213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34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B9AB-919A-9CA8-7257-E00A7651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EB97F-918A-3709-D0F4-A03A5542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40F4B-5AAE-FE23-2EB8-C9CA86991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E6C7C-BDAF-820D-6CE9-36FD6B1E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364DF-BE32-F7F6-9725-3BF983DC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7E51E-199A-3989-5FD6-B5C8CBFD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4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4925-5C06-6F4A-7ACA-2E732581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F0C54-784D-B913-6617-37039F4C6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3C0A0-807E-8699-20CE-8642477EB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A221A-7809-3FB1-03A6-BD8301258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A145B-EFC1-A4E3-AB7F-DE288DCC7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5ABA7-A9E5-B695-5113-1CFB3B45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EB51D-2DFE-D301-DA88-DEDF59D3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3FD86-A0C2-F0A9-ED25-BA8B98FE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42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F767-390A-7A5E-7ECF-88535A26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8273F-6997-297F-004E-E1A93F6C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CC1A7-8E55-D48A-3EC1-90CC0E90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ED571-F6F1-3ED4-8BA5-20490901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71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5B283-B9FD-F4CC-46A5-1CF721B6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4E217-D1C8-4C36-B8D7-416C236C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1BA22-EAC3-007F-6135-E5C03DCC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33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0EBA-8BAE-8614-DA36-30723B4A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2031-5FC8-9890-82FF-5BCAD63A8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228CE-0C71-F194-721C-2A04D882A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02113-E80F-3896-5785-244AEAD3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01BEC-7C22-12E4-E37A-F40D5873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DC67C-A36B-F95B-3832-93E7A4B6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95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C48B-146F-2327-3E25-C1F743C7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6B1B8-0547-0BA2-0DD9-BD963E4D2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43F71-EA05-B99F-3552-01988CF8F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818A8-677A-CF2F-5815-74FE5837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5C572-8CAF-1793-22F3-73DB3CDF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8D28B-D1A4-9591-0EA4-D93E301A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49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2502-6CC4-258C-E533-D1E92F50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D851D-05E5-399C-E7C2-C52AEBF7B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A4115-4233-0300-934E-290E1494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CC854-8CAD-656D-6ADF-10B0A9C51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D87EE-DCE3-805A-2EE8-5AFFD001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4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85616-7843-41F5-8861-3055AC41D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C69AD-EFE7-D1BE-FC83-6D6EDDC05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02A08-2E0A-1957-942D-C9371FCB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C8FD-218F-998A-5E24-5AF304B3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4CE9A-D697-F7A6-45C0-9598DD13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66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D3A"/>
            </a:gs>
            <a:gs pos="100000">
              <a:srgbClr val="0F28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A2ADE-6F41-C1FB-4296-121F8656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600B4-E1E8-74F3-3B22-49613554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F0F5B-82D1-D220-BB1A-F6985D1EB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02563-7572-4695-A9FF-CA186E9B777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EDF63-F62C-0C42-F5F5-081AAE838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94DE0-4C3A-8C54-037D-3A1D7F3F9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402B-FC0D-492E-9AA4-838F2B28155C}" type="slidenum">
              <a:rPr lang="en-IN" smtClean="0"/>
              <a:t>‹#›</a:t>
            </a:fld>
            <a:endParaRPr lang="en-IN"/>
          </a:p>
        </p:txBody>
      </p:sp>
      <p:sp>
        <p:nvSpPr>
          <p:cNvPr id="900" name="Accent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C8B0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 Line"/>
          <p:cNvSpPr/>
          <p:nvPr/>
        </p:nvSpPr>
        <p:spPr>
          <a:xfrm>
            <a:off x="457200" y="76200"/>
            <a:ext cx="11277600" cy="0"/>
          </a:xfrm>
          <a:prstGeom prst="line">
            <a:avLst/>
          </a:prstGeom>
          <a:ln w="12700">
            <a:solidFill>
              <a:srgbClr val="C8B07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0E0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0E0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0E0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0E0E0"/>
          </a:solidFill>
        </a:defRPr>
      </a:defPPr>
      <a:lvl1pPr marL="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D7D88-CC90-D000-F322-9001AA8B3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3093"/>
            <a:ext cx="9144000" cy="2387600"/>
          </a:xfrm>
        </p:spPr>
        <p:txBody>
          <a:bodyPr>
            <a:normAutofit/>
          </a:bodyPr>
          <a:lstStyle/>
          <a:p>
            <a:r>
              <a:rPr lang="en-IN" sz="3600" dirty="0"/>
              <a:t>RMC Switchgears Limited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28AF5-0DD6-EA80-36F7-3DD159712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0693"/>
            <a:ext cx="9144000" cy="1655762"/>
          </a:xfrm>
        </p:spPr>
        <p:txBody>
          <a:bodyPr>
            <a:normAutofit/>
          </a:bodyPr>
          <a:lstStyle/>
          <a:p>
            <a:r>
              <a:rPr lang="en-IN" sz="2000" dirty="0"/>
              <a:t>Investment Committee Memorandum</a:t>
            </a:r>
          </a:p>
        </p:txBody>
      </p:sp>
      <p:sp>
        <p:nvSpPr>
          <p:cNvPr id="100" name="Details"/>
          <p:cNvSpPr txBox="1"/>
          <p:nvPr/>
        </p:nvSpPr>
        <p:spPr>
          <a:xfrm>
            <a:off x="1828799" y="4519188"/>
            <a:ext cx="8534400" cy="1143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dirty="0">
                <a:solidFill>
                  <a:srgbClr val="C8B07B"/>
                </a:solidFill>
                <a:latin typeface="Calibri"/>
              </a:rPr>
              <a:t>BSE: 540358 | Jaipur, Rajasthan, India</a:t>
            </a:r>
          </a:p>
          <a:p>
            <a:pPr algn="ctr">
              <a:buNone/>
            </a:pPr>
            <a:r>
              <a:rPr lang="en-US" sz="1400" dirty="0">
                <a:solidFill>
                  <a:srgbClr val="C8B07B"/>
                </a:solidFill>
                <a:latin typeface="Calibri"/>
              </a:rPr>
              <a:t>Electrical Products | Electrical EPC | Solar EPC | Solar Products</a:t>
            </a:r>
          </a:p>
          <a:p>
            <a:pPr algn="ctr">
              <a:spcBef>
                <a:spcPts val="800"/>
              </a:spcBef>
              <a:buNone/>
            </a:pPr>
            <a:r>
              <a:rPr lang="en-US" sz="1200" dirty="0">
                <a:solidFill>
                  <a:srgbClr val="8899AA"/>
                </a:solidFill>
                <a:latin typeface="Calibri"/>
              </a:rPr>
              <a:t>HARSH VIJAY | For Investment Committee Use Only | March 2026</a:t>
            </a:r>
          </a:p>
        </p:txBody>
      </p:sp>
      <p:sp>
        <p:nvSpPr>
          <p:cNvPr id="101" name="Divider"/>
          <p:cNvSpPr/>
          <p:nvPr/>
        </p:nvSpPr>
        <p:spPr>
          <a:xfrm>
            <a:off x="4637987" y="4275841"/>
            <a:ext cx="3048000" cy="0"/>
          </a:xfrm>
          <a:prstGeom prst="line">
            <a:avLst/>
          </a:prstGeom>
          <a:ln w="19050">
            <a:solidFill>
              <a:srgbClr val="C8B07B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RMC Switchgears Limited Wins ₹201 Crore ...">
            <a:extLst>
              <a:ext uri="{FF2B5EF4-FFF2-40B4-BE49-F238E27FC236}">
                <a16:creationId xmlns:a16="http://schemas.microsoft.com/office/drawing/2014/main" id="{6338D45C-F13D-7B3D-8531-B02100961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070" y="729360"/>
            <a:ext cx="2669857" cy="212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60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28DBD-9E81-9274-D002-DE6E62BC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Company Overview</a:t>
            </a:r>
          </a:p>
        </p:txBody>
      </p:sp>
      <p:sp>
        <p:nvSpPr>
          <p:cNvPr id="110" name="LeftContent"/>
          <p:cNvSpPr txBox="1"/>
          <p:nvPr/>
        </p:nvSpPr>
        <p:spPr>
          <a:xfrm>
            <a:off x="457200" y="1371600"/>
            <a:ext cx="5486400" cy="48768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Business Description</a:t>
            </a:r>
          </a:p>
          <a:p>
            <a:pPr>
              <a:spcAft>
                <a:spcPts val="500"/>
              </a:spcAft>
              <a:buNone/>
            </a:pPr>
            <a:r>
              <a:rPr lang="en-US" sz="1400" dirty="0">
                <a:solidFill>
                  <a:srgbClr val="D0D0D0"/>
                </a:solidFill>
                <a:latin typeface="Calibri"/>
              </a:rPr>
              <a:t>RMC Switchgears Ltd is a Jaipur-based electrical equipment manufacturer and EPC contractor. Listed on BSE (540358), the company is migrating to BSE/NSE mainboard. Forbes Asia Best Under Billion 2025 awardee.</a:t>
            </a:r>
          </a:p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Key Segments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Electrical Products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— Switchgears, panels, metering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Electrical EPC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— T&amp;D, substations, feeder segregation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Solar EPC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— Solar park development, installation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Solar Products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— 1 GW module plant (upcoming)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Market Tailwinds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₹9 trillion T&amp;D investment pipeline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RDSS: 250M smart meter national rollout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India solar capacity target: 500 GW by 2030</a:t>
            </a:r>
          </a:p>
        </p:txBody>
      </p:sp>
      <p:sp>
        <p:nvSpPr>
          <p:cNvPr id="111" name="RightContent"/>
          <p:cNvSpPr txBox="1"/>
          <p:nvPr/>
        </p:nvSpPr>
        <p:spPr>
          <a:xfrm>
            <a:off x="6248400" y="1371600"/>
            <a:ext cx="5486400" cy="48768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Key Financial Snapshot (FY25A)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Revenue: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₹316.3 Cr</a:t>
            </a:r>
            <a:r>
              <a:rPr lang="en-US" sz="1400" dirty="0">
                <a:solidFill>
                  <a:srgbClr val="4CAF50"/>
                </a:solidFill>
                <a:latin typeface="Calibri"/>
              </a:rPr>
              <a:t> (+83% YoY)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EBITDA Margin: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16.6%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PAT: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₹38.6 Cr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(12.2% margin)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Order Book: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₹572 Cr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(as of Dec 2025)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CMP: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₹408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| Shares: 1.06 Cr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Mkt Cap: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~₹433 Cr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Model Specifications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Historical: FY22–FY25 (Actuals)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Projection: FY26E–FY35E (10 Years)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Valuation: DCF (FCFF) + Comps → Blended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B0B0B0"/>
                </a:solidFill>
                <a:latin typeface="Calibri"/>
              </a:rPr>
              <a:t>Forbes Asia Best Under Billion 2025</a:t>
            </a:r>
          </a:p>
        </p:txBody>
      </p:sp>
      <p:sp>
        <p:nvSpPr>
          <p:cNvPr id="112" name="VDivider"/>
          <p:cNvSpPr/>
          <p:nvPr/>
        </p:nvSpPr>
        <p:spPr>
          <a:xfrm>
            <a:off x="6096000" y="1524000"/>
            <a:ext cx="0" cy="4572000"/>
          </a:xfrm>
          <a:prstGeom prst="line">
            <a:avLst/>
          </a:prstGeom>
          <a:ln w="12700">
            <a:solidFill>
              <a:srgbClr val="C8B07B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9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81E11-2573-00B4-4B43-9DD4E1D8C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Investment Thesis</a:t>
            </a:r>
          </a:p>
        </p:txBody>
      </p:sp>
      <p:sp>
        <p:nvSpPr>
          <p:cNvPr id="200" name="Col200"/>
          <p:cNvSpPr txBox="1"/>
          <p:nvPr/>
        </p:nvSpPr>
        <p:spPr>
          <a:xfrm>
            <a:off x="457200" y="1371600"/>
            <a:ext cx="3505200" cy="5181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4CAF50"/>
                </a:solidFill>
                <a:latin typeface="Georgia"/>
              </a:rPr>
              <a:t>Growth Catalysts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Revenue 7.5x in 3 Years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FY22: ₹42 Cr to FY25: ₹316 Cr with 83% YoY growth. Demonstrates exceptional scaling ability in a capital-light EPC model.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₹5,000 Cr Revenue Vision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Management upgraded FY30 target from ₹3,000 Cr to ₹5,000 Cr. Base case models ₹3,820 Cr by FY35E.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Order Book ₹572 Cr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1.8x book-to-bill ratio provides strong near-term revenue visibility. 60% growth over 2.5 years.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Solar Backward Integration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1 GW solar module plant adds high-margin manufacturing. SIDBI-funded. Transforms from pure EPC to integrated player.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₹9T T&amp;D Investment Pipeline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India’s massive transmission and distribution infrastructure spend provides multi-decade growth runway.</a:t>
            </a:r>
          </a:p>
        </p:txBody>
      </p:sp>
      <p:sp>
        <p:nvSpPr>
          <p:cNvPr id="201" name="Col201"/>
          <p:cNvSpPr txBox="1"/>
          <p:nvPr/>
        </p:nvSpPr>
        <p:spPr>
          <a:xfrm>
            <a:off x="4114800" y="1371600"/>
            <a:ext cx="3505200" cy="5181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Georgia"/>
              </a:rPr>
              <a:t>Competitive Moats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Multi-Segment Diversification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Electrical Products + Electrical EPC + Solar EPC + Solar Products de-risks dependence on any single segment.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Asset-Light EPC Model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Low capex intensity post solar plant commissioning. Enables high ROCE trajectory (52% in FY25A).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Operating Leverage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Employee cost declining from 5.9% to 3.6% of revenue as scale drives efficiency across operations.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Forbes Asia Recognition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Best Under Billion 2025 validates governance, growth credentials, and management quality.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RDSS Smart Meter Tailwind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250M national smart meter rollout directly benefits RMC’s enclosure and electrical EPC segments.</a:t>
            </a:r>
          </a:p>
        </p:txBody>
      </p:sp>
      <p:sp>
        <p:nvSpPr>
          <p:cNvPr id="202" name="Col202"/>
          <p:cNvSpPr txBox="1"/>
          <p:nvPr/>
        </p:nvSpPr>
        <p:spPr>
          <a:xfrm>
            <a:off x="7772400" y="1371600"/>
            <a:ext cx="3505200" cy="5181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C8B07B"/>
                </a:solidFill>
                <a:latin typeface="Georgia"/>
              </a:rPr>
              <a:t>Valuation Upside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Blended Fair Value: ₹1,667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309% upside to CMP of ₹408 based on DCF (50%) + EV/EBITDA (20%) + P/E (20%) + EV/Rev (10%).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DCF Implies ₹2,160/share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10-year FCFF projection with 15.8% WACC and 5.5% terminal growth. TV is 63% of EV.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Bull Case: ₹2,168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If management delivers on ₹5,000 Cr FY30 target at ~90% hit rate. 431% upside.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Even Bear Case = +125%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Assuming execution delays, solar slippage, and margin compression, fair value is still ₹917.</a:t>
            </a:r>
          </a:p>
          <a:p>
            <a:pPr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P/E Re-Rating Potential</a:t>
            </a:r>
          </a:p>
          <a:p>
            <a:pPr>
              <a:spcAft>
                <a:spcPts val="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/>
              </a:rPr>
              <a:t>Trading at 11x vs 28x peer median. BSE/NSE mainboard migration to drive institutional discovery.</a:t>
            </a:r>
          </a:p>
        </p:txBody>
      </p:sp>
      <p:sp>
        <p:nvSpPr>
          <p:cNvPr id="210" name="VDiv0"/>
          <p:cNvSpPr/>
          <p:nvPr/>
        </p:nvSpPr>
        <p:spPr>
          <a:xfrm>
            <a:off x="4038600" y="1447800"/>
            <a:ext cx="0" cy="5029200"/>
          </a:xfrm>
          <a:prstGeom prst="line">
            <a:avLst/>
          </a:prstGeom>
          <a:ln w="9525">
            <a:solidFill>
              <a:srgbClr val="C8B07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VDiv1"/>
          <p:cNvSpPr/>
          <p:nvPr/>
        </p:nvSpPr>
        <p:spPr>
          <a:xfrm>
            <a:off x="7696200" y="1447800"/>
            <a:ext cx="0" cy="5029200"/>
          </a:xfrm>
          <a:prstGeom prst="line">
            <a:avLst/>
          </a:prstGeom>
          <a:ln w="9525">
            <a:solidFill>
              <a:srgbClr val="C8B07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5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5900-1572-1E10-21EF-C2D9EB78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Revenue &amp; Profitability Trajectory</a:t>
            </a:r>
          </a:p>
        </p:txBody>
      </p:sp>
      <p:pic>
        <p:nvPicPr>
          <p:cNvPr id="102" name="Graphic 102" descr="Chart icon for revenue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1400" y="279400"/>
            <a:ext cx="508000" cy="508000"/>
          </a:xfrm>
          <a:prstGeom prst="rect">
            <a:avLst/>
          </a:prstGeom>
        </p:spPr>
      </p:pic>
      <p:graphicFrame>
        <p:nvGraphicFramePr>
          <p:cNvPr id="202" name="Chart 2"/>
          <p:cNvGraphicFramePr/>
          <p:nvPr/>
        </p:nvGraphicFramePr>
        <p:xfrm>
          <a:off x="457200" y="1295400"/>
          <a:ext cx="112776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1617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5B33-4354-1140-E2ED-3F711F28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Income Statement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5D2CCA-3089-458F-8E51-235205252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525784"/>
              </p:ext>
            </p:extLst>
          </p:nvPr>
        </p:nvGraphicFramePr>
        <p:xfrm>
          <a:off x="381000" y="1651000"/>
          <a:ext cx="11430000" cy="47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5306729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65558363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4742977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9845146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93240357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6740891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5850105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8235447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91189103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222589523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(₹ Cr)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FY22A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FY23A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FY24A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FY25A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FY26E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FY27E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FY28E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FY29E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FY30E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05549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42.2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125.3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172.6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316.3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475.0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665.0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930.0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1,255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1,630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06154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YoY Growth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197%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38%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83%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50%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40%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40%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35%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30%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20112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Gross Profit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26.1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77.1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93.9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133.0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192.9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279.0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382.8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505.3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3650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Gross Margin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13.0%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20.8%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44.7%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29.7%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28.0%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29.0%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30.0%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30.5%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31.0%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51211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EBITDA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13.7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54.1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61.5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78.4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119.0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181.4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256.0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348.8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28503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EBITDA Margin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1.3%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10.5%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31.0%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16.6%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16.5%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17.9%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19.5%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20.4%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21.4%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96096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PAT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-1.4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35.2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36.6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47.9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74.1</a:t>
                      </a:r>
                      <a:endParaRPr lang="en-IN" sz="140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115.7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166.6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231.7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02847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PAT Margin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-3.3%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5.2%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20.4%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11.6%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10.1%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11.1%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12.4%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13.3%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A0A0A0"/>
                          </a:solidFill>
                          <a:latin typeface="Calibri"/>
                          <a:ea typeface="Calibri"/>
                          <a:cs typeface="Calibri"/>
                        </a:rPr>
                        <a:t>14.2%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20439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EPS (₹)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-1.36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6.31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33.20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33.99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44.26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68.52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106.96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154.01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214.22</a:t>
                      </a:r>
                      <a:endParaRPr lang="en-IN" sz="140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72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294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B717-70EB-B5F8-B9E8-826B6511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Balance Sheet &amp; Key Ratios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423961-3A50-49F9-901C-B093B5792DB1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651000"/>
          <a:ext cx="11430000" cy="3417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383146899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434795498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725149307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15009951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58331488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5746516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450165628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97047759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(₹ Cr)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FY22A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FY23A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FY24A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FY25A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FY26E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FY27E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FY28E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73509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Fixed Assets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16.2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55.0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91.5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116.5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129.3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47415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Current Assets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62.6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98.2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111.2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192.6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284.1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381.7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504.2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92272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76.7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112.3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127.4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247.6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375.6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498.2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633.5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07778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Shareholders Equity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27.2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33.5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55.9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100.3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152.1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231.3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355.5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82044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Total Debt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19.0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26.5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16.7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36.0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81.0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81.0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61.0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5872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Current Liabilities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30.5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52.3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54.8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109.3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142.5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185.9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217.0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01273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Total E&amp;L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76.7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112.3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127.4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247.6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375.6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498.2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633.5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082209"/>
                  </a:ext>
                </a:extLst>
              </a:tr>
            </a:tbl>
          </a:graphicData>
        </a:graphic>
      </p:graphicFrame>
      <p:sp>
        <p:nvSpPr>
          <p:cNvPr id="130" name="Ratios"/>
          <p:cNvSpPr txBox="1"/>
          <p:nvPr/>
        </p:nvSpPr>
        <p:spPr>
          <a:xfrm>
            <a:off x="457200" y="5080000"/>
            <a:ext cx="11277600" cy="1651000"/>
          </a:xfrm>
          <a:prstGeom prst="rect">
            <a:avLst/>
          </a:prstGeom>
          <a:solidFill>
            <a:srgbClr val="0F2847">
              <a:alpha val="60000"/>
            </a:srgbClr>
          </a:solidFill>
          <a:ln>
            <a:noFill/>
          </a:ln>
        </p:spPr>
        <p:txBody>
          <a:bodyPr wrap="square" lIns="182880" tIns="91440" rIns="182880" bIns="91440" anchor="t"/>
          <a:lstStyle/>
          <a:p>
            <a:pPr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Key Financial Ratios (FY25A)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Return Ratios: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ROE 45.6%  |  ROCE 52.3%  |  ROA 18.7%  |  Asset Turnover 1.6x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Leverage: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D/E 0.46x  |  Net Debt ₹31 Cr  |  Interest Coverage 5.5x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Working Capital:  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Receivable Days 170  |  Inventory 30  |  Payable 90  |  CCC ~110 days</a:t>
            </a:r>
          </a:p>
          <a:p>
            <a:pPr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888888"/>
                </a:solidFill>
                <a:latin typeface="Calibri"/>
              </a:rPr>
              <a:t>Note: D/E trending down — projected 0.07x by FY30E as equity grows and debt reduces. Net cash positive by FY28E.</a:t>
            </a:r>
          </a:p>
        </p:txBody>
      </p:sp>
    </p:spTree>
    <p:extLst>
      <p:ext uri="{BB962C8B-B14F-4D97-AF65-F5344CB8AC3E}">
        <p14:creationId xmlns:p14="http://schemas.microsoft.com/office/powerpoint/2010/main" val="353133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4813-8783-240F-9A5B-BAB32167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Management Guidance Track Record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276653-FA6C-4054-B28C-2F26AA436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49334"/>
              </p:ext>
            </p:extLst>
          </p:nvPr>
        </p:nvGraphicFramePr>
        <p:xfrm>
          <a:off x="381000" y="1651000"/>
          <a:ext cx="10922000" cy="474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48356937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21858585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50405720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13516965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228864657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Guidance Item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Actual / Status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Confidence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7999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Revenue ₹125 Cr (FY23)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₹125 Cr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₹125.3 Cr achieved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✓ DELIVERED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4221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30-40% Revenue Growth (FY24)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₹163-175 Cr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₹172.6 Cr (+38%)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✓ DELIVERED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5364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Order Book Visibility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₹358 Cr (Jun'23)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₹572 Cr (Dec'25)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✓ OVER-DELIVERED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6713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&gt;30% CAGR (3-5 Years)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Sustained 30%+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H1 FY26: 112% YoY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✓✓ OVER-DELIVERING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27227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₹2,300 Cr by FY28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₹2,300 Cr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Tracking at ₹475 Cr FY26E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⏳ IN PROGRESS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2406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₹5,000 Cr by FY30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₹5,000 Cr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⏳ IN PROGRESS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LOW-MED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43181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EBITDA Margins 18-20%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18-20%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FY25: 16.6%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⚠ BELOW TARGET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3944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 GW Solar Plant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Q4 FY25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Delayed; phases adjusted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⚠ DELAYED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LOW-MED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4792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BSE/NSE Mainboard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BSE+NSE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BSE approved; NSE applied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✓ IN PROGRESS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364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66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9896-F3CA-5DCD-48E5-DB23D632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DCF Valuation (FCFF Method)</a:t>
            </a:r>
          </a:p>
        </p:txBody>
      </p:sp>
      <p:sp>
        <p:nvSpPr>
          <p:cNvPr id="140" name="WACCBox"/>
          <p:cNvSpPr txBox="1"/>
          <p:nvPr/>
        </p:nvSpPr>
        <p:spPr>
          <a:xfrm>
            <a:off x="457200" y="1371600"/>
            <a:ext cx="4572000" cy="4953000"/>
          </a:xfrm>
          <a:prstGeom prst="rect">
            <a:avLst/>
          </a:prstGeom>
          <a:solidFill>
            <a:srgbClr val="0F2847">
              <a:alpha val="60000"/>
            </a:srgbClr>
          </a:solidFill>
          <a:ln w="12700">
            <a:solidFill>
              <a:srgbClr val="C8B07B">
                <a:alpha val="30000"/>
              </a:srgbClr>
            </a:solidFill>
          </a:ln>
        </p:spPr>
        <p:txBody>
          <a:bodyPr wrap="square" lIns="182880" tIns="91440" rIns="182880" bIns="91440" anchor="t"/>
          <a:lstStyle/>
          <a:p>
            <a:pPr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8B07B"/>
                </a:solidFill>
                <a:latin typeface="Georgia"/>
              </a:rPr>
              <a:t>WACC Assumptions (CAPM)</a:t>
            </a:r>
          </a:p>
          <a:p>
            <a:pPr>
              <a:spcAft>
                <a:spcPts val="2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Risk-Free Rate (10Y GOI):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6.7%</a:t>
            </a:r>
          </a:p>
          <a:p>
            <a:pPr>
              <a:spcAft>
                <a:spcPts val="2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Equity Risk Premium: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7.0%</a:t>
            </a:r>
          </a:p>
          <a:p>
            <a:pPr>
              <a:spcAft>
                <a:spcPts val="2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Beta (Levered, micro-cap):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1.4x</a:t>
            </a:r>
          </a:p>
          <a:p>
            <a:pPr>
              <a:spcAft>
                <a:spcPts val="2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Size Premium: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3.0%</a:t>
            </a:r>
          </a:p>
          <a:p>
            <a:pPr>
              <a:spcAft>
                <a:spcPts val="2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Cost of Equity:</a:t>
            </a:r>
            <a:r>
              <a:rPr lang="en-US" sz="1500" b="1" dirty="0">
                <a:solidFill>
                  <a:srgbClr val="C8B07B"/>
                </a:solidFill>
                <a:latin typeface="Calibri"/>
              </a:rPr>
              <a:t>  19.5%</a:t>
            </a:r>
          </a:p>
          <a:p>
            <a:pPr>
              <a:spcAft>
                <a:spcPts val="2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After-tax Cost of Debt: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7.9%</a:t>
            </a:r>
          </a:p>
          <a:p>
            <a:pPr>
              <a:spcAft>
                <a:spcPts val="2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E/D Weights: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68.6% / 31.4%</a:t>
            </a:r>
          </a:p>
          <a:p>
            <a:pPr>
              <a:spcBef>
                <a:spcPts val="500"/>
              </a:spcBef>
              <a:spcAft>
                <a:spcPts val="250"/>
              </a:spcAft>
              <a:buNone/>
            </a:pPr>
            <a:r>
              <a:rPr lang="en-US" sz="2200" b="1" dirty="0">
                <a:solidFill>
                  <a:srgbClr val="C8B07B"/>
                </a:solidFill>
                <a:latin typeface="Georgia"/>
              </a:rPr>
              <a:t>WACC: 15.8%</a:t>
            </a:r>
          </a:p>
          <a:p>
            <a:pPr>
              <a:spcAft>
                <a:spcPts val="250"/>
              </a:spcAft>
              <a:buNone/>
            </a:pPr>
            <a:r>
              <a:rPr lang="en-US" sz="2200" b="1" dirty="0">
                <a:solidFill>
                  <a:srgbClr val="C8B07B"/>
                </a:solidFill>
                <a:latin typeface="Georgia"/>
              </a:rPr>
              <a:t>Terminal Growth: 5.5%</a:t>
            </a:r>
          </a:p>
          <a:p>
            <a:pPr>
              <a:spcBef>
                <a:spcPts val="500"/>
              </a:spcBef>
              <a:spcAft>
                <a:spcPts val="150"/>
              </a:spcAft>
              <a:buNone/>
            </a:pPr>
            <a:r>
              <a:rPr lang="en-US" sz="1400" dirty="0">
                <a:solidFill>
                  <a:srgbClr val="999999"/>
                </a:solidFill>
                <a:latin typeface="Calibri"/>
              </a:rPr>
              <a:t>Projection: FY26E–FY35E (10 years)</a:t>
            </a:r>
          </a:p>
          <a:p>
            <a:pPr>
              <a:spcAft>
                <a:spcPts val="150"/>
              </a:spcAft>
              <a:buNone/>
            </a:pPr>
            <a:r>
              <a:rPr lang="en-US" sz="1400" dirty="0">
                <a:solidFill>
                  <a:srgbClr val="999999"/>
                </a:solidFill>
                <a:latin typeface="Calibri"/>
              </a:rPr>
              <a:t>Tax Rate: 25.17% (New Regime)</a:t>
            </a:r>
          </a:p>
          <a:p>
            <a:pPr>
              <a:spcAft>
                <a:spcPts val="150"/>
              </a:spcAft>
              <a:buNone/>
            </a:pPr>
            <a:r>
              <a:rPr lang="en-US" sz="1400" dirty="0">
                <a:solidFill>
                  <a:srgbClr val="999999"/>
                </a:solidFill>
                <a:latin typeface="Calibri"/>
              </a:rPr>
              <a:t>Credit Rating: IVR BBB/Stable</a:t>
            </a:r>
          </a:p>
        </p:txBody>
      </p:sp>
      <p:sp>
        <p:nvSpPr>
          <p:cNvPr id="141" name="DCFOutput"/>
          <p:cNvSpPr txBox="1"/>
          <p:nvPr/>
        </p:nvSpPr>
        <p:spPr>
          <a:xfrm>
            <a:off x="5334000" y="1371600"/>
            <a:ext cx="6400800" cy="4953000"/>
          </a:xfrm>
          <a:prstGeom prst="rect">
            <a:avLst/>
          </a:prstGeom>
          <a:noFill/>
        </p:spPr>
        <p:txBody>
          <a:bodyPr wrap="square" lIns="182880" tIns="91440" rIns="182880" bIns="91440" anchor="t"/>
          <a:lstStyle/>
          <a:p>
            <a:pPr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8B07B"/>
                </a:solidFill>
                <a:latin typeface="Georgia"/>
              </a:rPr>
              <a:t>DCF Valuation Output</a:t>
            </a:r>
          </a:p>
          <a:p>
            <a:pPr>
              <a:spcAft>
                <a:spcPts val="3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PV of Projected FCFFs (FY26-35):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₹861 Cr</a:t>
            </a:r>
          </a:p>
          <a:p>
            <a:pPr>
              <a:spcAft>
                <a:spcPts val="3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Terminal Value (Gordon Growth):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₹6,349 Cr</a:t>
            </a:r>
          </a:p>
          <a:p>
            <a:pPr>
              <a:spcAft>
                <a:spcPts val="3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PV of Terminal Value: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₹1,459 Cr</a:t>
            </a:r>
          </a:p>
          <a:p>
            <a:pPr>
              <a:spcAft>
                <a:spcPts val="350"/>
              </a:spcAft>
              <a:buNone/>
            </a:pPr>
            <a:r>
              <a:rPr lang="en-US" sz="1600" dirty="0">
                <a:solidFill>
                  <a:srgbClr val="B0B0B0"/>
                </a:solidFill>
                <a:latin typeface="Calibri"/>
              </a:rPr>
              <a:t>Enterprise Value:</a:t>
            </a:r>
            <a:r>
              <a:rPr lang="en-US" sz="1600" b="1" dirty="0">
                <a:solidFill>
                  <a:srgbClr val="FFFFFF"/>
                </a:solidFill>
                <a:latin typeface="Calibri"/>
              </a:rPr>
              <a:t>  ₹2,320 Cr</a:t>
            </a:r>
          </a:p>
          <a:p>
            <a:pPr>
              <a:spcAft>
                <a:spcPts val="3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Less: Net Debt (FY25):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₹31 Cr</a:t>
            </a:r>
          </a:p>
          <a:p>
            <a:pPr>
              <a:spcAft>
                <a:spcPts val="350"/>
              </a:spcAft>
              <a:buNone/>
            </a:pPr>
            <a:r>
              <a:rPr lang="en-US" sz="1600" dirty="0">
                <a:solidFill>
                  <a:srgbClr val="B0B0B0"/>
                </a:solidFill>
                <a:latin typeface="Calibri"/>
              </a:rPr>
              <a:t>Equity Value:</a:t>
            </a:r>
            <a:r>
              <a:rPr lang="en-US" sz="1600" b="1" dirty="0">
                <a:solidFill>
                  <a:srgbClr val="FFFFFF"/>
                </a:solidFill>
                <a:latin typeface="Calibri"/>
              </a:rPr>
              <a:t>  ₹2,289 Cr</a:t>
            </a:r>
          </a:p>
          <a:p>
            <a:pPr>
              <a:spcAft>
                <a:spcPts val="35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/>
              </a:rPr>
              <a:t>Shares Outstanding: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  1.06 Cr</a:t>
            </a:r>
          </a:p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C8B07B"/>
                </a:solidFill>
                <a:latin typeface="Georgia"/>
              </a:rPr>
              <a:t>₹2,160 / share</a:t>
            </a:r>
          </a:p>
          <a:p>
            <a:pPr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4CAF50"/>
                </a:solidFill>
                <a:latin typeface="Calibri"/>
              </a:rPr>
              <a:t>429% upside to CMP of ₹408</a:t>
            </a:r>
          </a:p>
          <a:p>
            <a:pPr>
              <a:spcAft>
                <a:spcPts val="200"/>
              </a:spcAft>
              <a:buNone/>
            </a:pPr>
            <a:r>
              <a:rPr lang="en-US" sz="1400" dirty="0">
                <a:solidFill>
                  <a:srgbClr val="999999"/>
                </a:solidFill>
                <a:latin typeface="Calibri"/>
              </a:rPr>
              <a:t>TV as % of EV: ~63% (acceptable range)</a:t>
            </a:r>
          </a:p>
        </p:txBody>
      </p:sp>
    </p:spTree>
    <p:extLst>
      <p:ext uri="{BB962C8B-B14F-4D97-AF65-F5344CB8AC3E}">
        <p14:creationId xmlns:p14="http://schemas.microsoft.com/office/powerpoint/2010/main" val="421687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1004-F806-FBA8-1C0D-497A7D24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Comparable Companies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62C9A6-BF5B-491C-873A-9E1A32096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02674"/>
              </p:ext>
            </p:extLst>
          </p:nvPr>
        </p:nvGraphicFramePr>
        <p:xfrm>
          <a:off x="381000" y="1651000"/>
          <a:ext cx="11429999" cy="484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>
                  <a:extLst>
                    <a:ext uri="{9D8B030D-6E8A-4147-A177-3AD203B41FA5}">
                      <a16:colId xmlns:a16="http://schemas.microsoft.com/office/drawing/2014/main" val="1047924536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1411260891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403100376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199858262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346262219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1664646877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1344052555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Mkt Cap (₹Cr)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EV/Rev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P/E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EV/EBITDA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Rev Growth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EBITDA Margin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48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Genus Power Infra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7,426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22.0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17.9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170%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13.3%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8745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HPL Electric &amp; Power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2,647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1.8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28.0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17.0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15.3%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569269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Salzer Electronics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1,580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24.3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14.7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18%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12.0%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09251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Schneider Electric Infra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8,500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4.0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42.5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27.0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15%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15.0%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33407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Techno Electric &amp; Engg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7,200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2.8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19.0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13.8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35%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19.9%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98085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endParaRPr lang="en-IN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038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Peer Range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C8B07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1.8 – 4.0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19 – 42.5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13.8 – 27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C8B07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C8B07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1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1284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Peer Median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C8B07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2.8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24.3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17.0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C8B07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C8B07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1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1635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RMC (FY25A)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~433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11.2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8.2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83%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16.6%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015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47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04EB-E8EB-FF51-D541-42BBC04E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Blended Valuation &amp; Scenario Analysis</a:t>
            </a:r>
          </a:p>
        </p:txBody>
      </p:sp>
      <p:sp>
        <p:nvSpPr>
          <p:cNvPr id="150" name="BlendedMethod"/>
          <p:cNvSpPr txBox="1"/>
          <p:nvPr/>
        </p:nvSpPr>
        <p:spPr>
          <a:xfrm>
            <a:off x="457200" y="1371600"/>
            <a:ext cx="5486400" cy="3175000"/>
          </a:xfrm>
          <a:prstGeom prst="rect">
            <a:avLst/>
          </a:prstGeom>
          <a:solidFill>
            <a:srgbClr val="0F2847">
              <a:alpha val="60000"/>
            </a:srgbClr>
          </a:solidFill>
          <a:ln w="12700">
            <a:solidFill>
              <a:srgbClr val="C8B07B">
                <a:alpha val="30000"/>
              </a:srgbClr>
            </a:solidFill>
          </a:ln>
        </p:spPr>
        <p:txBody>
          <a:bodyPr wrap="square" lIns="182880" tIns="91440" rIns="182880" bIns="91440" anchor="t"/>
          <a:lstStyle/>
          <a:p>
            <a:pPr>
              <a:spcAft>
                <a:spcPts val="400"/>
              </a:spcAft>
              <a:buNone/>
            </a:pPr>
            <a:endParaRPr lang="en-US" sz="1600" b="1" dirty="0">
              <a:solidFill>
                <a:srgbClr val="C8B07B"/>
              </a:solidFill>
              <a:latin typeface="Georgia"/>
            </a:endParaRPr>
          </a:p>
          <a:p>
            <a:pPr>
              <a:spcAft>
                <a:spcPts val="400"/>
              </a:spcAft>
              <a:buNone/>
            </a:pPr>
            <a:endParaRPr lang="en-US" sz="1600" b="1" dirty="0">
              <a:solidFill>
                <a:srgbClr val="C8B07B"/>
              </a:solidFill>
              <a:latin typeface="Georgia"/>
            </a:endParaRPr>
          </a:p>
          <a:p>
            <a:pPr>
              <a:spcAft>
                <a:spcPts val="400"/>
              </a:spcAft>
              <a:buNone/>
            </a:pPr>
            <a:endParaRPr lang="en-US" sz="1600" b="1" dirty="0">
              <a:solidFill>
                <a:srgbClr val="C8B07B"/>
              </a:solidFill>
              <a:latin typeface="Georgia"/>
            </a:endParaRPr>
          </a:p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Blended Fair Value Methodology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DCF (FCFF): </a:t>
            </a:r>
            <a:r>
              <a:rPr lang="en-US" sz="1400" b="1" dirty="0">
                <a:solidFill>
                  <a:srgbClr val="C8B07B"/>
                </a:solidFill>
                <a:latin typeface="Calibri"/>
              </a:rPr>
              <a:t>50% weight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 → ₹2,160/share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EV/Revenue Comps: </a:t>
            </a:r>
            <a:r>
              <a:rPr lang="en-US" sz="1400" b="1" dirty="0">
                <a:solidFill>
                  <a:srgbClr val="C8B07B"/>
                </a:solidFill>
                <a:latin typeface="Calibri"/>
              </a:rPr>
              <a:t>20% weight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 → ₹1,097/share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EV/EBITDA Comps: </a:t>
            </a:r>
            <a:r>
              <a:rPr lang="en-US" sz="1400" b="1" dirty="0">
                <a:solidFill>
                  <a:srgbClr val="C8B07B"/>
                </a:solidFill>
                <a:latin typeface="Calibri"/>
              </a:rPr>
              <a:t>20% weight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 → ₹1,228/share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P/E Comps: </a:t>
            </a:r>
            <a:r>
              <a:rPr lang="en-US" sz="1400" b="1" dirty="0">
                <a:solidFill>
                  <a:srgbClr val="C8B07B"/>
                </a:solidFill>
                <a:latin typeface="Calibri"/>
              </a:rPr>
              <a:t>10% weight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 → ₹1,225/share</a:t>
            </a:r>
          </a:p>
        </p:txBody>
      </p:sp>
      <p:sp>
        <p:nvSpPr>
          <p:cNvPr id="151" name="FVResult"/>
          <p:cNvSpPr txBox="1"/>
          <p:nvPr/>
        </p:nvSpPr>
        <p:spPr>
          <a:xfrm>
            <a:off x="6248400" y="1371600"/>
            <a:ext cx="5486400" cy="3175000"/>
          </a:xfrm>
          <a:prstGeom prst="rect">
            <a:avLst/>
          </a:prstGeom>
          <a:solidFill>
            <a:srgbClr val="1B4332"/>
          </a:solidFill>
          <a:ln w="12700">
            <a:solidFill>
              <a:srgbClr val="C8B07B">
                <a:alpha val="40000"/>
              </a:srgbClr>
            </a:solidFill>
          </a:ln>
        </p:spPr>
        <p:txBody>
          <a:bodyPr wrap="square" lIns="182880" tIns="91440" rIns="182880" bIns="91440" anchor="ctr"/>
          <a:lstStyle/>
          <a:p>
            <a:pPr algn="ctr">
              <a:spcAft>
                <a:spcPts val="300"/>
              </a:spcAft>
              <a:buNone/>
            </a:pPr>
            <a:r>
              <a:rPr lang="en-US" sz="1600" dirty="0">
                <a:solidFill>
                  <a:srgbClr val="B0D0B0"/>
                </a:solidFill>
                <a:latin typeface="Calibri"/>
              </a:rPr>
              <a:t>BLENDED FAIR VALUE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₹1,667 / share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4CAF50"/>
                </a:solidFill>
                <a:latin typeface="Calibri"/>
              </a:rPr>
              <a:t>309% Upside to CMP (₹408)</a:t>
            </a:r>
          </a:p>
        </p:txBody>
      </p:sp>
      <p:sp>
        <p:nvSpPr>
          <p:cNvPr id="152" name="Scenarios"/>
          <p:cNvSpPr txBox="1"/>
          <p:nvPr/>
        </p:nvSpPr>
        <p:spPr>
          <a:xfrm>
            <a:off x="457200" y="4635500"/>
            <a:ext cx="11277600" cy="1968500"/>
          </a:xfrm>
          <a:prstGeom prst="rect">
            <a:avLst/>
          </a:prstGeom>
          <a:noFill/>
        </p:spPr>
        <p:txBody>
          <a:bodyPr wrap="square" lIns="182880" tIns="91440" rIns="182880" bIns="91440" anchor="t"/>
          <a:lstStyle/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Scenario Analysis</a:t>
            </a:r>
          </a:p>
          <a:p>
            <a:pPr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4CAF50"/>
                </a:solidFill>
                <a:latin typeface="Calibri"/>
              </a:rPr>
              <a:t>Bull Case: ₹2,168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 (+431% upside)  |  Mgmt delivers ₹5,000 Cr FY30 at ~90% hit rate; FY35E rev ₹4,700 Cr</a:t>
            </a:r>
          </a:p>
          <a:p>
            <a:pPr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/>
              </a:rPr>
              <a:t>Base Case: ₹1,667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 (+309% upside)  |  15-20% haircut on mgmt guidance; primary scenario. FY35E rev ₹3,820 Cr</a:t>
            </a:r>
          </a:p>
          <a:p>
            <a:pPr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/>
              </a:rPr>
              <a:t>Bear Case: ₹917</a:t>
            </a:r>
            <a:r>
              <a:rPr lang="en-US" sz="1400" dirty="0">
                <a:solidFill>
                  <a:srgbClr val="B0B0B0"/>
                </a:solidFill>
                <a:latin typeface="Calibri"/>
              </a:rPr>
              <a:t>  (+125% upside)  |  Execution delays, solar plant slippage, margin compression. FY35E rev ₹1,975 Cr</a:t>
            </a:r>
          </a:p>
        </p:txBody>
      </p:sp>
    </p:spTree>
    <p:extLst>
      <p:ext uri="{BB962C8B-B14F-4D97-AF65-F5344CB8AC3E}">
        <p14:creationId xmlns:p14="http://schemas.microsoft.com/office/powerpoint/2010/main" val="3707723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45184-EA3E-A027-3190-65DBF3D3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Key Risks &amp; Mitigants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72E26B-C170-453F-AA18-9E8CCFBCE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441436"/>
              </p:ext>
            </p:extLst>
          </p:nvPr>
        </p:nvGraphicFramePr>
        <p:xfrm>
          <a:off x="381000" y="1651000"/>
          <a:ext cx="11430000" cy="4699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505883473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2514804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349544"/>
                    </a:ext>
                  </a:extLst>
                </a:gridCol>
              </a:tblGrid>
              <a:tr h="671286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Risk Factor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B07B"/>
                          </a:solidFill>
                          <a:latin typeface="Calibri"/>
                          <a:ea typeface="Calibri"/>
                          <a:cs typeface="Calibri"/>
                        </a:rPr>
                        <a:t>Mitigant</a:t>
                      </a:r>
                    </a:p>
                  </a:txBody>
                  <a:tcPr>
                    <a:solidFill>
                      <a:srgbClr val="1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595185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Solar plant execution delay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Revenue ramp slower than projected;
FY26-27 capex burden without revenue offset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SIDBI funding secured; phased approach
reduces binary risk; core EPC biz continues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26391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EBITDA margin below target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FY25 at 16.6% vs 18-20% guidance;
EPC mix structurally lower margin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Solar backward integration to improve
margins; operating leverage kicking in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143725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High revenue concentration risk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Dependence on govt/utility contracts;
policy changes could impact order flow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Diversifying across Electrical + Solar;
private sector orders growing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86516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Working capital intensity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170 receivable days; cash cycle ~110 days;
scaling requires significant WC funding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Mgmt targeting 60-day CCC; smart metering
improves collections; WC declining trend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018372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Micro-cap liquidity risk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~₹433 Cr mkt cap; limited institutional
coverage; wide bid-ask spreads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BSE/NSE mainboard migration underway;
Forbes recognition increasing visibility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138253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Terminal value dominance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</a:rPr>
                        <a:t>TV ~63% of enterprise value; DCF
sensitive to growth/WACC assumptions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4CAF50"/>
                          </a:solidFill>
                          <a:latin typeface="Calibri"/>
                          <a:ea typeface="Calibri"/>
                          <a:cs typeface="Calibri"/>
                        </a:rPr>
                        <a:t>10-year explicit projection period reduces
TV reliance; sensitivity analysis provided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210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20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7194-715C-FD0C-B31C-24079F06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/>
              <a:t>Investment Recommendation</a:t>
            </a:r>
          </a:p>
        </p:txBody>
      </p:sp>
      <p:sp>
        <p:nvSpPr>
          <p:cNvPr id="160" name="RecBox"/>
          <p:cNvSpPr/>
          <p:nvPr/>
        </p:nvSpPr>
        <p:spPr>
          <a:xfrm>
            <a:off x="2286000" y="1270000"/>
            <a:ext cx="7620000" cy="1714500"/>
          </a:xfrm>
          <a:prstGeom prst="roundRect">
            <a:avLst/>
          </a:prstGeom>
          <a:solidFill>
            <a:srgbClr val="1B4332"/>
          </a:solidFill>
          <a:ln w="25400">
            <a:solidFill>
              <a:srgbClr val="C8B07B"/>
            </a:solidFill>
          </a:ln>
        </p:spPr>
        <p:txBody>
          <a:bodyPr wrap="square" lIns="182880" tIns="91440" rIns="182880" bIns="91440" anchor="ctr"/>
          <a:lstStyle/>
          <a:p>
            <a:pPr algn="ctr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4CAF50"/>
                </a:solidFill>
                <a:latin typeface="Georgia"/>
              </a:rPr>
              <a:t>RECOMMENDATION: INVEST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/>
              </a:rPr>
              <a:t>Blended Target: ₹1,667  |  CMP: ₹408  |  Upside: 309%</a:t>
            </a:r>
          </a:p>
          <a:p>
            <a:pPr algn="ctr">
              <a:buNone/>
            </a:pPr>
            <a:r>
              <a:rPr lang="en-US" sz="1400" dirty="0">
                <a:solidFill>
                  <a:srgbClr val="B0D0B0"/>
                </a:solidFill>
                <a:latin typeface="Calibri"/>
              </a:rPr>
              <a:t>Range: ₹917 (Bear) – ₹2,168 (Bull)  |  Even bear case implies 125% upside</a:t>
            </a:r>
          </a:p>
        </p:txBody>
      </p:sp>
      <p:sp>
        <p:nvSpPr>
          <p:cNvPr id="161" name="Rationale"/>
          <p:cNvSpPr txBox="1"/>
          <p:nvPr/>
        </p:nvSpPr>
        <p:spPr>
          <a:xfrm>
            <a:off x="457200" y="3175000"/>
            <a:ext cx="5486400" cy="2921000"/>
          </a:xfrm>
          <a:prstGeom prst="rect">
            <a:avLst/>
          </a:prstGeom>
          <a:noFill/>
        </p:spPr>
        <p:txBody>
          <a:bodyPr wrap="square" lIns="182880" tIns="91440" rIns="182880" bIns="91440" anchor="t"/>
          <a:lstStyle/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Why Invest Now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Proven execution: 7.5x revenue in 3 yrs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P/E 11x vs 28x peer median — deep discount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India energy infra / solar secular tailwinds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Mainboard migration = institutional discovery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Solar plant adds backward integration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Order book ₹572 Cr: 1.8x book-to-bill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ROE 45.6%, ROCE 52.3% — strong returns</a:t>
            </a:r>
          </a:p>
        </p:txBody>
      </p:sp>
      <p:sp>
        <p:nvSpPr>
          <p:cNvPr id="162" name="Terms"/>
          <p:cNvSpPr txBox="1"/>
          <p:nvPr/>
        </p:nvSpPr>
        <p:spPr>
          <a:xfrm>
            <a:off x="6248400" y="3175000"/>
            <a:ext cx="5486400" cy="2921000"/>
          </a:xfrm>
          <a:prstGeom prst="rect">
            <a:avLst/>
          </a:prstGeom>
          <a:noFill/>
        </p:spPr>
        <p:txBody>
          <a:bodyPr wrap="square" lIns="182880" tIns="91440" rIns="182880" bIns="91440" anchor="t"/>
          <a:lstStyle/>
          <a:p>
            <a:pPr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B07B"/>
                </a:solidFill>
                <a:latin typeface="Georgia"/>
              </a:rPr>
              <a:t>Key Considerations for IC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Position sizing: ₹433 Cr mkt cap limits deployment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Monitor: Solar plant timeline, margins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Catalysts: NSE listing, ₹1,000 Cr rev milestone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Mgmt: Moderate-Strong track record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DD: Order book, promoter, capex funding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Hold period: 3-5 year horizon recommended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Exit: Mainboard re-rating or strategic sale</a:t>
            </a:r>
          </a:p>
        </p:txBody>
      </p:sp>
      <p:sp>
        <p:nvSpPr>
          <p:cNvPr id="163" name="Disclaimer"/>
          <p:cNvSpPr txBox="1"/>
          <p:nvPr/>
        </p:nvSpPr>
        <p:spPr>
          <a:xfrm>
            <a:off x="457200" y="6286500"/>
            <a:ext cx="11277600" cy="3048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/>
              </a:rPr>
              <a:t>This analysis is for internal Investment Committee use only. Not investment advice. All projections are based on the RMC Valuation Model (FY22-FY35E).</a:t>
            </a:r>
          </a:p>
        </p:txBody>
      </p:sp>
      <p:pic>
        <p:nvPicPr>
          <p:cNvPr id="164" name="Graphic 164" descr="Target icon for recommend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500" y="1524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26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MC PE Theme">
      <a:dk1>
        <a:srgbClr val="FFFFFF"/>
      </a:dk1>
      <a:lt1>
        <a:srgbClr val="0B1D3A"/>
      </a:lt1>
      <a:dk2>
        <a:srgbClr val="C8B07B"/>
      </a:dk2>
      <a:lt2>
        <a:srgbClr val="F5F0E8"/>
      </a:lt2>
      <a:accent1>
        <a:srgbClr val="C8B07B"/>
      </a:accent1>
      <a:accent2>
        <a:srgbClr val="2E86AB"/>
      </a:accent2>
      <a:accent3>
        <a:srgbClr val="4CAF50"/>
      </a:accent3>
      <a:accent4>
        <a:srgbClr val="E74C3C"/>
      </a:accent4>
      <a:accent5>
        <a:srgbClr val="8E7CC3"/>
      </a:accent5>
      <a:accent6>
        <a:srgbClr val="F39C12"/>
      </a:accent6>
      <a:hlink>
        <a:srgbClr val="0563C1"/>
      </a:hlink>
      <a:folHlink>
        <a:srgbClr val="954F72"/>
      </a:folHlink>
    </a:clrScheme>
    <a:fontScheme name="RMC PE Fonts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407E9C-E773-4A17-B93E-ECE5210203A8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1913</Words>
  <Application>Microsoft Office PowerPoint</Application>
  <PresentationFormat>Widescreen</PresentationFormat>
  <Paragraphs>428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RMC Switchgears Limited</vt:lpstr>
      <vt:lpstr>Company Overview</vt:lpstr>
      <vt:lpstr>Investment Thesis</vt:lpstr>
      <vt:lpstr>Revenue &amp; Profitability Trajectory</vt:lpstr>
      <vt:lpstr>Income Statement Summary</vt:lpstr>
      <vt:lpstr>Balance Sheet &amp; Key Ratios</vt:lpstr>
      <vt:lpstr>Management Guidance Track Record</vt:lpstr>
      <vt:lpstr>DCF Valuation (FCFF Method)</vt:lpstr>
      <vt:lpstr>Comparable Companies Analysis</vt:lpstr>
      <vt:lpstr>Blended Valuation &amp; Scenario Analysis</vt:lpstr>
      <vt:lpstr>Key Risks &amp; Mitigants</vt:lpstr>
      <vt:lpstr>Investment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Vijay</dc:creator>
  <cp:lastModifiedBy>Harsh Vijay</cp:lastModifiedBy>
  <cp:revision>1</cp:revision>
  <dcterms:created xsi:type="dcterms:W3CDTF">2026-03-11T17:40:17Z</dcterms:created>
  <dcterms:modified xsi:type="dcterms:W3CDTF">2026-03-13T15:34:02Z</dcterms:modified>
</cp:coreProperties>
</file>