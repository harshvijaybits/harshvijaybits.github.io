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8" r:id="rId2"/>
    <p:sldId id="276" r:id="rId3"/>
    <p:sldId id="270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FY24</c:v>
                </c:pt>
                <c:pt idx="1">
                  <c:v>FY25E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FY31E</c:v>
                </c:pt>
                <c:pt idx="8">
                  <c:v>FY32E</c:v>
                </c:pt>
                <c:pt idx="9">
                  <c:v>FY33E</c:v>
                </c:pt>
                <c:pt idx="10">
                  <c:v>FY34E</c:v>
                </c:pt>
                <c:pt idx="11">
                  <c:v>FY35E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3.2</c:v>
                </c:pt>
                <c:pt idx="1">
                  <c:v>3.5</c:v>
                </c:pt>
                <c:pt idx="2">
                  <c:v>3.7</c:v>
                </c:pt>
                <c:pt idx="3">
                  <c:v>3.9</c:v>
                </c:pt>
                <c:pt idx="4">
                  <c:v>4.0999999999999996</c:v>
                </c:pt>
                <c:pt idx="5">
                  <c:v>4.3</c:v>
                </c:pt>
                <c:pt idx="6">
                  <c:v>4.5</c:v>
                </c:pt>
                <c:pt idx="7">
                  <c:v>4.9000000000000004</c:v>
                </c:pt>
                <c:pt idx="8">
                  <c:v>5.3</c:v>
                </c:pt>
                <c:pt idx="9">
                  <c:v>5.6</c:v>
                </c:pt>
                <c:pt idx="10">
                  <c:v>6.1</c:v>
                </c:pt>
                <c:pt idx="11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E-4EE7-B206-8C11B545E4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Demand</c:v>
                </c:pt>
              </c:strCache>
            </c:strRef>
          </c:tx>
          <c:spPr>
            <a:ln w="31750" cap="flat">
              <a:solidFill>
                <a:srgbClr val="D4A8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2014</c:v>
                </c:pt>
                <c:pt idx="1">
                  <c:v>2018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  <c:pt idx="5">
                  <c:v>2027E</c:v>
                </c:pt>
                <c:pt idx="6">
                  <c:v>2030E</c:v>
                </c:pt>
                <c:pt idx="7">
                  <c:v>2032E</c:v>
                </c:pt>
                <c:pt idx="8">
                  <c:v>2035E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130</c:v>
                </c:pt>
                <c:pt idx="1">
                  <c:v>170</c:v>
                </c:pt>
                <c:pt idx="2">
                  <c:v>185</c:v>
                </c:pt>
                <c:pt idx="3">
                  <c:v>210</c:v>
                </c:pt>
                <c:pt idx="4">
                  <c:v>243</c:v>
                </c:pt>
                <c:pt idx="5">
                  <c:v>277</c:v>
                </c:pt>
                <c:pt idx="6">
                  <c:v>335</c:v>
                </c:pt>
                <c:pt idx="7">
                  <c:v>366</c:v>
                </c:pt>
                <c:pt idx="8">
                  <c:v>446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CC9-488A-BA00-C1309CDF46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FY32E</c:v>
                </c:pt>
                <c:pt idx="8">
                  <c:v>FY33E</c:v>
                </c:pt>
                <c:pt idx="9">
                  <c:v>FY34E</c:v>
                </c:pt>
                <c:pt idx="10">
                  <c:v>FY35E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110</c:v>
                </c:pt>
                <c:pt idx="1">
                  <c:v>148.4</c:v>
                </c:pt>
                <c:pt idx="2">
                  <c:v>165</c:v>
                </c:pt>
                <c:pt idx="3">
                  <c:v>300</c:v>
                </c:pt>
                <c:pt idx="4">
                  <c:v>420</c:v>
                </c:pt>
                <c:pt idx="5">
                  <c:v>525</c:v>
                </c:pt>
                <c:pt idx="6">
                  <c:v>577.5</c:v>
                </c:pt>
                <c:pt idx="7">
                  <c:v>698.5</c:v>
                </c:pt>
                <c:pt idx="8">
                  <c:v>782.3</c:v>
                </c:pt>
                <c:pt idx="9">
                  <c:v>899.6</c:v>
                </c:pt>
                <c:pt idx="10">
                  <c:v>989.6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44-4A25-A9E7-977E9AF319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FY32E</c:v>
                </c:pt>
                <c:pt idx="8">
                  <c:v>FY33E</c:v>
                </c:pt>
                <c:pt idx="9">
                  <c:v>FY34E</c:v>
                </c:pt>
                <c:pt idx="10">
                  <c:v>FY35E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22.4</c:v>
                </c:pt>
                <c:pt idx="1">
                  <c:v>29.1</c:v>
                </c:pt>
                <c:pt idx="2">
                  <c:v>28.7</c:v>
                </c:pt>
                <c:pt idx="3">
                  <c:v>60.5</c:v>
                </c:pt>
                <c:pt idx="4">
                  <c:v>90.7</c:v>
                </c:pt>
                <c:pt idx="5">
                  <c:v>116.9</c:v>
                </c:pt>
                <c:pt idx="6">
                  <c:v>131.80000000000001</c:v>
                </c:pt>
                <c:pt idx="7">
                  <c:v>167.1</c:v>
                </c:pt>
                <c:pt idx="8">
                  <c:v>185.6</c:v>
                </c:pt>
                <c:pt idx="9">
                  <c:v>219</c:v>
                </c:pt>
                <c:pt idx="10">
                  <c:v>241.1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44-4A25-A9E7-977E9AF31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19050" cap="rnd">
              <a:solidFill>
                <a:srgbClr val="C0392B"/>
              </a:solidFill>
              <a:round/>
            </a:ln>
          </c:spPr>
          <c:marker>
            <c:symbol val="circle"/>
            <c:size val="4"/>
          </c:marker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550" b="1">
                    <a:solidFill>
                      <a:srgbClr val="C0392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FY32E</c:v>
                </c:pt>
                <c:pt idx="8">
                  <c:v>FY33E</c:v>
                </c:pt>
                <c:pt idx="9">
                  <c:v>FY34E</c:v>
                </c:pt>
                <c:pt idx="10">
                  <c:v>FY35E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20.399999999999999</c:v>
                </c:pt>
                <c:pt idx="1">
                  <c:v>19.600000000000001</c:v>
                </c:pt>
                <c:pt idx="2">
                  <c:v>17.399999999999999</c:v>
                </c:pt>
                <c:pt idx="3">
                  <c:v>20.2</c:v>
                </c:pt>
                <c:pt idx="4">
                  <c:v>21.6</c:v>
                </c:pt>
                <c:pt idx="5">
                  <c:v>22.3</c:v>
                </c:pt>
                <c:pt idx="6">
                  <c:v>22.8</c:v>
                </c:pt>
                <c:pt idx="7">
                  <c:v>23.9</c:v>
                </c:pt>
                <c:pt idx="8">
                  <c:v>23.7</c:v>
                </c:pt>
                <c:pt idx="9">
                  <c:v>24.3</c:v>
                </c:pt>
                <c:pt idx="10">
                  <c:v>24.4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44-4A25-A9E7-977E9AF31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0"/>
        <c:axId val="400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catAx>
        <c:axId val="300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extTo"/>
        <c:crossAx val="400"/>
        <c:crosses val="autoZero"/>
        <c:auto val="1"/>
        <c:lblAlgn val="ctr"/>
        <c:lblOffset val="100"/>
        <c:noMultiLvlLbl val="1"/>
      </c:catAx>
      <c:valAx>
        <c:axId val="400"/>
        <c:scaling>
          <c:orientation val="minMax"/>
          <c:max val="30"/>
          <c:min val="1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6350">
            <a:solidFill>
              <a:srgbClr val="888888"/>
            </a:solidFill>
          </a:ln>
        </c:spPr>
        <c:txPr>
          <a:bodyPr/>
          <a:lstStyle/>
          <a:p>
            <a:pPr>
              <a:defRPr sz="600">
                <a:solidFill>
                  <a:srgbClr val="C0392B"/>
                </a:solidFill>
                <a:latin typeface="Arial"/>
              </a:defRPr>
            </a:pPr>
            <a:endParaRPr lang="en-US"/>
          </a:p>
        </c:txPr>
        <c:crossAx val="30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889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 (₹ Cr)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FY32E</c:v>
                </c:pt>
                <c:pt idx="8">
                  <c:v>FY33E</c:v>
                </c:pt>
                <c:pt idx="9">
                  <c:v>FY34E</c:v>
                </c:pt>
                <c:pt idx="10">
                  <c:v>FY35E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13.4</c:v>
                </c:pt>
                <c:pt idx="1">
                  <c:v>20.100000000000001</c:v>
                </c:pt>
                <c:pt idx="2">
                  <c:v>18.8</c:v>
                </c:pt>
                <c:pt idx="3">
                  <c:v>38.1</c:v>
                </c:pt>
                <c:pt idx="4">
                  <c:v>60.9</c:v>
                </c:pt>
                <c:pt idx="5">
                  <c:v>81</c:v>
                </c:pt>
                <c:pt idx="6">
                  <c:v>93.1</c:v>
                </c:pt>
                <c:pt idx="7">
                  <c:v>118.7</c:v>
                </c:pt>
                <c:pt idx="8">
                  <c:v>131.30000000000001</c:v>
                </c:pt>
                <c:pt idx="9">
                  <c:v>156.30000000000001</c:v>
                </c:pt>
                <c:pt idx="10">
                  <c:v>173.9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2-4537-BD86-D4A53AEBA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PAT Margin %</c:v>
                </c:pt>
              </c:strCache>
            </c:strRef>
          </c:tx>
          <c:spPr>
            <a:ln w="19050" cap="rnd">
              <a:solidFill>
                <a:srgbClr val="D4A843"/>
              </a:solidFill>
              <a:round/>
            </a:ln>
          </c:spPr>
          <c:marker>
            <c:symbol val="circle"/>
            <c:size val="4"/>
          </c:marker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500" b="1">
                    <a:solidFill>
                      <a:srgbClr val="C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FY24</c:v>
                </c:pt>
                <c:pt idx="1">
                  <c:v>FY25</c:v>
                </c:pt>
                <c:pt idx="2">
                  <c:v>FY26E</c:v>
                </c:pt>
                <c:pt idx="3">
                  <c:v>FY27E</c:v>
                </c:pt>
                <c:pt idx="4">
                  <c:v>FY28E</c:v>
                </c:pt>
                <c:pt idx="5">
                  <c:v>FY29E</c:v>
                </c:pt>
                <c:pt idx="6">
                  <c:v>FY30E</c:v>
                </c:pt>
                <c:pt idx="7">
                  <c:v>FY32E</c:v>
                </c:pt>
                <c:pt idx="8">
                  <c:v>FY33E</c:v>
                </c:pt>
                <c:pt idx="9">
                  <c:v>FY34E</c:v>
                </c:pt>
                <c:pt idx="10">
                  <c:v>FY35E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12.2</c:v>
                </c:pt>
                <c:pt idx="1">
                  <c:v>13.5</c:v>
                </c:pt>
                <c:pt idx="2">
                  <c:v>11.4</c:v>
                </c:pt>
                <c:pt idx="3">
                  <c:v>12.7</c:v>
                </c:pt>
                <c:pt idx="4">
                  <c:v>14.5</c:v>
                </c:pt>
                <c:pt idx="5">
                  <c:v>15.4</c:v>
                </c:pt>
                <c:pt idx="6">
                  <c:v>16.100000000000001</c:v>
                </c:pt>
                <c:pt idx="7">
                  <c:v>17</c:v>
                </c:pt>
                <c:pt idx="8">
                  <c:v>16.8</c:v>
                </c:pt>
                <c:pt idx="9">
                  <c:v>17.399999999999999</c:v>
                </c:pt>
                <c:pt idx="10">
                  <c:v>17.600000000000001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62-4537-BD86-D4A53AEBAB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0"/>
        <c:axId val="400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896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catAx>
        <c:axId val="300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extTo"/>
        <c:crossAx val="400"/>
        <c:crosses val="autoZero"/>
        <c:auto val="1"/>
        <c:lblAlgn val="ctr"/>
        <c:lblOffset val="100"/>
        <c:noMultiLvlLbl val="1"/>
      </c:catAx>
      <c:valAx>
        <c:axId val="400"/>
        <c:scaling>
          <c:orientation val="minMax"/>
          <c:max val="22"/>
          <c:min val="8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6350">
            <a:solidFill>
              <a:srgbClr val="888888"/>
            </a:solidFill>
          </a:ln>
        </c:spPr>
        <c:txPr>
          <a:bodyPr/>
          <a:lstStyle/>
          <a:p>
            <a:pPr>
              <a:defRPr sz="600">
                <a:solidFill>
                  <a:srgbClr val="D4A843"/>
                </a:solidFill>
                <a:latin typeface="Arial"/>
              </a:defRPr>
            </a:pPr>
            <a:endParaRPr lang="en-US"/>
          </a:p>
        </c:txPr>
        <c:crossAx val="300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889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04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TRANSFORMER SECTOR — MACRO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17920" y="1645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 |  MARCH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64008" cy="1508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914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SIZE &amp; TRAJECTORY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1887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Transformer Market: </a:t>
            </a: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3.0B (2025) → USD 4.5B (2030)</a:t>
            </a: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~8.3%  |  P&amp;D Combined: USD 3.97B (2023) → USD 8.41B (2030) at 10.8% CAGR</a:t>
            </a: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demand: 243 GW (2024) → projected 400 GW+ by 2030 (Ministry of Power)</a:t>
            </a: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transformers (&gt;100 MVA) growing fastest at 9.9% CAGR through 2030</a:t>
            </a:r>
            <a:endParaRPr lang="en-US" sz="9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340CE0-99AF-FF84-8B9F-4EBF43E71F00}"/>
              </a:ext>
            </a:extLst>
          </p:cNvPr>
          <p:cNvGrpSpPr/>
          <p:nvPr/>
        </p:nvGrpSpPr>
        <p:grpSpPr>
          <a:xfrm>
            <a:off x="365760" y="2571750"/>
            <a:ext cx="3931920" cy="1874520"/>
            <a:chOff x="365760" y="2468880"/>
            <a:chExt cx="3931920" cy="1874520"/>
          </a:xfrm>
        </p:grpSpPr>
        <p:sp>
          <p:nvSpPr>
            <p:cNvPr id="9" name="Shape 7"/>
            <p:cNvSpPr/>
            <p:nvPr/>
          </p:nvSpPr>
          <p:spPr>
            <a:xfrm>
              <a:off x="365760" y="2468880"/>
              <a:ext cx="3931920" cy="1874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65760" y="2468880"/>
              <a:ext cx="64008" cy="1874520"/>
            </a:xfrm>
            <a:prstGeom prst="rect">
              <a:avLst/>
            </a:prstGeom>
            <a:solidFill>
              <a:srgbClr val="D4A843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566928" y="2514600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4A843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KEY DEMAND DRIVERS</a:t>
              </a:r>
              <a:endParaRPr lang="en-US" sz="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66928" y="2788920"/>
              <a:ext cx="361188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Renewable Energy Integration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500 GW RE target by 2030; solar capacity up 30x in 9 yrs to 93 GW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3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Grid Modernization &amp; RDSS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₹17 lakh Cr invested 2016-24; RDSS mandates loss reduction, drives replacements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3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Urbanization &amp; Industrialization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600M urban population ahead; TN, KA, GJ, MH = ~60% of demand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3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Verticals: Data Centers, EVs, Green Hydrogen</a:t>
              </a:r>
              <a:endParaRPr lang="en-US" sz="850" dirty="0"/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DC transformer market alone: USD 441M (2024) → USD 770M (2030)</a:t>
              </a:r>
              <a:endParaRPr lang="en-US" sz="85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4663440" y="8686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Transformer Market Size (USD Billion)</a:t>
            </a:r>
            <a:endParaRPr lang="en-US" sz="8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754880" y="1143000"/>
          <a:ext cx="38404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00600" y="3063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Peak Power Demand (GW)</a:t>
            </a:r>
            <a:endParaRPr lang="en-US" sz="8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4754880" y="3246120"/>
          <a:ext cx="3840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4766310"/>
            <a:ext cx="83210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Shilchar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Tech,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Voltamp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Transformers, Atlanta Electricals, TARIL etc. dominate.  Regional players like SPEL compete on cost, lead-time &amp; specialization in the underserved 25-160 MVA segment.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09653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SUPREME POWER EQUIPMENT LTD — COMPANY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0" y="164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SUPREMEPWR  |  SME Emerge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797899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5180"/>
            <a:ext cx="64008" cy="19659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914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COMPANY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1994 | HQ: Chennai, Tamil Nadu | IPO: Dec 2023 (NSE Emerge)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of power &amp; distribution transformers (up to 160 MVA / 220 kV). Product range includes power, solar, windmill, generator, isolation, and converter transformers.</a:t>
            </a: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Expansion: </a:t>
            </a: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Kannur plant (9,000 MVA) commissioned Feb 2026. Phase 3 North India (~5,000-6,000 MVA) planned FY31-32E. Combined ~15,000 MVA by FY33E.</a:t>
            </a: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 </a:t>
            </a: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sector 74% of FY25 revenue (better payment cycles). Order book: ~₹368 Cr (Mar 2026 est.); ₹116+ Cr new orders Jan-Mar 2026.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95528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8191" y="795528"/>
            <a:ext cx="64008" cy="19659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864608" y="9144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SNAPSHOT (FY25)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846320" y="1207008"/>
          <a:ext cx="3794760" cy="148132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₹148.4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₹29.1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₹20.1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D/E Ratio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₹368 Cr+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Promoter Hold.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>
                          <a:solidFill>
                            <a:srgbClr val="889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 (Mar'26)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910671"/>
            <a:ext cx="3931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CAA9F8-213B-79D1-EFD3-1D9B3764752B}"/>
              </a:ext>
            </a:extLst>
          </p:cNvPr>
          <p:cNvGrpSpPr/>
          <p:nvPr/>
        </p:nvGrpSpPr>
        <p:grpSpPr>
          <a:xfrm>
            <a:off x="411480" y="2965535"/>
            <a:ext cx="3794760" cy="1764792"/>
            <a:chOff x="411480" y="3035808"/>
            <a:chExt cx="3794760" cy="1764792"/>
          </a:xfrm>
        </p:grpSpPr>
        <p:sp>
          <p:nvSpPr>
            <p:cNvPr id="14" name="Text 11"/>
            <p:cNvSpPr/>
            <p:nvPr/>
          </p:nvSpPr>
          <p:spPr>
            <a:xfrm>
              <a:off x="502920" y="303580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Revenue &amp; EBITDA Trajectory (₹ Cr)</a:t>
              </a:r>
              <a:endParaRPr lang="en-US" sz="850" dirty="0"/>
            </a:p>
          </p:txBody>
        </p:sp>
        <p:graphicFrame>
          <p:nvGraphicFramePr>
            <p:cNvPr id="15" name="Chart 0"/>
            <p:cNvGraphicFramePr/>
            <p:nvPr/>
          </p:nvGraphicFramePr>
          <p:xfrm>
            <a:off x="411480" y="3246120"/>
            <a:ext cx="3794760" cy="1554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6" name="Shape 12"/>
          <p:cNvSpPr/>
          <p:nvPr/>
        </p:nvSpPr>
        <p:spPr>
          <a:xfrm>
            <a:off x="4663440" y="290322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2526BB-FF3A-FF5F-2363-A4149DD1F35A}"/>
              </a:ext>
            </a:extLst>
          </p:cNvPr>
          <p:cNvGrpSpPr/>
          <p:nvPr/>
        </p:nvGrpSpPr>
        <p:grpSpPr>
          <a:xfrm>
            <a:off x="4722199" y="2961810"/>
            <a:ext cx="4023359" cy="1764792"/>
            <a:chOff x="4709160" y="3035808"/>
            <a:chExt cx="4023359" cy="1764792"/>
          </a:xfrm>
        </p:grpSpPr>
        <p:sp>
          <p:nvSpPr>
            <p:cNvPr id="17" name="Text 13"/>
            <p:cNvSpPr/>
            <p:nvPr/>
          </p:nvSpPr>
          <p:spPr>
            <a:xfrm>
              <a:off x="4800600" y="3035808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1F3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PAT Growth &amp; Margin Expansion</a:t>
              </a:r>
              <a:endParaRPr lang="en-US" sz="850" dirty="0"/>
            </a:p>
          </p:txBody>
        </p:sp>
        <p:graphicFrame>
          <p:nvGraphicFramePr>
            <p:cNvPr id="18" name="Chart 1"/>
            <p:cNvGraphicFramePr/>
            <p:nvPr>
              <p:extLst>
                <p:ext uri="{D42A27DB-BD31-4B8C-83A1-F6EECF244321}">
                  <p14:modId xmlns:p14="http://schemas.microsoft.com/office/powerpoint/2010/main" val="4158903260"/>
                </p:ext>
              </p:extLst>
            </p:nvPr>
          </p:nvGraphicFramePr>
          <p:xfrm>
            <a:off x="4709160" y="3246120"/>
            <a:ext cx="2514598" cy="15544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Text 14"/>
            <p:cNvSpPr/>
            <p:nvPr/>
          </p:nvSpPr>
          <p:spPr>
            <a:xfrm>
              <a:off x="7256440" y="3246120"/>
              <a:ext cx="1476079" cy="1508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00" b="1" dirty="0">
                  <a:solidFill>
                    <a:srgbClr val="2B7A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BALANCE SHEET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2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Equity: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₹92.5 → ₹386 Cr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Debt/Eq: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0.27x → 0.07x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Cash: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 → ₹188 Cr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3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800" b="1" dirty="0">
                  <a:solidFill>
                    <a:srgbClr val="2B7A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CASH FLOW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2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CFO: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₹16.3 → ₹93.1 Cr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FCFF: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-₹1 → ₹83.5 Cr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50" b="1" dirty="0">
                  <a:solidFill>
                    <a:srgbClr val="889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Capex:  </a:t>
              </a:r>
              <a:r>
                <a:rPr lang="en-US" sz="750" dirty="0">
                  <a:solidFill>
                    <a:srgbClr val="1A1F3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₹15 Cr FY26E; ₹5 Cr/yr maint.</a:t>
              </a:r>
              <a:endParaRPr lang="en-US" sz="8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6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FY26E-FY30E: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~22%  |  PAT CAGR ~28%  |  EBITDA Margins expanding from 17.4% → 24.4%  |  CCC 75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35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  |  Net-debt-free by FY28E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637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THESIS — BUY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280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₹253  |  UPSIDE: ~79%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6400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68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MARKET PRICING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11556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CMP: ~₹141  |  Mkt Cap: ~₹352 Cr  |  52W: ₹100 – ₹240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P/E: ~17.5x  |  P/B: ~3.81x  |  EV/EBITDA: ~12.7x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(Median)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Median: P/E 24.7x  |  P/B 6.53x  |  EV/EBITDA 17.9x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 trades at a discount to high-growth peer TARIL despite comparable revenue growth trajectory, partly due to SME listing &amp; smaller scale.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6400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68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MY TARGET PRICING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64608" y="111556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Target: ₹253/share  |  Upside: ~79% from CMP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Base Case:  </a:t>
            </a: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₹275/share  (WACC: 14.6%, Terminal g: 4%)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(FY25 Trailing):  </a:t>
            </a: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₹225/share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(FY26E Forward):  </a:t>
            </a: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₹237/share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 </a:t>
            </a:r>
            <a:r>
              <a:rPr lang="en-US" sz="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DCF + 25% FY25 Comp + 25% FY26E Comp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₹225 (bear) → ₹253 (base) → ₹275 (bull)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3931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64008" cy="18745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KEY ASSUMPTIONS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₹165 Cr FY26E → ₹578 Cr FY30E. Growth: 11% FY26 (plant ramp), 82% FY27 (Phase 2 online), tapering to 10% by FY30.</a:t>
            </a: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17.4% → 22.8%. RM cost declining 69% → 66% (higher MVA mix, scale). PAT margin 11.4% → 16.1%.</a:t>
            </a: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 Cr FY26E (tail-end Phase 2). Maintenance ₹5 Cr/yr. Net-debt-free by FY28E.</a:t>
            </a: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Inputs: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14.6% (Ke 15.1%, Kd 7.5%, Beta 1.2). Terminal g: 4%. FCFF CAGR: 51% (FY27-30). Terminal value: 57% of EV.</a:t>
            </a: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Capital: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Debtor days 103 → 85; CCC improving from 69 → 49 days.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60320"/>
            <a:ext cx="64008" cy="1874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2596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KEY RISKS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Volatility —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CRGO steel (imported), copper, transformer oil prices can compress margins. No natural FX hedge currently.</a:t>
            </a: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Plant Execution Risk —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CPRI/PGCIL/NTPC certifications could push revenue ramp-up to FY27 from FY26.</a:t>
            </a: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Geo Concentration —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TN, Kerala, Karnataka utilities. Diversification is early-stage.</a:t>
            </a: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Liquidity &amp; Governance —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Emerge listing = lower float, wider bid-ask, less institutional coverage. Governance standards below mainboard.</a:t>
            </a: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7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Sensitivity — </a:t>
            </a: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= 57% of EV. +/- 2% WACC swings price ₹218 - ₹436. High dependency on long-term assumptions.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6692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5994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(₹/share):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12.5% / g 4% → ₹370  |  WACC 13.5% / g 4% → ₹319  |  WACC 14.6% / g 4% → ₹275  |  WACC 15.5% / g 4% → ₹245  |  WACC 16.5% / g 3% → ₹208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31175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987917-E9FA-466C-B8ED-02E37AA7F791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1074</Words>
  <Application>Microsoft Office PowerPoint</Application>
  <PresentationFormat>On-screen Show (16:9)</PresentationFormat>
  <Paragraphs>108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Supreme Power Equipment Ltd — Equity Research Pitch</dc:title>
  <dc:subject>PptxGenJS Presentation</dc:subject>
  <dc:creator>Sell-Side Equity Research</dc:creator>
  <cp:lastModifiedBy>Harsh Vijay</cp:lastModifiedBy>
  <cp:revision>7</cp:revision>
  <dcterms:created xsi:type="dcterms:W3CDTF">2026-02-18T18:29:22Z</dcterms:created>
  <dcterms:modified xsi:type="dcterms:W3CDTF">2026-03-18T17:56:18Z</dcterms:modified>
</cp:coreProperties>
</file>