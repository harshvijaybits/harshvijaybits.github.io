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91" r:id="rId11"/>
    <p:sldId id="288" r:id="rId12"/>
    <p:sldId id="280" r:id="rId13"/>
    <p:sldId id="281" r:id="rId14"/>
    <p:sldId id="282" r:id="rId15"/>
    <p:sldId id="28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FY22A</c:v>
                </c:pt>
                <c:pt idx="1">
                  <c:v>FY23A</c:v>
                </c:pt>
                <c:pt idx="2">
                  <c:v>FY24A</c:v>
                </c:pt>
                <c:pt idx="3">
                  <c:v>FY25A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686</c:v>
                </c:pt>
                <c:pt idx="1">
                  <c:v>1212</c:v>
                </c:pt>
                <c:pt idx="2">
                  <c:v>1537</c:v>
                </c:pt>
                <c:pt idx="3">
                  <c:v>1913</c:v>
                </c:pt>
                <c:pt idx="4">
                  <c:v>2353</c:v>
                </c:pt>
                <c:pt idx="5">
                  <c:v>2870</c:v>
                </c:pt>
                <c:pt idx="6">
                  <c:v>3458</c:v>
                </c:pt>
                <c:pt idx="7">
                  <c:v>4133</c:v>
                </c:pt>
                <c:pt idx="8">
                  <c:v>4897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8C-40A1-8C0D-148F51F08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ln w="31750" cap="flat">
              <a:solidFill>
                <a:srgbClr val="C8A9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A951"/>
              </a:solidFill>
              <a:ln w="9525" cap="flat">
                <a:solidFill>
                  <a:srgbClr val="C8A95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FY22A</c:v>
                </c:pt>
                <c:pt idx="1">
                  <c:v>FY23A</c:v>
                </c:pt>
                <c:pt idx="2">
                  <c:v>FY24A</c:v>
                </c:pt>
                <c:pt idx="3">
                  <c:v>FY25A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35.6</c:v>
                </c:pt>
                <c:pt idx="2">
                  <c:v>41.9</c:v>
                </c:pt>
                <c:pt idx="3">
                  <c:v>43.5</c:v>
                </c:pt>
                <c:pt idx="4">
                  <c:v>43.5</c:v>
                </c:pt>
                <c:pt idx="5">
                  <c:v>44</c:v>
                </c:pt>
                <c:pt idx="6">
                  <c:v>44.5</c:v>
                </c:pt>
                <c:pt idx="7">
                  <c:v>44.8</c:v>
                </c:pt>
                <c:pt idx="8">
                  <c:v>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A68-49A4-811C-15F547A6D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</c:v>
                </c:pt>
              </c:strCache>
            </c:strRef>
          </c:tx>
          <c:spPr>
            <a:ln w="31750" cap="flat">
              <a:solidFill>
                <a:srgbClr val="0F1B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FY22A</c:v>
                </c:pt>
                <c:pt idx="1">
                  <c:v>FY23A</c:v>
                </c:pt>
                <c:pt idx="2">
                  <c:v>FY24A</c:v>
                </c:pt>
                <c:pt idx="3">
                  <c:v>FY25A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10.199999999999999</c:v>
                </c:pt>
                <c:pt idx="1">
                  <c:v>15.4</c:v>
                </c:pt>
                <c:pt idx="2">
                  <c:v>17.7</c:v>
                </c:pt>
                <c:pt idx="3">
                  <c:v>18.2</c:v>
                </c:pt>
                <c:pt idx="4">
                  <c:v>17.5</c:v>
                </c:pt>
                <c:pt idx="5">
                  <c:v>18.399999999999999</c:v>
                </c:pt>
                <c:pt idx="6">
                  <c:v>19.5</c:v>
                </c:pt>
                <c:pt idx="7">
                  <c:v>20.2</c:v>
                </c:pt>
                <c:pt idx="8">
                  <c:v>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A68-49A4-811C-15F547A6D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 Margin</c:v>
                </c:pt>
              </c:strCache>
            </c:strRef>
          </c:tx>
          <c:spPr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FY22A</c:v>
                </c:pt>
                <c:pt idx="1">
                  <c:v>FY23A</c:v>
                </c:pt>
                <c:pt idx="2">
                  <c:v>FY24A</c:v>
                </c:pt>
                <c:pt idx="3">
                  <c:v>FY25A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2.6</c:v>
                </c:pt>
                <c:pt idx="1">
                  <c:v>8.5</c:v>
                </c:pt>
                <c:pt idx="2">
                  <c:v>10.4</c:v>
                </c:pt>
                <c:pt idx="3">
                  <c:v>11.2</c:v>
                </c:pt>
                <c:pt idx="4">
                  <c:v>10.5</c:v>
                </c:pt>
                <c:pt idx="5">
                  <c:v>11</c:v>
                </c:pt>
                <c:pt idx="6">
                  <c:v>11.9</c:v>
                </c:pt>
                <c:pt idx="7">
                  <c:v>12.6</c:v>
                </c:pt>
                <c:pt idx="8">
                  <c:v>13.3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A68-49A4-811C-15F547A6D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64748B"/>
                </a:solidFill>
                <a:latin typeface="Arial"/>
              </a:rPr>
              <a:t>FCFF — Capex-Heavy Phase Ending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FCFF (₹ Cr)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FY22A</c:v>
                </c:pt>
                <c:pt idx="1">
                  <c:v>FY23A</c:v>
                </c:pt>
                <c:pt idx="2">
                  <c:v>FY24A</c:v>
                </c:pt>
                <c:pt idx="3">
                  <c:v>FY25A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</c:v>
                </c:pt>
                <c:pt idx="1">
                  <c:v>95</c:v>
                </c:pt>
                <c:pt idx="2">
                  <c:v>125</c:v>
                </c:pt>
                <c:pt idx="3">
                  <c:v>-52</c:v>
                </c:pt>
                <c:pt idx="4">
                  <c:v>-6</c:v>
                </c:pt>
                <c:pt idx="5">
                  <c:v>84</c:v>
                </c:pt>
                <c:pt idx="6">
                  <c:v>301</c:v>
                </c:pt>
                <c:pt idx="7">
                  <c:v>438</c:v>
                </c:pt>
                <c:pt idx="8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DF-4563-B033-6A0CF129EA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3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DOMS Industries Limited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DOMS  |  Stationery, Art Materials &amp; Hygiene  |  Consumer Brand / FMCG-Lite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1828800" cy="685800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~₹14,000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834640"/>
            <a:ext cx="1828800" cy="685800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~₹2,350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2834640"/>
            <a:ext cx="1828800" cy="685800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~63x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P/E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2834640"/>
            <a:ext cx="1828800" cy="685800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₹1,913 Cr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3370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thesis, proposed terms, and return profile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— CONDITIONAL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or below ₹2,400/share for 18%+ base IRR.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branded consumer compounder with capacity inflection in FY27.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premium valuation — returns depend on sustained 20%+ earnings growth.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TERMS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₹2,350/share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09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Equity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₹14,262 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002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2002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₹14,249 Cr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95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EV/EBITDA (FY26E)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295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P/E (FY26E)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PROFILE — 10 YEAR HOLD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1828800" cy="7315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(35x P/E)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IRR: 14.1%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MOIC: 3.7x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3611880"/>
            <a:ext cx="1828800" cy="7315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(50x P/E)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5176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IRR: 18.2%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MOIC: 5.3x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1828800" cy="7315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(60x P/E)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IRR: 20.4%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MOIC: 6.4x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3611880"/>
            <a:ext cx="1828800" cy="7315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Bull (70x P/E)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IRR: 22.2%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MOIC: 7.4x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69292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DOMS Industries at a glance — financials, ownership, and market 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 (FY25A)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₹1,913 Cr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+24.4% YoY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3657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₹348 Cr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 margin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1956816"/>
            <a:ext cx="3657600" cy="2743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₹214 Cr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1956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margin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249424"/>
            <a:ext cx="3657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249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249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2542032"/>
            <a:ext cx="3657600" cy="2743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~19.7%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461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₹(14) Cr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3127248"/>
            <a:ext cx="3657600" cy="2743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(FY26E)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₹(6) Cr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4612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Post-capex inflection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3419856"/>
            <a:ext cx="3657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(FY25A)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11680" y="3419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₹35.19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4612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 YoY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3712464"/>
            <a:ext cx="3657600" cy="2743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(FY20-25)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011680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712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track record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" y="4005072"/>
            <a:ext cx="3657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CAGR (FY20-25)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011680" y="4005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46120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STRUCTURE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Group (Promoter)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~44.4%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F.I.L.A. S.p.A. (Italy)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~26.0%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3776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9808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~18.3%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3776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FIIs / Others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9808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~11.3%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2743200"/>
            <a:ext cx="3931920" cy="164592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937760" y="2816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MOAT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37760" y="3063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Outlets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23760" y="3063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145,000+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37760" y="33192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223760" y="3319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5,800+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37760" y="3575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Super-Stockists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223760" y="35753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37760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223760" y="3831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3,770+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4087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223760" y="4087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02425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Indian stationery attractive capital? Structural growth vs. GDP-plus commodity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stationery &amp; art products market: ~₹45,000-50,000 Cr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12-15% CAGR, driven by structural tailwinds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share: ~25-30% and rising (vs. 70%+ unorganized)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2.0 accelerates formalization — benefits branded players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cyclicality: education spend is non-discretionary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GROWTH DRIVERS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350M+ children under 14 — world's largest school-age cohort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spend at &gt;3.4% of GDP and rising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Premiumization: shift from ₹5 pencils to ₹20+ premium SKUs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 2020 mandates art/craft — expands TAM for art materials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opportunity via FILA's global 150+ country network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123444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CAPITAL RELEVANCE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structurally growing, not GDP-plus commodity. Return durability is underwritten by: (1) organized share gains at the expense of unorganized players — a multi-decade secular shift; (2) non-discretionary demand anchored in school cycles with 350M captive consumers; (3) premiumization tailwind as per-capita income rises. Unlike a classic FMCG, stationery has lower competitive intensity — only 3-4 organized players vs. dozens in soaps/food.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58925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&amp; POSITIONING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DOMS win? Brand, cost, distribution, or scale; and is it a real consumer brand?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50876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Moat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4813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 outlets, 5,800 distributors across 28 states. General trade &gt;70% of sales — kirana-level penetration similar to Pidilite/Colgate. Replicating this takes 10+ years.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397764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Pester Power Brand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14813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choose DOMS by name. 29% pencil market share, 30% math-box share. Brand built via DOMS Art League (school competitions) — emotional switching cost.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3977640" cy="150876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346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 Integration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31729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integrated: raw material to finished goods at Umbergaon. 7M pencils/day capacity. Cost advantage + quality control. New 44-acre facility doubles capacity.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09160" y="2697480"/>
            <a:ext cx="3977640" cy="1508760"/>
          </a:xfrm>
          <a:prstGeom prst="rect">
            <a:avLst/>
          </a:prstGeom>
          <a:solidFill>
            <a:srgbClr val="1B3A5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8346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 Partnership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92040" y="31729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F.I.L.A. S.p.A (Italy) — 26% stake since 2012. Technology transfer (Giotto, Lyra), global export access to 150+ countries. DOMS is FILA's India manufacturing hub.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4224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This is a genuine consumer brand — not a manufacturer wearing a brand mask. 'Pester power' + distribution depth = FMCG-like moat.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69071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BUILD-UP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revenue logic NOT top-down 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2926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005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MIX (FY26E)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897880" y="1261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Scholastic Stationery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60920" y="1261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₹782 Cr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38160" y="12618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97880" y="14996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Scholastic Art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60920" y="14996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₹552 Cr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38160" y="14996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9788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60920" y="17373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₹204 Cr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13816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97880" y="1975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Stationery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60920" y="1975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₹220 Cr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38160" y="1975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97880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&amp; Combos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360920" y="2212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₹215 Cr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138160" y="2212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97880" y="2450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&amp; Craft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60920" y="2450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138160" y="24505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97880" y="2688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(Uniclan)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360920" y="2688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₹133 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138160" y="2688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97880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(Bags, Toys)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360920" y="2926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₹147 Cr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38160" y="2926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34290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3429000"/>
            <a:ext cx="54864" cy="96012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 — NOT TREND EXTRAPOLATION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" y="3703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capacity 5.5M → 7M/day; new pen plant operational; 44-acre facility doubles total capacity by FY27.  </a:t>
            </a: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growing from 115K to 145K (achieved); targeting 180K+ by FY28.  </a:t>
            </a: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increase 8-10% via product mix shift (kits, art, office). Office supplies is fastest-growing segment (25%+ growth).  </a:t>
            </a: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from 11% to 15%+ of revenue via FILA's 150-country distribution.  </a:t>
            </a: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Adjacencies: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Uniclan (baby diapers) targeting ₹350 Cr by FY30; Seven JV (bags) from FY27.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7814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TRAJECTORY &amp; OPERATING LEVERS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margins move from 18% to 22%? Phi's operational improvement lens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029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2926080" cy="237744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024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LEVERS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97880" y="1280160"/>
            <a:ext cx="2651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→ 45%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shift to premium + backward integration absorbs input costs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cost: 14% → 13% (scale absorption). Other expenses: 12% → 11% as fixed costs get leveraged on higher revenue base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17.5% → 21%+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dips due to capacity build costs (guided 16.5-17.5%). Margin recovery from FY27 as new facility ramps.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47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FOR US: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37673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expansion from 18% to 22% is achievable but not guaranteed. It requires: (1) successful ramp of 44-acre facility, (2) product mix shift sustaining, (3) Uniclan margins improving to 7.5-8%. Advertising intensity (Royalty to FILA) remains a wildcard. The base case models 21% EBITDA by FY30; conservative relative to FMCG peers at 25%+.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96528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&amp; CAPITAL EFFICIENCY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cares about cash — working capital, capex intensity, FCF conversion, and ROIC trajectory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45720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960120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4924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 METRICS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349240" y="1261872"/>
            <a:ext cx="3200400" cy="2286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9" name="Text 6"/>
          <p:cNvSpPr/>
          <p:nvPr/>
        </p:nvSpPr>
        <p:spPr>
          <a:xfrm>
            <a:off x="5349240" y="1261872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9340" y="1261872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49440" y="1261872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49540" y="1261872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49240" y="150876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(₹ Cr)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49340" y="150876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949440" y="150876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49540" y="150876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49240" y="172821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Rev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49340" y="172821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49440" y="172821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49540" y="172821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349240" y="1947672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WC Days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49340" y="1947672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949440" y="1947672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749540" y="1947672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49240" y="2167128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(₹ Cr)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49340" y="2167128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49440" y="2167128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749540" y="2167128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49240" y="2386584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FCFF (₹ Cr)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49340" y="2386584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949440" y="2386584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49540" y="2386584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349240" y="26060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(₹ Cr)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49340" y="26060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949440" y="26060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(38)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749540" y="26060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(1,332)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49240" y="282549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149340" y="282549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949440" y="282549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749540" y="2825496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40080" y="3291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STORY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FY25-FY26 = Peak Capex Phase. </a:t>
            </a: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DOMS is in the final year of heavy capital deployment (₹250 Cr FY26). The 44-acre Umbergaon facility begins commercial production in Q2 FY27. From FY28 onward, capex normalizes to ₹100-150 Cr/year, unleashing massive free cash flow. </a:t>
            </a:r>
            <a:r>
              <a:rPr lang="en-US" sz="9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FY30E, the business generates ₹612 Cr FCFF, sits on ₹1,332 Cr net cash, and converts 70%+ of EBITDA to free cash flow. </a:t>
            </a:r>
            <a:r>
              <a:rPr lang="en-US" sz="95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reinvestment machine — if DOMS reinvests at 20%+ ROCE, compounding is powerful.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91174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DCF, trading comps, precedent transactions - triangulated to a fair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1463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87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12.4%  |  Terminal Growth: 6.5%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Explicit FCFF: ₹3,108 Cr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Terminal Value: ₹8,810 Cr (74% of EV)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EV: ₹11,918 Cr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Price: ₹1,966/share (16% downside to CMP)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14630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87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COMPS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(x)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4538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14538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4538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 Median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8928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Median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18928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18928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1122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Fair Value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1122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21122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₹1,642/sh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633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FOOTBALL FIELD (₹ per share)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44985" y="2971800"/>
            <a:ext cx="2083003" cy="182880"/>
          </a:xfrm>
          <a:prstGeom prst="rect">
            <a:avLst/>
          </a:prstGeom>
          <a:solidFill>
            <a:srgbClr val="0F1B2D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2426" y="2962656"/>
            <a:ext cx="201168" cy="201168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32" name="Text 30"/>
          <p:cNvSpPr/>
          <p:nvPr/>
        </p:nvSpPr>
        <p:spPr>
          <a:xfrm>
            <a:off x="3979225" y="29443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46276" y="29443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4360" y="3264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Comps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17430" y="3310128"/>
            <a:ext cx="2916204" cy="182880"/>
          </a:xfrm>
          <a:prstGeom prst="rect">
            <a:avLst/>
          </a:prstGeom>
          <a:solidFill>
            <a:srgbClr val="0F1B2D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19632" y="3300984"/>
            <a:ext cx="201168" cy="201168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37" name="Text 35"/>
          <p:cNvSpPr/>
          <p:nvPr/>
        </p:nvSpPr>
        <p:spPr>
          <a:xfrm>
            <a:off x="2051670" y="32826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351922" y="32826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9436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Txn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11212" y="3648456"/>
            <a:ext cx="4820961" cy="182880"/>
          </a:xfrm>
          <a:prstGeom prst="rect">
            <a:avLst/>
          </a:prstGeom>
          <a:solidFill>
            <a:srgbClr val="0F1B2D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64716" y="3639312"/>
            <a:ext cx="201168" cy="201168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42" name="Text 40"/>
          <p:cNvSpPr/>
          <p:nvPr/>
        </p:nvSpPr>
        <p:spPr>
          <a:xfrm>
            <a:off x="2045452" y="36210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250460" y="3621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94360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Based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43919" y="3986784"/>
            <a:ext cx="2949367" cy="182880"/>
          </a:xfrm>
          <a:prstGeom prst="rect">
            <a:avLst/>
          </a:prstGeom>
          <a:solidFill>
            <a:srgbClr val="0F1B2D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953366" y="3977640"/>
            <a:ext cx="201168" cy="201168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47" name="Text 45"/>
          <p:cNvSpPr/>
          <p:nvPr/>
        </p:nvSpPr>
        <p:spPr>
          <a:xfrm>
            <a:off x="3378159" y="395935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11574" y="39593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663184" y="2880360"/>
            <a:ext cx="0" cy="141732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5205984" y="4297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₹2,350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" y="4480560"/>
            <a:ext cx="82296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52175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5E9F-D749-4D06-96A8-32DD95AFFBAB}"/>
              </a:ext>
            </a:extLst>
          </p:cNvPr>
          <p:cNvSpPr/>
          <p:nvPr/>
        </p:nvSpPr>
        <p:spPr>
          <a:xfrm>
            <a:off x="546100" y="4140200"/>
            <a:ext cx="8051800" cy="482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ANALYSIS - SCENARIO 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/ Base / Bull / Ultra Bull scenario returns — 10-year hold with sensitivity to exit multiples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762D88-DB89-45C1-A6DB-C5CF95DD79C1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990600"/>
          <a:ext cx="8051800" cy="30734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596360336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131443785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996964577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3381711577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141784686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Bear Case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Base Case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Bull Case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Ultra Bull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99152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Entry Price (₹/share)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2,350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2,350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2,350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2,350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0007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Holding Period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 years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 years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 years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 years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7866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FY35E Revenue (₹ Cr)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10,107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10,107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10,107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10,107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8523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FY35E EBITDA (₹ Cr)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2,294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2,294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2,294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2,294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7509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FY35E EPS (₹)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247.7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247.7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247.7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247.7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58357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Exit P/E Multiple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35x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</a:rPr>
                        <a:t>50x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</a:rPr>
                        <a:t>60x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70x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2648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Exit Share Price (₹)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8,671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12,387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14,864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17,341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6223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Cumulative Dividends/Sh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₹121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₹121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₹121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₹121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3776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MOIC (x)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3.7x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</a:rPr>
                        <a:t>5.3x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</a:rPr>
                        <a:t>6.4x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7.4x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72643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IRR (%)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14.1%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</a:rPr>
                        <a:t>18.2%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</a:rPr>
                        <a:t>20.4%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22.2%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469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766C3D-79DC-42AD-BB70-A278253FD667}"/>
              </a:ext>
            </a:extLst>
          </p:cNvPr>
          <p:cNvSpPr txBox="1"/>
          <p:nvPr/>
        </p:nvSpPr>
        <p:spPr>
          <a:xfrm>
            <a:off x="635000" y="4165600"/>
            <a:ext cx="78740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KEY SENSITIVITY: Returns are highly sensitive to exit multiple. At 35x P/E (bear), IRR drops to 14.1% — acceptable but not compelling. At CMP entry of ₹2,350, </a:t>
            </a:r>
            <a:r>
              <a:rPr lang="en-US" sz="900" dirty="0" err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wwe</a:t>
            </a:r>
            <a:r>
              <a:rPr lang="en-US" sz="900" dirty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would need the market to sustain 50x+ exit P/E to generate 18%+ IRR. This is the single biggest risk in this investment.</a:t>
            </a:r>
            <a:endParaRPr lang="en-IN" sz="900" dirty="0">
              <a:solidFill>
                <a:srgbClr val="E2E8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164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78A406-BEBB-4EAA-B048-9014201E4E94}"/>
              </a:ext>
            </a:extLst>
          </p:cNvPr>
          <p:cNvSpPr/>
          <p:nvPr/>
        </p:nvSpPr>
        <p:spPr>
          <a:xfrm>
            <a:off x="546100" y="3886200"/>
            <a:ext cx="8051800" cy="736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 SENSITIVITY — ENTRY P/E vs EXIT P/E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projected IRR across entry P/E multiples (rows) and exit P/E multiples (columns)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B37A61-074C-4A07-A158-96A037E6E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299544"/>
              </p:ext>
            </p:extLst>
          </p:nvPr>
        </p:nvGraphicFramePr>
        <p:xfrm>
          <a:off x="546100" y="990600"/>
          <a:ext cx="8051796" cy="25400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3313449281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669262463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4257533346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1389241953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1066120976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2650294833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2315402116"/>
                    </a:ext>
                  </a:extLst>
                </a:gridCol>
                <a:gridCol w="905328">
                  <a:extLst>
                    <a:ext uri="{9D8B030D-6E8A-4147-A177-3AD203B41FA5}">
                      <a16:colId xmlns:a16="http://schemas.microsoft.com/office/drawing/2014/main" val="232190653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Entry P/E ↓ \ Exit P/E →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35x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40x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50x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55x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60x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65x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70x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676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54x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14.9%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16.4%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19.0%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21.2%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22.1%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23.0%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0162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57x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9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14.3%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15.8%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18.4%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19.5%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20.5%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21.5%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22.4%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935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60x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13.7%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15.2%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17.8%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18.9%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19.9%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20.9%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21.7%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28708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63x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13.1%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14.6%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18.3%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19.3%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20.3%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21.2%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97343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66x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12.6%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14.1%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18.8%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042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69x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12.1%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13.6%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16.1%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19.2%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20.1%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0618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72x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11.6%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13.1%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15.6%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16.7%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17.7%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18.7%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19.5%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9095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84D1481-E1CC-4C35-8395-D185D8EADC39}"/>
              </a:ext>
            </a:extLst>
          </p:cNvPr>
          <p:cNvSpPr/>
          <p:nvPr/>
        </p:nvSpPr>
        <p:spPr>
          <a:xfrm>
            <a:off x="698500" y="3632200"/>
            <a:ext cx="152400" cy="152400"/>
          </a:xfrm>
          <a:prstGeom prst="rect">
            <a:avLst/>
          </a:prstGeom>
          <a:solidFill>
            <a:srgbClr val="DCEDC8"/>
          </a:solidFill>
          <a:ln w="63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F4DD37-4451-4EBB-B757-ADD0AB91F6B9}"/>
              </a:ext>
            </a:extLst>
          </p:cNvPr>
          <p:cNvSpPr txBox="1"/>
          <p:nvPr/>
        </p:nvSpPr>
        <p:spPr>
          <a:xfrm>
            <a:off x="901700" y="361950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20%+ IRR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E0C452-9E47-4AB4-A10C-A8200537ED2C}"/>
              </a:ext>
            </a:extLst>
          </p:cNvPr>
          <p:cNvSpPr/>
          <p:nvPr/>
        </p:nvSpPr>
        <p:spPr>
          <a:xfrm>
            <a:off x="2286000" y="3632200"/>
            <a:ext cx="152400" cy="152400"/>
          </a:xfrm>
          <a:prstGeom prst="rect">
            <a:avLst/>
          </a:prstGeom>
          <a:solidFill>
            <a:srgbClr val="F1F8E9"/>
          </a:solidFill>
          <a:ln w="63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A29176-8C78-4296-BC84-690C2BA3BFE5}"/>
              </a:ext>
            </a:extLst>
          </p:cNvPr>
          <p:cNvSpPr txBox="1"/>
          <p:nvPr/>
        </p:nvSpPr>
        <p:spPr>
          <a:xfrm>
            <a:off x="2489200" y="361950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18-20%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A65E3D-CDB2-4D54-87E9-0B2A337966A2}"/>
              </a:ext>
            </a:extLst>
          </p:cNvPr>
          <p:cNvSpPr/>
          <p:nvPr/>
        </p:nvSpPr>
        <p:spPr>
          <a:xfrm>
            <a:off x="3873500" y="3632200"/>
            <a:ext cx="152400" cy="152400"/>
          </a:xfrm>
          <a:prstGeom prst="rect">
            <a:avLst/>
          </a:prstGeom>
          <a:solidFill>
            <a:srgbClr val="FFF9C4"/>
          </a:solidFill>
          <a:ln w="63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2A502B-B93F-41CB-9687-9EF9F54B0E65}"/>
              </a:ext>
            </a:extLst>
          </p:cNvPr>
          <p:cNvSpPr txBox="1"/>
          <p:nvPr/>
        </p:nvSpPr>
        <p:spPr>
          <a:xfrm>
            <a:off x="4076700" y="361950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15-18%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C8F4B9-68BD-4964-8587-C55AD3B06F85}"/>
              </a:ext>
            </a:extLst>
          </p:cNvPr>
          <p:cNvSpPr/>
          <p:nvPr/>
        </p:nvSpPr>
        <p:spPr>
          <a:xfrm>
            <a:off x="5461000" y="3632200"/>
            <a:ext cx="152400" cy="152400"/>
          </a:xfrm>
          <a:prstGeom prst="rect">
            <a:avLst/>
          </a:prstGeom>
          <a:solidFill>
            <a:srgbClr val="FFEBEE"/>
          </a:solidFill>
          <a:ln w="63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E8ED07-995D-482F-86C6-BF468D88A525}"/>
              </a:ext>
            </a:extLst>
          </p:cNvPr>
          <p:cNvSpPr txBox="1"/>
          <p:nvPr/>
        </p:nvSpPr>
        <p:spPr>
          <a:xfrm>
            <a:off x="5664200" y="361950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&lt;15%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828407-525E-405B-9467-7C78C5C0BA50}"/>
              </a:ext>
            </a:extLst>
          </p:cNvPr>
          <p:cNvSpPr/>
          <p:nvPr/>
        </p:nvSpPr>
        <p:spPr>
          <a:xfrm>
            <a:off x="7048500" y="3632200"/>
            <a:ext cx="152400" cy="152400"/>
          </a:xfrm>
          <a:prstGeom prst="rect">
            <a:avLst/>
          </a:prstGeom>
          <a:solidFill>
            <a:srgbClr val="C8A951"/>
          </a:solidFill>
          <a:ln w="63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0C019E-1FE4-4E3C-816E-CED3A393A6D5}"/>
              </a:ext>
            </a:extLst>
          </p:cNvPr>
          <p:cNvSpPr txBox="1"/>
          <p:nvPr/>
        </p:nvSpPr>
        <p:spPr>
          <a:xfrm>
            <a:off x="7251700" y="3619500"/>
            <a:ext cx="1333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Current Entry (~58x)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A698A2-1DAC-4DF7-AF1D-06727870FB2C}"/>
              </a:ext>
            </a:extLst>
          </p:cNvPr>
          <p:cNvSpPr txBox="1"/>
          <p:nvPr/>
        </p:nvSpPr>
        <p:spPr>
          <a:xfrm>
            <a:off x="635000" y="3937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At ~58x entry P/E, base case (50x exit) delivers 18.2% IRR. But if the exit multiple compresses to 35x (stationery-peer level), IRR drops to ~14%. This is a tolerable downside given the earnings growth trajectory, but demonstrates the importance of DOMS sustaining its premium multiple re-rating.</a:t>
            </a:r>
            <a:endParaRPr lang="en-IN" sz="900">
              <a:solidFill>
                <a:srgbClr val="E2E8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28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INVESTMENT RISKS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risks with severity assessment and mitigants -- what could break the thesis?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87552"/>
            <a:ext cx="8138160" cy="2560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87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34640" y="987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66160" y="987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801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valuation — 63x P/E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80360" y="1371600"/>
            <a:ext cx="54864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3716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66160" y="1280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CAGR 20%+ compresses forward P/E rapidly. FY27E P/E ~46x. Entire return from EPS growth, not multiple expansion.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719072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719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pencil concentration (~32% of mix)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80360" y="1810512"/>
            <a:ext cx="54864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1810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66160" y="17190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share of mix. Pens, office supplies, hobby growing faster. Capacity expansion ensures volume hold while mix shifts.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157984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1579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inflation (polymers, wood, waxes)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80360" y="2249424"/>
            <a:ext cx="54864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2494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66160" y="215798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 manufacturing absorbs cost. Pricing power via branded products. EBITDA floor guided at 16.5-17.5%.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596896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5968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Uniclan integration / hygiene margin risk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2688336"/>
            <a:ext cx="54864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2688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566160" y="25968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contributing revenue. EBITDA margins stabilizing at 7.5-8%. Leverages existing 145K-outlet distribution network.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3035808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promoter stake dilution (now ~26%)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80360" y="3127248"/>
            <a:ext cx="548640" cy="237744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880360" y="31272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66160" y="3035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committed long-term. 90-day lock-up post Dec 2024 sale. Still largest single shareholder. Strategic, not financial investor.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4747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44-acre facility execution risk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80360" y="3566160"/>
            <a:ext cx="54864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880360" y="35661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66160" y="34747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monsoon delays absorbed. Management has on-time track record. First buildings completing Q1 FY27.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13632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9136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Kokuyo, Flair, Linc-Mitsubishi JV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80360" y="4005072"/>
            <a:ext cx="54864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4005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566160" y="391363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Kokuyo struggling (negative PAT). Flair is pen-focused. Linc-Mitsubishi JV is nascent. DOMS is fastest-growing player.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89288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CREATION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Phi buys this business, what do we actually do? Operational levers for 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10515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SKU Rationalization &amp; Pricing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bottom 15-20% of 3,770+ SKUs (low-margin, low-velocity). Redirect capacity to premium kits, office, and art segments. Implement tiered pricing architecture to capture premiumization.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05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Procurement &amp; Margin Improvement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raw material procurement across DOMS + Uniclan + Seven JV. Negotiate better terms on polymers/waxes at combined scale. Target 200-300 bps EBITDA uplift over 3 years.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48840"/>
            <a:ext cx="54864" cy="10515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Export Scaling via FILA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FILA distribution terms to push export share from 12% to 18%+ of revenue. Target direct-to-retail in 5-6 key markets. Build dedicated export manufacturing line at new facility.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48840"/>
            <a:ext cx="54864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194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Channel Mix Optimization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modern trade + e-commerce from ~25% to 35%+ (higher margin). Build D2C presence via domsindia.com. Create B2B corporate gifting vertical (kits, branded stationery).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54864" cy="10515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Working Capital Tightening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cash conversion cycle from 46 to 30 days by FY30. Improve payable days (38 → 50+) through supplier consolidation. Target: release ₹100-150 Cr trapped working capital.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3375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37560"/>
            <a:ext cx="54864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383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Governance &amp; Board Upgrade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independent board with FMCG / consumer brand expertise. Formalize management succession plan beyond founder (Santosh Raveshia). Install KPI-driven incentive structure.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04051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 FOCUS AREAS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workstreams before IC approval -- commercial, financial, and governance DD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87552"/>
            <a:ext cx="8138160" cy="2560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Area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51760" y="987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0" y="987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801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Relationship &amp; Export Strategy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64008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371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74720" y="12801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FILA's commitment post-26% stake? Export revenue guarantees under distribution agreement? Risk if FILA divests entirely?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719072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7190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Umbergaon Facility 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97480" y="1810512"/>
            <a:ext cx="6400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18105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74720" y="17190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 of construction. % capacity contracted to customers? Ramp-up timeline: Q2 FY27 start → full by when?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157984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1579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Uniclan Integration &amp; Margins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97480" y="2249424"/>
            <a:ext cx="6400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22494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74720" y="21579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EBITDA trajectory (7.5-8% guided). Competitive intensity vs. Pampers/Huggies. Wowper brand positioning?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596896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5968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Network Depth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2688336"/>
            <a:ext cx="6400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2688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74720" y="25968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verify 145K outlet claim. Throughput per outlet? Overlap with Uniclan? Exclusive vs. multi-brand mix?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3035808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035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FILA-DOMS Transfer Pricing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97480" y="3127248"/>
            <a:ext cx="6400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31272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74720" y="303580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pricing on exports — are margins fair? Is DOMS getting full economic benefit or is value being extracted to FILA?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81381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474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Sourcing &amp; WC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97480" y="3566160"/>
            <a:ext cx="640080" cy="237744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566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474720" y="3474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backward integration claims. % raw materials in-house vs. sourced? Channel stuffing checks on receivables.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13632"/>
            <a:ext cx="813816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9136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Depth &amp; Succession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97480" y="4005072"/>
            <a:ext cx="640080" cy="237744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697480" y="4005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474720" y="39136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bench depth post-founder. CFO Rahul Shah credibility. Succession plan for MD Santosh Raveshia?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975952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CREDIBILITY - WALK THE TALK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58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606040" y="658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17720" y="658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29400" y="658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932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 Growth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932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932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29400" y="932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170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EBITDA Margin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170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16.5-17.5%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170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9400" y="1170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9M Revenue Growth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Target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 outlets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1883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PAT CAGR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1883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1883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29400" y="1883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VERDICT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solidFill>
            <a:srgbClr val="162C4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7889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CMP of ~₹2,350, DOMS trades at ~63x TTM P/E; optically expensive.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8D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on FY27E earnings (post-capacity ramp), forward P/E compresses to ~46x; in line with premium consumer franchises growing 20%+ (Pidilite, Asian Paints in their growth phases). The entire return is underwritten by earnings growth, not multiple expansion.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IRR of ~18% over a 10-year hold (5.3x MOIC) with multiple compression already baked in.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 at or below ₹2,400/share, subject to completion of DD workstreams on FILA relationship, facility progress, and distribution channel checks.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Vijay  |  IC Presentation  |  February 2026  |  Private &amp; Confidential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513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A3FF13-490B-44C0-9B2E-BE28928AB625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2926</Words>
  <Application>Microsoft Office PowerPoint</Application>
  <PresentationFormat>On-screen Show (16:9)</PresentationFormat>
  <Paragraphs>509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DOMS Industries — IC Presentation | Phi Capital</dc:title>
  <dc:subject>PptxGenJS Presentation</dc:subject>
  <dc:creator>Harsh Vijay</dc:creator>
  <cp:lastModifiedBy>Harsh Vijay</cp:lastModifiedBy>
  <cp:revision>4</cp:revision>
  <dcterms:created xsi:type="dcterms:W3CDTF">2026-02-27T17:47:33Z</dcterms:created>
  <dcterms:modified xsi:type="dcterms:W3CDTF">2026-02-28T04:48:23Z</dcterms:modified>
</cp:coreProperties>
</file>