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80" r:id="rId2"/>
    <p:sldId id="282" r:id="rId3"/>
    <p:sldId id="287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6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Income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  <c:pt idx="9">
                  <c:v>FY31E</c:v>
                </c:pt>
                <c:pt idx="10">
                  <c:v>FY32E</c:v>
                </c:pt>
                <c:pt idx="11">
                  <c:v>FY33E</c:v>
                </c:pt>
                <c:pt idx="12">
                  <c:v>FY34E</c:v>
                </c:pt>
                <c:pt idx="13">
                  <c:v>FY35E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8.51</c:v>
                </c:pt>
                <c:pt idx="1">
                  <c:v>11.55</c:v>
                </c:pt>
                <c:pt idx="2">
                  <c:v>13.36</c:v>
                </c:pt>
                <c:pt idx="3">
                  <c:v>21.63</c:v>
                </c:pt>
                <c:pt idx="4">
                  <c:v>34.1</c:v>
                </c:pt>
                <c:pt idx="5">
                  <c:v>56.63</c:v>
                </c:pt>
                <c:pt idx="6">
                  <c:v>75.099999999999994</c:v>
                </c:pt>
                <c:pt idx="7">
                  <c:v>95.16</c:v>
                </c:pt>
                <c:pt idx="8">
                  <c:v>112.15</c:v>
                </c:pt>
                <c:pt idx="9">
                  <c:v>132.27000000000001</c:v>
                </c:pt>
                <c:pt idx="10">
                  <c:v>155.74</c:v>
                </c:pt>
                <c:pt idx="11">
                  <c:v>186.5</c:v>
                </c:pt>
                <c:pt idx="12">
                  <c:v>213.09</c:v>
                </c:pt>
                <c:pt idx="13">
                  <c:v>239.08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59-4CAE-AF98-DDC2DD7C33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rgbClr val="064E3B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  <c:pt idx="9">
                  <c:v>FY31E</c:v>
                </c:pt>
                <c:pt idx="10">
                  <c:v>FY32E</c:v>
                </c:pt>
                <c:pt idx="11">
                  <c:v>FY33E</c:v>
                </c:pt>
                <c:pt idx="12">
                  <c:v>FY34E</c:v>
                </c:pt>
                <c:pt idx="13">
                  <c:v>FY35E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2.48</c:v>
                </c:pt>
                <c:pt idx="1">
                  <c:v>3.46</c:v>
                </c:pt>
                <c:pt idx="2">
                  <c:v>4.18</c:v>
                </c:pt>
                <c:pt idx="3">
                  <c:v>8.68</c:v>
                </c:pt>
                <c:pt idx="4">
                  <c:v>17.48</c:v>
                </c:pt>
                <c:pt idx="5">
                  <c:v>32.25</c:v>
                </c:pt>
                <c:pt idx="6">
                  <c:v>42.22</c:v>
                </c:pt>
                <c:pt idx="7">
                  <c:v>52.76</c:v>
                </c:pt>
                <c:pt idx="8">
                  <c:v>60.95</c:v>
                </c:pt>
                <c:pt idx="9">
                  <c:v>70.959999999999994</c:v>
                </c:pt>
                <c:pt idx="10">
                  <c:v>82.56</c:v>
                </c:pt>
                <c:pt idx="11">
                  <c:v>98.23</c:v>
                </c:pt>
                <c:pt idx="12">
                  <c:v>110.77</c:v>
                </c:pt>
                <c:pt idx="13">
                  <c:v>122.56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59-4CAE-AF98-DDC2DD7C33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</c:v>
                </c:pt>
              </c:strCache>
            </c:strRef>
          </c:tx>
          <c:spPr>
            <a:ln w="3175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FY22</c:v>
                </c:pt>
                <c:pt idx="1">
                  <c:v>FY23</c:v>
                </c:pt>
                <c:pt idx="2">
                  <c:v>FY24</c:v>
                </c:pt>
                <c:pt idx="3">
                  <c:v>FY25</c:v>
                </c:pt>
                <c:pt idx="4">
                  <c:v>FY26E</c:v>
                </c:pt>
                <c:pt idx="5">
                  <c:v>FY27E</c:v>
                </c:pt>
                <c:pt idx="6">
                  <c:v>FY28E</c:v>
                </c:pt>
                <c:pt idx="7">
                  <c:v>FY29E</c:v>
                </c:pt>
                <c:pt idx="8">
                  <c:v>FY30E</c:v>
                </c:pt>
                <c:pt idx="9">
                  <c:v>FY31E</c:v>
                </c:pt>
                <c:pt idx="10">
                  <c:v>FY32E</c:v>
                </c:pt>
                <c:pt idx="11">
                  <c:v>FY33E</c:v>
                </c:pt>
                <c:pt idx="12">
                  <c:v>FY34E</c:v>
                </c:pt>
                <c:pt idx="13">
                  <c:v>FY35E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42.01</c:v>
                </c:pt>
                <c:pt idx="1">
                  <c:v>44.28</c:v>
                </c:pt>
                <c:pt idx="2">
                  <c:v>55.04</c:v>
                </c:pt>
                <c:pt idx="3">
                  <c:v>80.69</c:v>
                </c:pt>
                <c:pt idx="4">
                  <c:v>95</c:v>
                </c:pt>
                <c:pt idx="5">
                  <c:v>135</c:v>
                </c:pt>
                <c:pt idx="6">
                  <c:v>185</c:v>
                </c:pt>
                <c:pt idx="7">
                  <c:v>245</c:v>
                </c:pt>
                <c:pt idx="8">
                  <c:v>310</c:v>
                </c:pt>
                <c:pt idx="9">
                  <c:v>370</c:v>
                </c:pt>
                <c:pt idx="10">
                  <c:v>430</c:v>
                </c:pt>
                <c:pt idx="11">
                  <c:v>530</c:v>
                </c:pt>
                <c:pt idx="12">
                  <c:v>640</c:v>
                </c:pt>
                <c:pt idx="13">
                  <c:v>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E3-4A82-A8E6-3A08DB74D2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274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1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45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OVERVIEW &amp; SECTOR TAILWINDS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NBFC &amp; Earned Wage Access (EWA) Landscape  |  March 2026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20040" y="960120"/>
            <a:ext cx="4023360" cy="274320"/>
          </a:xfrm>
          <a:prstGeom prst="rect">
            <a:avLst/>
          </a:prstGeom>
          <a:solidFill>
            <a:srgbClr val="1A3F2B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NBFC SECTOR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13075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RBI's Scale-Based Regulation (SBR) framework categorises NBFCs into Base/Middle/Upper/Top layers. Emerald sits in the Base Layer with minimal regulatory burden and maximum operating flexibility.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365760" y="18745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eased DLG (Default Loss Guarantee) norms in early 2026, reversing the strict May 2025 stance, a direct positive for NBFC-fintech partnerships and digital lending economics.</a:t>
            </a:r>
            <a:endParaRPr lang="en-US" sz="780" dirty="0"/>
          </a:p>
        </p:txBody>
      </p:sp>
      <p:sp>
        <p:nvSpPr>
          <p:cNvPr id="10" name="Text 7"/>
          <p:cNvSpPr/>
          <p:nvPr/>
        </p:nvSpPr>
        <p:spPr>
          <a:xfrm>
            <a:off x="365760" y="24414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volumes surpassed 180 billion transactions in FY25 (RBI data). Embedded lending on UPI/fintech rails is the next wave of credit penetration across India.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365760" y="300837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NBFC credit to MSMEs &amp; retail growing at ~15-18% CAGR. System-wide GNPA below 4%. RBI's ECL guidelines (effective Apr 2025) reward well-capitalised, low-NPA players.</a:t>
            </a:r>
            <a:endParaRPr lang="en-US" sz="780" dirty="0"/>
          </a:p>
        </p:txBody>
      </p:sp>
      <p:sp>
        <p:nvSpPr>
          <p:cNvPr id="12" name="Text 9"/>
          <p:cNvSpPr/>
          <p:nvPr/>
        </p:nvSpPr>
        <p:spPr>
          <a:xfrm>
            <a:off x="365760" y="35753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+ digital lending directions create compliance moats. Disciplined NBFCs like Emerald with tech-first models and clean books are best positioned to capture market share.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4709160" y="960120"/>
            <a:ext cx="4023360" cy="274320"/>
          </a:xfrm>
          <a:prstGeom prst="rect">
            <a:avLst/>
          </a:prstGeom>
          <a:solidFill>
            <a:srgbClr val="1A3F2B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WAGE ACCESS (EWA) — CORE OPPORTUNITY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754880" y="13075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EWA market valued at ~$1.6-2.8B in 2024, projected to grow at 18-25% CAGR through 2033. Asia-Pacific is the fastest growing region at ~27% CAGR driven by India, Indonesia, and the Philippines.</a:t>
            </a:r>
            <a:endParaRPr lang="en-US" sz="780" dirty="0"/>
          </a:p>
        </p:txBody>
      </p:sp>
      <p:sp>
        <p:nvSpPr>
          <p:cNvPr id="16" name="Text 13"/>
          <p:cNvSpPr/>
          <p:nvPr/>
        </p:nvSpPr>
        <p:spPr>
          <a:xfrm>
            <a:off x="4754880" y="18745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uniquely positioned: 450M+ salaried/gig workforce, UPI infrastructure, Aadhaar-linked payroll verification. EWA penetration remains under 2% of eligible employers, presenting massive whitespace.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754880" y="24414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employees using EWA report reduced financial stress (PwC). Employers report 15-25% reduction in attrition, a compelling B2B2C value proposition for corporate HR departments.</a:t>
            </a:r>
            <a:endParaRPr lang="en-US" sz="780" dirty="0"/>
          </a:p>
        </p:txBody>
      </p:sp>
      <p:sp>
        <p:nvSpPr>
          <p:cNvPr id="18" name="Text 15"/>
          <p:cNvSpPr/>
          <p:nvPr/>
        </p:nvSpPr>
        <p:spPr>
          <a:xfrm>
            <a:off x="4754880" y="300837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clarity improving: RBI's digital lending framework accommodates salary-linked EWA models with payroll-deducted recovery. Structurally lower regulatory risk vs. unsecured consumer micro-lending.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4754880" y="357530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5000"/>
              </a:lnSpc>
              <a:buSzPct val="100000"/>
              <a:buChar char="●"/>
            </a:pPr>
            <a:r>
              <a:rPr lang="en-US" sz="78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Emerald's 30-day salary-linked cycle with employer payroll deduction yields near-zero credit risk at IRR of 20-22%. This is a structurally superior model to unsecured micro-loans or payday lending.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20040" y="4224528"/>
            <a:ext cx="1965960" cy="43891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3192" y="4224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180B+  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Txns FY25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514600" y="4224528"/>
            <a:ext cx="1965960" cy="43891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587752" y="4224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 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 CAGR (APAC)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709160" y="4224528"/>
            <a:ext cx="1965960" cy="43891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82312" y="4224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  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EWA Penetration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03720" y="4224528"/>
            <a:ext cx="1965960" cy="438912"/>
          </a:xfrm>
          <a:prstGeom prst="rect">
            <a:avLst/>
          </a:prstGeom>
          <a:solidFill>
            <a:srgbClr val="ECFDF5"/>
          </a:solidFill>
          <a:ln w="9525">
            <a:solidFill>
              <a:srgbClr val="A7F3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976872" y="42245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BBB-  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CRISIL Rating (Emerald)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4E3B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9" name="Text 26"/>
          <p:cNvSpPr/>
          <p:nvPr/>
        </p:nvSpPr>
        <p:spPr>
          <a:xfrm>
            <a:off x="457200" y="48188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Finance Ltd (BSE: 538882)  |  Investment Pitch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8229600" y="48188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1/3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382978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1E"/>
          </a:solidFill>
          <a:ln/>
        </p:spPr>
      </p:sp>
      <p:sp>
        <p:nvSpPr>
          <p:cNvPr id="4" name="Text 1"/>
          <p:cNvSpPr/>
          <p:nvPr/>
        </p:nvSpPr>
        <p:spPr>
          <a:xfrm>
            <a:off x="868680" y="45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 —  EMERALD FINANCE LTD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" y="4754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BSE: 538882  |  NBFC (RBI Registered)  |  CMP ~₹52  |  MCap ~₹179 Cr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3977640" cy="256032"/>
          </a:xfrm>
          <a:prstGeom prst="rect">
            <a:avLst/>
          </a:prstGeom>
          <a:solidFill>
            <a:srgbClr val="1A3F2B"/>
          </a:solidFill>
          <a:ln/>
        </p:spPr>
      </p:sp>
      <p:sp>
        <p:nvSpPr>
          <p:cNvPr id="7" name="Text 4"/>
          <p:cNvSpPr/>
          <p:nvPr/>
        </p:nvSpPr>
        <p:spPr>
          <a:xfrm>
            <a:off x="411480" y="9144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SNAPSHOT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2000"/>
              </a:lnSpc>
              <a:buSzPct val="100000"/>
              <a:buChar char="●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Chandigarh-based NBFC (inc. 1983); RBI licence since 2018. Asset-light, tech-driven lending model with in-house 5-person IT team.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65760" y="16002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2000"/>
              </a:lnSpc>
              <a:buSzPct val="100000"/>
              <a:buChar char="●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Product: Earned Wage Access (EWA) — 30-day salary-linked microloans via mobile app + WhatsApp; payroll-deducted recovery.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65760" y="19659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2000"/>
              </a:lnSpc>
              <a:buSzPct val="100000"/>
              <a:buChar char="●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revenue streams: EWA interest/fees, NBFC lending (personal &amp; business loans), gold loan syndication (DSA for 40+ FIs), invoice discounting (via Petty Ltd, Singapore JV).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65760" y="23317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2000"/>
              </a:lnSpc>
              <a:buSzPct val="100000"/>
              <a:buChar char="●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corporates on EWA platform by 9M FY26; targeting ~220 by FY26E and 320+ by FY27E. Quality-over-quantity pivot slowing onboarding pace vs. original 250 target.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65760" y="26974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2000"/>
              </a:lnSpc>
              <a:buSzPct val="100000"/>
              <a:buChar char="●"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 investor base: Minerva Ventures (FPI), ex-KPMG partners, top CFOs. Promoter holding ~59.5%. CRISIL BBB- rating.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709160" y="914400"/>
            <a:ext cx="4114800" cy="256032"/>
          </a:xfrm>
          <a:prstGeom prst="rect">
            <a:avLst/>
          </a:prstGeom>
          <a:solidFill>
            <a:srgbClr val="1A3F2B"/>
          </a:solidFill>
          <a:ln/>
        </p:spPr>
      </p:sp>
      <p:sp>
        <p:nvSpPr>
          <p:cNvPr id="14" name="Text 11"/>
          <p:cNvSpPr/>
          <p:nvPr/>
        </p:nvSpPr>
        <p:spPr>
          <a:xfrm>
            <a:off x="4800600" y="914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HIGHLIGHTS (₹ Cr)</a:t>
            </a:r>
            <a:endParaRPr lang="en-US" sz="9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602167"/>
              </p:ext>
            </p:extLst>
          </p:nvPr>
        </p:nvGraphicFramePr>
        <p:xfrm>
          <a:off x="4709160" y="1216152"/>
          <a:ext cx="4107180" cy="24612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FY30E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FY35E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Income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(PAT)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 Margin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(₹)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 (Loan Book)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Debt/Equity (x)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NPA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 (₹/sh)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365760" y="3035808"/>
            <a:ext cx="3977640" cy="237744"/>
          </a:xfrm>
          <a:prstGeom prst="rect">
            <a:avLst/>
          </a:prstGeom>
          <a:solidFill>
            <a:srgbClr val="1A3F2B"/>
          </a:solidFill>
          <a:ln/>
        </p:spPr>
      </p:sp>
      <p:sp>
        <p:nvSpPr>
          <p:cNvPr id="17" name="Text 13"/>
          <p:cNvSpPr/>
          <p:nvPr/>
        </p:nvSpPr>
        <p:spPr>
          <a:xfrm>
            <a:off x="411480" y="3037332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PAT TRAJECTORY (₹ Cr)</a:t>
            </a:r>
            <a:endParaRPr lang="en-US" sz="90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1077352730"/>
              </p:ext>
            </p:extLst>
          </p:nvPr>
        </p:nvGraphicFramePr>
        <p:xfrm>
          <a:off x="320040" y="3291840"/>
          <a:ext cx="397764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4"/>
          <p:cNvSpPr/>
          <p:nvPr/>
        </p:nvSpPr>
        <p:spPr>
          <a:xfrm>
            <a:off x="4724400" y="3474720"/>
            <a:ext cx="4114800" cy="237744"/>
          </a:xfrm>
          <a:prstGeom prst="rect">
            <a:avLst/>
          </a:prstGeom>
          <a:solidFill>
            <a:srgbClr val="1A3F2B"/>
          </a:solidFill>
          <a:ln/>
        </p:spPr>
      </p:sp>
      <p:sp>
        <p:nvSpPr>
          <p:cNvPr id="20" name="Text 15"/>
          <p:cNvSpPr/>
          <p:nvPr/>
        </p:nvSpPr>
        <p:spPr>
          <a:xfrm>
            <a:off x="4800600" y="34823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/ LOAN BOOK GROWTH (₹ Cr)</a:t>
            </a:r>
            <a:endParaRPr lang="en-US" sz="900" dirty="0"/>
          </a:p>
        </p:txBody>
      </p:sp>
      <p:graphicFrame>
        <p:nvGraphicFramePr>
          <p:cNvPr id="21" name="Chart 1"/>
          <p:cNvGraphicFramePr/>
          <p:nvPr>
            <p:extLst>
              <p:ext uri="{D42A27DB-BD31-4B8C-83A1-F6EECF244321}">
                <p14:modId xmlns:p14="http://schemas.microsoft.com/office/powerpoint/2010/main" val="3256913762"/>
              </p:ext>
            </p:extLst>
          </p:nvPr>
        </p:nvGraphicFramePr>
        <p:xfrm>
          <a:off x="4709160" y="3712464"/>
          <a:ext cx="411480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23" name="Text 17"/>
          <p:cNvSpPr/>
          <p:nvPr/>
        </p:nvSpPr>
        <p:spPr>
          <a:xfrm>
            <a:off x="457200" y="48188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7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Finance Ltd (BSE: 538882)  |  Investment Pitch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8229600" y="48188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750" dirty="0"/>
          </a:p>
        </p:txBody>
      </p:sp>
      <p:pic>
        <p:nvPicPr>
          <p:cNvPr id="1026" name="Picture 2" descr="Emerald Finance Limited Stock (EMERALD6) - Quote Bombay S.E. ...">
            <a:extLst>
              <a:ext uri="{FF2B5EF4-FFF2-40B4-BE49-F238E27FC236}">
                <a16:creationId xmlns:a16="http://schemas.microsoft.com/office/drawing/2014/main" id="{4335196B-69DE-6C44-AE42-594D35090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" y="163023"/>
            <a:ext cx="511388" cy="511388"/>
          </a:xfrm>
          <a:prstGeom prst="rect">
            <a:avLst/>
          </a:prstGeom>
          <a:solidFill>
            <a:srgbClr val="0F2B1E"/>
          </a:solidFill>
        </p:spPr>
      </p:pic>
    </p:spTree>
    <p:extLst>
      <p:ext uri="{BB962C8B-B14F-4D97-AF65-F5344CB8AC3E}">
        <p14:creationId xmlns:p14="http://schemas.microsoft.com/office/powerpoint/2010/main" val="3196355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B1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544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45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 &amp; VALUATION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68680" y="4754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Rating: BUY  |  CMP: ~₹52  |  Blended Target: ₹112.55  |  Underpriced by ~54% from its Intrinsic/Blended Fair value. 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20040" y="914400"/>
            <a:ext cx="4023360" cy="256032"/>
          </a:xfrm>
          <a:prstGeom prst="rect">
            <a:avLst/>
          </a:prstGeom>
          <a:solidFill>
            <a:srgbClr val="064E3B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" y="941832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9144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PRICING — WHERE THE STOCK TRADES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20040" y="1170432"/>
            <a:ext cx="4023360" cy="1527048"/>
          </a:xfrm>
          <a:prstGeom prst="rect">
            <a:avLst/>
          </a:prstGeom>
          <a:solidFill>
            <a:srgbClr val="FFFFFF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3192" y="1225296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CMP: ~₹52  |  Market Cap: ~₹179 Cr  |  52W Range: ₹51 – ₹168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393192" y="1463040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P/E (TTM): ~20.6x  |  P/B: ~2.1x  |  Shares Outstanding: 3.45 Cr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393192" y="1700784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EPS ₹2.52: CMP implies market is pricing in ~20.6x FY25 earnings, deeply undervalued for a 100%+ PAT grower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393192" y="19385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corrected ~69% from 52W high (₹168). De-rating driven by broader SME-NBFC selloff + structural illiquidity, not fundamental deterioration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393192" y="2176272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BSE-only listing, limited free float (~40%), daily volumes sub-₹1 Cr = institutional-grade liquidity discount vs. intrinsic value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93192" y="2414016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valuation at massive discount to blended fair value (₹112.55). BUY rating with 116.4% upside — asymmetric risk/reward</a:t>
            </a:r>
            <a:endParaRPr lang="en-US" sz="700" dirty="0"/>
          </a:p>
        </p:txBody>
      </p:sp>
      <p:sp>
        <p:nvSpPr>
          <p:cNvPr id="16" name="Shape 12"/>
          <p:cNvSpPr/>
          <p:nvPr/>
        </p:nvSpPr>
        <p:spPr>
          <a:xfrm>
            <a:off x="4754880" y="914400"/>
            <a:ext cx="4023360" cy="256032"/>
          </a:xfrm>
          <a:prstGeom prst="rect">
            <a:avLst/>
          </a:prstGeom>
          <a:solidFill>
            <a:srgbClr val="064E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94183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91440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PRICING — TARGET &amp; UPSIDE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754880" y="1170432"/>
            <a:ext cx="4023360" cy="1527048"/>
          </a:xfrm>
          <a:prstGeom prst="rect">
            <a:avLst/>
          </a:prstGeom>
          <a:solidFill>
            <a:srgbClr val="FFFFFF"/>
          </a:solidFill>
          <a:ln w="6350">
            <a:solidFill>
              <a:srgbClr val="A7F3D0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607226"/>
              </p:ext>
            </p:extLst>
          </p:nvPr>
        </p:nvGraphicFramePr>
        <p:xfrm>
          <a:off x="4809744" y="1188212"/>
          <a:ext cx="3758184" cy="1277112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6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(₹)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Driver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Income (10-yr)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₹62.02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FY26-35E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earnings + excess ROE (30% </a:t>
                      </a:r>
                      <a:r>
                        <a:rPr lang="en-US" sz="680" dirty="0" err="1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r>
                        <a:rPr lang="en-US" sz="68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DCF - FCFE (10-yr)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₹111.22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FY26-35E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leverage = more cash to equity (30% wt)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P/E (FY27E × 20)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₹186.96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1-yr fwd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 growth + EWA moat re-rating (20% wt)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P/B (FY27E × 3)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₹115.94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1-yr fwd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ROE supports premium P/B (20% </a:t>
                      </a:r>
                      <a:r>
                        <a:rPr lang="en-US" sz="680" dirty="0" err="1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</a:t>
                      </a:r>
                      <a:r>
                        <a:rPr lang="en-US" sz="68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Fair Value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 b="1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₹112.55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8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Wtd avg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68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 — 116.4% upside from CMP ₹52</a:t>
                      </a:r>
                      <a:endParaRPr lang="en-US" sz="6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A7F3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4818888" y="2482596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7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</a:t>
            </a: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upside (~116% to blended ₹112.55). If FY27E EPS of ₹9.35 materialises and market assigns 20x P/E, stock re-rates to ₹187. BUY with strong conviction at CMP ₹52.</a:t>
            </a:r>
            <a:endParaRPr lang="en-US" sz="700" dirty="0"/>
          </a:p>
        </p:txBody>
      </p:sp>
      <p:sp>
        <p:nvSpPr>
          <p:cNvPr id="22" name="Shape 16"/>
          <p:cNvSpPr/>
          <p:nvPr/>
        </p:nvSpPr>
        <p:spPr>
          <a:xfrm>
            <a:off x="320040" y="2788920"/>
            <a:ext cx="4023360" cy="256032"/>
          </a:xfrm>
          <a:prstGeom prst="rect">
            <a:avLst/>
          </a:prstGeom>
          <a:solidFill>
            <a:srgbClr val="064E3B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" y="2816352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94360" y="27889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320040" y="3044952"/>
            <a:ext cx="4023360" cy="1618488"/>
          </a:xfrm>
          <a:prstGeom prst="rect">
            <a:avLst/>
          </a:prstGeom>
          <a:solidFill>
            <a:srgbClr val="FFFFFF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93192" y="3090672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growth: 45% (FY26E), 74.5% (FY27E) tapering to 12% (FY35E); EWA scale-up + NBFC lending + gold loan syndication as blended drivers</a:t>
            </a:r>
            <a:endParaRPr lang="en-US" sz="700" dirty="0"/>
          </a:p>
        </p:txBody>
      </p:sp>
      <p:sp>
        <p:nvSpPr>
          <p:cNvPr id="27" name="Text 20"/>
          <p:cNvSpPr/>
          <p:nvPr/>
        </p:nvSpPr>
        <p:spPr>
          <a:xfrm>
            <a:off x="393192" y="3310128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EWA disbursements: ₹5 Cr/mo (FY25) → ₹12 Cr/mo (FY26E) → ₹50 Cr/mo (FY35E). Yield compresses from 22% to 17% as scale builds</a:t>
            </a:r>
            <a:endParaRPr lang="en-US" sz="700" dirty="0"/>
          </a:p>
        </p:txBody>
      </p:sp>
      <p:sp>
        <p:nvSpPr>
          <p:cNvPr id="28" name="Text 21"/>
          <p:cNvSpPr/>
          <p:nvPr/>
        </p:nvSpPr>
        <p:spPr>
          <a:xfrm>
            <a:off x="393192" y="3529584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growth: ₹81 Cr (FY25) → ₹310 Cr (FY30E) → ₹750 Cr (FY35E). Mgmt guidance of ₹200-300 Cr by FY29-30 — ON TRACK</a:t>
            </a:r>
            <a:endParaRPr lang="en-US" sz="700" dirty="0"/>
          </a:p>
        </p:txBody>
      </p:sp>
      <p:sp>
        <p:nvSpPr>
          <p:cNvPr id="29" name="Text 22"/>
          <p:cNvSpPr/>
          <p:nvPr/>
        </p:nvSpPr>
        <p:spPr>
          <a:xfrm>
            <a:off x="393192" y="3749040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expanding 69.6% (FY25) → 77% (FY26E) → ~81% (FY27E+) on operating leverage; asset-light tech model with fixed cost absorption</a:t>
            </a:r>
            <a:endParaRPr lang="en-US" sz="700" dirty="0"/>
          </a:p>
        </p:txBody>
      </p:sp>
      <p:sp>
        <p:nvSpPr>
          <p:cNvPr id="30" name="Text 23"/>
          <p:cNvSpPr/>
          <p:nvPr/>
        </p:nvSpPr>
        <p:spPr>
          <a:xfrm>
            <a:off x="393192" y="3968496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25.2% effective tax rate. NPA rate conservatively rising from 0.4% (FY25) to 0.5% (FY28E+) as loan book diversifies. Zero NPA target ON TRACK</a:t>
            </a:r>
            <a:endParaRPr lang="en-US" sz="700" dirty="0"/>
          </a:p>
        </p:txBody>
      </p:sp>
      <p:sp>
        <p:nvSpPr>
          <p:cNvPr id="31" name="Text 24"/>
          <p:cNvSpPr/>
          <p:nvPr/>
        </p:nvSpPr>
        <p:spPr>
          <a:xfrm>
            <a:off x="393192" y="4187952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D/E stays conservative: 0.18x (FY25) → 0.25x (FY27E) → 0.45x (FY35E). Low leverage = more FCFE to equity holders. Ke: 14%, terminal g: 5%</a:t>
            </a:r>
            <a:endParaRPr lang="en-US" sz="700" dirty="0"/>
          </a:p>
        </p:txBody>
      </p:sp>
      <p:sp>
        <p:nvSpPr>
          <p:cNvPr id="32" name="Text 25"/>
          <p:cNvSpPr/>
          <p:nvPr/>
        </p:nvSpPr>
        <p:spPr>
          <a:xfrm>
            <a:off x="393192" y="4407408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90000"/>
              </a:lnSpc>
              <a:buSzPct val="100000"/>
              <a:buChar char="●"/>
            </a:pP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PAT target (8-10x of FY24 by FY27) is ACHIEVABLE (lower end). We model ₹32.3 Cr FY27E (~8.7x) — strong execution</a:t>
            </a:r>
            <a:endParaRPr lang="en-US" sz="700" dirty="0"/>
          </a:p>
        </p:txBody>
      </p:sp>
      <p:sp>
        <p:nvSpPr>
          <p:cNvPr id="33" name="Shape 26"/>
          <p:cNvSpPr/>
          <p:nvPr/>
        </p:nvSpPr>
        <p:spPr>
          <a:xfrm>
            <a:off x="4754880" y="2788920"/>
            <a:ext cx="4023360" cy="25603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2816352"/>
            <a:ext cx="182880" cy="18288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029200" y="278892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WATCH ITEMS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754880" y="3044952"/>
            <a:ext cx="4023360" cy="1618488"/>
          </a:xfrm>
          <a:prstGeom prst="rect">
            <a:avLst/>
          </a:prstGeom>
          <a:solidFill>
            <a:srgbClr val="FFFFFF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828032" y="3090672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Execution:</a:t>
            </a: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EWA onboarding missed 250 target (hit ~180 by 9M FY26). Revised to ~200; quality pivot is prudent but slows scaling velocity.</a:t>
            </a:r>
            <a:endParaRPr lang="en-US" sz="700" dirty="0"/>
          </a:p>
        </p:txBody>
      </p:sp>
      <p:sp>
        <p:nvSpPr>
          <p:cNvPr id="38" name="Text 30"/>
          <p:cNvSpPr/>
          <p:nvPr/>
        </p:nvSpPr>
        <p:spPr>
          <a:xfrm>
            <a:off x="4828032" y="3310128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Concentration:</a:t>
            </a: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Single-product dominance (EWA). Gold loan syndication &amp; invoice discounting are nascent and unproven at scale.</a:t>
            </a:r>
            <a:endParaRPr lang="en-US" sz="700" dirty="0"/>
          </a:p>
        </p:txBody>
      </p:sp>
      <p:sp>
        <p:nvSpPr>
          <p:cNvPr id="39" name="Text 31"/>
          <p:cNvSpPr/>
          <p:nvPr/>
        </p:nvSpPr>
        <p:spPr>
          <a:xfrm>
            <a:off x="4828032" y="3529584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Liquidity:</a:t>
            </a: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BSE-only listing, low free float (~40%), volumes &lt;₹1 Cr/day. Institutional exit constrained; structural overhang.</a:t>
            </a:r>
            <a:endParaRPr lang="en-US" sz="700" dirty="0"/>
          </a:p>
        </p:txBody>
      </p:sp>
      <p:sp>
        <p:nvSpPr>
          <p:cNvPr id="40" name="Text 32"/>
          <p:cNvSpPr/>
          <p:nvPr/>
        </p:nvSpPr>
        <p:spPr>
          <a:xfrm>
            <a:off x="4828032" y="3749040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Regulatory:</a:t>
            </a: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Tighter RBI digital lending norms or EWA-specific regulation could raise compliance costs and compress margins.</a:t>
            </a:r>
            <a:endParaRPr lang="en-US" sz="700" dirty="0"/>
          </a:p>
        </p:txBody>
      </p:sp>
      <p:sp>
        <p:nvSpPr>
          <p:cNvPr id="41" name="Text 33"/>
          <p:cNvSpPr/>
          <p:nvPr/>
        </p:nvSpPr>
        <p:spPr>
          <a:xfrm>
            <a:off x="4828032" y="3968496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Leverage:</a:t>
            </a: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D/E stays low at 0.2x (FY26E), rising to 0.45x by FY35E. Low leverage is positive but limits AUM scaling speed vs. peers.</a:t>
            </a:r>
            <a:endParaRPr lang="en-US" sz="700" dirty="0"/>
          </a:p>
        </p:txBody>
      </p:sp>
      <p:sp>
        <p:nvSpPr>
          <p:cNvPr id="42" name="Text 34"/>
          <p:cNvSpPr/>
          <p:nvPr/>
        </p:nvSpPr>
        <p:spPr>
          <a:xfrm>
            <a:off x="4828032" y="4187952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Promoter:</a:t>
            </a: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Holding down 8.3pp over 3 years (67.8% → 59.5%). Watch for further dilution signals or insider selling.</a:t>
            </a:r>
            <a:endParaRPr lang="en-US" sz="700" dirty="0"/>
          </a:p>
        </p:txBody>
      </p:sp>
      <p:sp>
        <p:nvSpPr>
          <p:cNvPr id="43" name="Text 35"/>
          <p:cNvSpPr/>
          <p:nvPr/>
        </p:nvSpPr>
        <p:spPr>
          <a:xfrm>
            <a:off x="4828032" y="4407408"/>
            <a:ext cx="3877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Model Sensitivity:</a:t>
            </a:r>
            <a:r>
              <a:rPr lang="en-US" sz="7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Residual Income value ₹62.02 vs DCF ₹111.22 shows wide method divergence. Terminal value dependency remains high.</a:t>
            </a:r>
            <a:endParaRPr lang="en-US" sz="700" dirty="0"/>
          </a:p>
        </p:txBody>
      </p:sp>
      <p:sp>
        <p:nvSpPr>
          <p:cNvPr id="44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45" name="Text 37"/>
          <p:cNvSpPr/>
          <p:nvPr/>
        </p:nvSpPr>
        <p:spPr>
          <a:xfrm>
            <a:off x="457200" y="4818888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Emerald Finance Ltd (BSE: 538882)  |  Investment Pitch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8229600" y="4818888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188335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E9C6AE-8755-4096-84BF-938B51AC15FD}">
  <we:reference id="wa200010001" version="1.0.0.0" store="en-US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1901</TotalTime>
  <Words>1475</Words>
  <Application>Microsoft Office PowerPoint</Application>
  <PresentationFormat>On-screen Show (16:9)</PresentationFormat>
  <Paragraphs>161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Emerald Finance Ltd - Equity Research Pitch</dc:title>
  <dc:subject>PptxGenJS Presentation</dc:subject>
  <dc:creator>Buy-Side Research</dc:creator>
  <cp:lastModifiedBy>Harsh Vijay</cp:lastModifiedBy>
  <cp:revision>4</cp:revision>
  <dcterms:created xsi:type="dcterms:W3CDTF">2026-02-19T03:30:27Z</dcterms:created>
  <dcterms:modified xsi:type="dcterms:W3CDTF">2026-03-10T21:19:49Z</dcterms:modified>
</cp:coreProperties>
</file>