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750" b="0" i="0" u="none" strike="noStrike">
                <a:solidFill>
                  <a:srgbClr val="1A2332"/>
                </a:solidFill>
                <a:latin typeface="Arial"/>
              </a:defRPr>
            </a:pPr>
            <a:r>
              <a:rPr lang="en-IN" sz="750" b="0" i="0" u="none" strike="noStrike">
                <a:solidFill>
                  <a:srgbClr val="1A2332"/>
                </a:solidFill>
                <a:latin typeface="Arial"/>
              </a:rPr>
              <a:t>Revenue Trajectory (₹ Cr)</a:t>
            </a:r>
          </a:p>
        </c:rich>
      </c:tx>
      <c:overlay val="0"/>
    </c:title>
    <c:autoTitleDeleted val="0"/>
    <c:plotArea>
      <c:layout/>
      <c:barChart>
        <c:barDir val="col"/>
        <c:grouping val="clustered"/>
        <c:varyColors val="0"/>
        <c:ser>
          <c:idx val="0"/>
          <c:order val="0"/>
          <c:tx>
            <c:strRef>
              <c:f>Sheet1!$B$1</c:f>
              <c:strCache>
                <c:ptCount val="1"/>
                <c:pt idx="0">
                  <c:v>Revenue (₹ Cr)</c:v>
                </c:pt>
              </c:strCache>
            </c:strRef>
          </c:tx>
          <c:spPr>
            <a:solidFill>
              <a:srgbClr val="0E7C86"/>
            </a:solidFill>
            <a:effectLst/>
          </c:spPr>
          <c:invertIfNegative val="0"/>
          <c:cat>
            <c:strRef>
              <c:f>Sheet1!$A$2:$A$11</c:f>
              <c:strCache>
                <c:ptCount val="10"/>
                <c:pt idx="0">
                  <c:v>FY21</c:v>
                </c:pt>
                <c:pt idx="1">
                  <c:v>FY22</c:v>
                </c:pt>
                <c:pt idx="2">
                  <c:v>FY23</c:v>
                </c:pt>
                <c:pt idx="3">
                  <c:v>FY24</c:v>
                </c:pt>
                <c:pt idx="4">
                  <c:v>FY25</c:v>
                </c:pt>
                <c:pt idx="5">
                  <c:v>FY26E</c:v>
                </c:pt>
                <c:pt idx="6">
                  <c:v>FY27E</c:v>
                </c:pt>
                <c:pt idx="7">
                  <c:v>FY28E</c:v>
                </c:pt>
                <c:pt idx="8">
                  <c:v>FY29E</c:v>
                </c:pt>
                <c:pt idx="9">
                  <c:v>FY30E</c:v>
                </c:pt>
              </c:strCache>
            </c:strRef>
          </c:cat>
          <c:val>
            <c:numRef>
              <c:f>Sheet1!$B$2:$B$11</c:f>
              <c:numCache>
                <c:formatCode>General</c:formatCode>
                <c:ptCount val="10"/>
                <c:pt idx="0">
                  <c:v>91.2</c:v>
                </c:pt>
                <c:pt idx="1">
                  <c:v>184</c:v>
                </c:pt>
                <c:pt idx="2">
                  <c:v>227.1</c:v>
                </c:pt>
                <c:pt idx="3">
                  <c:v>297.10000000000002</c:v>
                </c:pt>
                <c:pt idx="4">
                  <c:v>368.8</c:v>
                </c:pt>
                <c:pt idx="5">
                  <c:v>400</c:v>
                </c:pt>
                <c:pt idx="6">
                  <c:v>545</c:v>
                </c:pt>
                <c:pt idx="7">
                  <c:v>720</c:v>
                </c:pt>
                <c:pt idx="8">
                  <c:v>920</c:v>
                </c:pt>
                <c:pt idx="9">
                  <c:v>1140</c:v>
                </c:pt>
              </c:numCache>
            </c:numRef>
          </c:val>
          <c:extLst>
            <c:ext xmlns:c16="http://schemas.microsoft.com/office/drawing/2014/chart" uri="{C3380CC4-5D6E-409C-BE32-E72D297353CC}">
              <c16:uniqueId val="{00000000-2A95-45C6-A12D-6761B46FEA3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8A96A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3810" cap="flat">
              <a:solidFill>
                <a:srgbClr val="E2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A96A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750" b="0" i="0" u="none" strike="noStrike">
                <a:solidFill>
                  <a:srgbClr val="1A2332"/>
                </a:solidFill>
                <a:latin typeface="Arial"/>
              </a:defRPr>
            </a:pPr>
            <a:r>
              <a:rPr lang="en-IN" sz="750" b="0" i="0" u="none" strike="noStrike">
                <a:solidFill>
                  <a:srgbClr val="1A2332"/>
                </a:solidFill>
                <a:latin typeface="Arial"/>
              </a:rPr>
              <a:t>EBITDA Margin Trajectory (%)</a:t>
            </a:r>
          </a:p>
        </c:rich>
      </c:tx>
      <c:overlay val="0"/>
    </c:title>
    <c:autoTitleDeleted val="0"/>
    <c:plotArea>
      <c:layout/>
      <c:lineChart>
        <c:grouping val="standard"/>
        <c:varyColors val="0"/>
        <c:ser>
          <c:idx val="0"/>
          <c:order val="0"/>
          <c:tx>
            <c:strRef>
              <c:f>Sheet1!$B$1</c:f>
              <c:strCache>
                <c:ptCount val="1"/>
                <c:pt idx="0">
                  <c:v>EBITDA Margin (%)</c:v>
                </c:pt>
              </c:strCache>
            </c:strRef>
          </c:tx>
          <c:spPr>
            <a:ln w="25400" cap="flat">
              <a:solidFill>
                <a:srgbClr val="0E7C86"/>
              </a:solidFill>
              <a:prstDash val="solid"/>
              <a:round/>
            </a:ln>
            <a:effectLst/>
          </c:spPr>
          <c:marker>
            <c:symbol val="circle"/>
            <c:size val="6"/>
            <c:spPr>
              <a:solidFill>
                <a:srgbClr val="0E7C86"/>
              </a:solidFill>
              <a:ln w="9525" cap="flat">
                <a:solidFill>
                  <a:srgbClr val="0E7C86"/>
                </a:solidFill>
                <a:prstDash val="solid"/>
                <a:round/>
              </a:ln>
              <a:effectLst/>
            </c:spPr>
          </c:marker>
          <c:cat>
            <c:strRef>
              <c:f>Sheet1!$A$2:$A$11</c:f>
              <c:strCache>
                <c:ptCount val="10"/>
                <c:pt idx="0">
                  <c:v>FY21</c:v>
                </c:pt>
                <c:pt idx="1">
                  <c:v>FY22</c:v>
                </c:pt>
                <c:pt idx="2">
                  <c:v>FY23</c:v>
                </c:pt>
                <c:pt idx="3">
                  <c:v>FY24</c:v>
                </c:pt>
                <c:pt idx="4">
                  <c:v>FY25</c:v>
                </c:pt>
                <c:pt idx="5">
                  <c:v>FY26E</c:v>
                </c:pt>
                <c:pt idx="6">
                  <c:v>FY27E</c:v>
                </c:pt>
                <c:pt idx="7">
                  <c:v>FY28E</c:v>
                </c:pt>
                <c:pt idx="8">
                  <c:v>FY29E</c:v>
                </c:pt>
                <c:pt idx="9">
                  <c:v>FY30E</c:v>
                </c:pt>
              </c:strCache>
            </c:strRef>
          </c:cat>
          <c:val>
            <c:numRef>
              <c:f>Sheet1!$B$2:$B$11</c:f>
              <c:numCache>
                <c:formatCode>General</c:formatCode>
                <c:ptCount val="10"/>
                <c:pt idx="0">
                  <c:v>21.1</c:v>
                </c:pt>
                <c:pt idx="1">
                  <c:v>23</c:v>
                </c:pt>
                <c:pt idx="2">
                  <c:v>27</c:v>
                </c:pt>
                <c:pt idx="3">
                  <c:v>20</c:v>
                </c:pt>
                <c:pt idx="4">
                  <c:v>23</c:v>
                </c:pt>
                <c:pt idx="5">
                  <c:v>22</c:v>
                </c:pt>
                <c:pt idx="6">
                  <c:v>24.5</c:v>
                </c:pt>
                <c:pt idx="7">
                  <c:v>28</c:v>
                </c:pt>
                <c:pt idx="8">
                  <c:v>30.5</c:v>
                </c:pt>
                <c:pt idx="9">
                  <c:v>32.5</c:v>
                </c:pt>
              </c:numCache>
            </c:numRef>
          </c:val>
          <c:smooth val="1"/>
          <c:extLst>
            <c:ext xmlns:c16="http://schemas.microsoft.com/office/drawing/2014/chart" uri="{C3380CC4-5D6E-409C-BE32-E72D297353CC}">
              <c16:uniqueId val="{00000000-43DA-40E6-B202-4EBC87A775A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8A96A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3810" cap="flat">
              <a:solidFill>
                <a:srgbClr val="E2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A96A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8097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86"/>
          </a:solidFill>
          <a:ln/>
        </p:spPr>
        <p:txBody>
          <a:bodyPr/>
          <a:lstStyle/>
          <a:p>
            <a:endParaRPr lang="en-IN"/>
          </a:p>
        </p:txBody>
      </p:sp>
      <p:sp>
        <p:nvSpPr>
          <p:cNvPr id="3" name="Text 1"/>
          <p:cNvSpPr/>
          <p:nvPr/>
        </p:nvSpPr>
        <p:spPr>
          <a:xfrm>
            <a:off x="502920" y="182880"/>
            <a:ext cx="5486400" cy="365760"/>
          </a:xfrm>
          <a:prstGeom prst="rect">
            <a:avLst/>
          </a:prstGeom>
          <a:noFill/>
          <a:ln/>
        </p:spPr>
        <p:txBody>
          <a:bodyPr wrap="square" lIns="0" tIns="0" rIns="0" bIns="0" rtlCol="0" anchor="ctr"/>
          <a:lstStyle/>
          <a:p>
            <a:pPr marL="0" indent="0">
              <a:buNone/>
            </a:pPr>
            <a:r>
              <a:rPr lang="en-US" sz="1100" b="1" kern="0" spc="400" dirty="0">
                <a:solidFill>
                  <a:srgbClr val="12A4B0"/>
                </a:solidFill>
                <a:latin typeface="Calibri" pitchFamily="34" charset="0"/>
                <a:ea typeface="Calibri" pitchFamily="34" charset="-122"/>
                <a:cs typeface="Calibri" pitchFamily="34" charset="-120"/>
              </a:rPr>
              <a:t>BETA DRUGS LTD</a:t>
            </a:r>
            <a:endParaRPr lang="en-US" sz="1100" dirty="0"/>
          </a:p>
        </p:txBody>
      </p:sp>
      <p:sp>
        <p:nvSpPr>
          <p:cNvPr id="4" name="Text 2"/>
          <p:cNvSpPr/>
          <p:nvPr/>
        </p:nvSpPr>
        <p:spPr>
          <a:xfrm>
            <a:off x="502920" y="475488"/>
            <a:ext cx="6400800" cy="34747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Indian Pharma &amp; Oncology — Macro Landscape</a:t>
            </a:r>
            <a:endParaRPr lang="en-US" sz="1800" dirty="0"/>
          </a:p>
        </p:txBody>
      </p:sp>
      <p:sp>
        <p:nvSpPr>
          <p:cNvPr id="5" name="Shape 3"/>
          <p:cNvSpPr/>
          <p:nvPr/>
        </p:nvSpPr>
        <p:spPr>
          <a:xfrm>
            <a:off x="502920" y="896112"/>
            <a:ext cx="2743200" cy="0"/>
          </a:xfrm>
          <a:prstGeom prst="line">
            <a:avLst/>
          </a:prstGeom>
          <a:noFill/>
          <a:ln w="19050">
            <a:solidFill>
              <a:srgbClr val="0E7C86"/>
            </a:solidFill>
            <a:prstDash val="solid"/>
          </a:ln>
        </p:spPr>
        <p:txBody>
          <a:bodyPr/>
          <a:lstStyle/>
          <a:p>
            <a:endParaRPr lang="en-IN"/>
          </a:p>
        </p:txBody>
      </p:sp>
      <p:sp>
        <p:nvSpPr>
          <p:cNvPr id="6" name="Shape 4"/>
          <p:cNvSpPr/>
          <p:nvPr/>
        </p:nvSpPr>
        <p:spPr>
          <a:xfrm>
            <a:off x="6583680" y="201168"/>
            <a:ext cx="2331720" cy="1024128"/>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7" name="Shape 5"/>
          <p:cNvSpPr/>
          <p:nvPr/>
        </p:nvSpPr>
        <p:spPr>
          <a:xfrm>
            <a:off x="6583680" y="201168"/>
            <a:ext cx="54864" cy="1024128"/>
          </a:xfrm>
          <a:prstGeom prst="rect">
            <a:avLst/>
          </a:prstGeom>
          <a:solidFill>
            <a:srgbClr val="0E7C86"/>
          </a:solidFill>
          <a:ln/>
        </p:spPr>
        <p:txBody>
          <a:bodyPr/>
          <a:lstStyle/>
          <a:p>
            <a:endParaRPr lang="en-IN"/>
          </a:p>
        </p:txBody>
      </p:sp>
      <p:sp>
        <p:nvSpPr>
          <p:cNvPr id="8" name="Text 6"/>
          <p:cNvSpPr/>
          <p:nvPr/>
        </p:nvSpPr>
        <p:spPr>
          <a:xfrm>
            <a:off x="6766560" y="274320"/>
            <a:ext cx="2011680" cy="411480"/>
          </a:xfrm>
          <a:prstGeom prst="rect">
            <a:avLst/>
          </a:prstGeom>
          <a:noFill/>
          <a:ln/>
        </p:spPr>
        <p:txBody>
          <a:bodyPr wrap="square" lIns="0" tIns="0" rIns="0" bIns="0" rtlCol="0" anchor="ctr"/>
          <a:lstStyle/>
          <a:p>
            <a:pPr marL="0" indent="0">
              <a:buNone/>
            </a:pPr>
            <a:r>
              <a:rPr lang="en-US" sz="2200" b="1" dirty="0">
                <a:solidFill>
                  <a:srgbClr val="12A4B0"/>
                </a:solidFill>
                <a:latin typeface="Calibri" pitchFamily="34" charset="0"/>
                <a:ea typeface="Calibri" pitchFamily="34" charset="-122"/>
                <a:cs typeface="Calibri" pitchFamily="34" charset="-120"/>
              </a:rPr>
              <a:t>~$65B</a:t>
            </a:r>
            <a:endParaRPr lang="en-US" sz="2200" dirty="0"/>
          </a:p>
        </p:txBody>
      </p:sp>
      <p:sp>
        <p:nvSpPr>
          <p:cNvPr id="9" name="Text 7"/>
          <p:cNvSpPr/>
          <p:nvPr/>
        </p:nvSpPr>
        <p:spPr>
          <a:xfrm>
            <a:off x="6766560" y="658368"/>
            <a:ext cx="201168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India Pharma Market</a:t>
            </a:r>
            <a:endParaRPr lang="en-US" sz="900" dirty="0"/>
          </a:p>
        </p:txBody>
      </p:sp>
      <p:sp>
        <p:nvSpPr>
          <p:cNvPr id="10" name="Text 8"/>
          <p:cNvSpPr/>
          <p:nvPr/>
        </p:nvSpPr>
        <p:spPr>
          <a:xfrm>
            <a:off x="6766560" y="868680"/>
            <a:ext cx="2011680" cy="274320"/>
          </a:xfrm>
          <a:prstGeom prst="rect">
            <a:avLst/>
          </a:prstGeom>
          <a:noFill/>
          <a:ln/>
        </p:spPr>
        <p:txBody>
          <a:bodyPr wrap="square" lIns="0" tIns="0" rIns="0" bIns="0" rtlCol="0" anchor="ctr"/>
          <a:lstStyle/>
          <a:p>
            <a:pPr marL="0" indent="0">
              <a:buNone/>
            </a:pPr>
            <a:r>
              <a:rPr lang="en-US" sz="750" dirty="0">
                <a:solidFill>
                  <a:srgbClr val="8A96A3"/>
                </a:solidFill>
                <a:latin typeface="Calibri" pitchFamily="34" charset="0"/>
                <a:ea typeface="Calibri" pitchFamily="34" charset="-122"/>
                <a:cs typeface="Calibri" pitchFamily="34" charset="-120"/>
              </a:rPr>
              <a:t>FY25E, 3rd largest by volume globally</a:t>
            </a:r>
            <a:endParaRPr lang="en-US" sz="750" dirty="0"/>
          </a:p>
        </p:txBody>
      </p:sp>
      <p:sp>
        <p:nvSpPr>
          <p:cNvPr id="11" name="Shape 9"/>
          <p:cNvSpPr/>
          <p:nvPr/>
        </p:nvSpPr>
        <p:spPr>
          <a:xfrm>
            <a:off x="6583680" y="1371600"/>
            <a:ext cx="2331720" cy="1024128"/>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12" name="Shape 10"/>
          <p:cNvSpPr/>
          <p:nvPr/>
        </p:nvSpPr>
        <p:spPr>
          <a:xfrm>
            <a:off x="6583680" y="1371600"/>
            <a:ext cx="54864" cy="1024128"/>
          </a:xfrm>
          <a:prstGeom prst="rect">
            <a:avLst/>
          </a:prstGeom>
          <a:solidFill>
            <a:srgbClr val="0E7C86"/>
          </a:solidFill>
          <a:ln/>
        </p:spPr>
        <p:txBody>
          <a:bodyPr/>
          <a:lstStyle/>
          <a:p>
            <a:endParaRPr lang="en-IN"/>
          </a:p>
        </p:txBody>
      </p:sp>
      <p:sp>
        <p:nvSpPr>
          <p:cNvPr id="13" name="Text 11"/>
          <p:cNvSpPr/>
          <p:nvPr/>
        </p:nvSpPr>
        <p:spPr>
          <a:xfrm>
            <a:off x="6766560" y="1444752"/>
            <a:ext cx="2011680" cy="411480"/>
          </a:xfrm>
          <a:prstGeom prst="rect">
            <a:avLst/>
          </a:prstGeom>
          <a:noFill/>
          <a:ln/>
        </p:spPr>
        <p:txBody>
          <a:bodyPr wrap="square" lIns="0" tIns="0" rIns="0" bIns="0" rtlCol="0" anchor="ctr"/>
          <a:lstStyle/>
          <a:p>
            <a:pPr marL="0" indent="0">
              <a:buNone/>
            </a:pPr>
            <a:r>
              <a:rPr lang="en-US" sz="2200" b="1" dirty="0">
                <a:solidFill>
                  <a:srgbClr val="12A4B0"/>
                </a:solidFill>
                <a:latin typeface="Calibri" pitchFamily="34" charset="0"/>
                <a:ea typeface="Calibri" pitchFamily="34" charset="-122"/>
                <a:cs typeface="Calibri" pitchFamily="34" charset="-120"/>
              </a:rPr>
              <a:t>$2.0B</a:t>
            </a:r>
            <a:endParaRPr lang="en-US" sz="2200" dirty="0"/>
          </a:p>
        </p:txBody>
      </p:sp>
      <p:sp>
        <p:nvSpPr>
          <p:cNvPr id="14" name="Text 12"/>
          <p:cNvSpPr/>
          <p:nvPr/>
        </p:nvSpPr>
        <p:spPr>
          <a:xfrm>
            <a:off x="6766560" y="1828800"/>
            <a:ext cx="201168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Indian Oncology Market</a:t>
            </a:r>
            <a:endParaRPr lang="en-US" sz="900" dirty="0"/>
          </a:p>
        </p:txBody>
      </p:sp>
      <p:sp>
        <p:nvSpPr>
          <p:cNvPr id="15" name="Text 13"/>
          <p:cNvSpPr/>
          <p:nvPr/>
        </p:nvSpPr>
        <p:spPr>
          <a:xfrm>
            <a:off x="6766560" y="2039112"/>
            <a:ext cx="2011680" cy="274320"/>
          </a:xfrm>
          <a:prstGeom prst="rect">
            <a:avLst/>
          </a:prstGeom>
          <a:noFill/>
          <a:ln/>
        </p:spPr>
        <p:txBody>
          <a:bodyPr wrap="square" lIns="0" tIns="0" rIns="0" bIns="0" rtlCol="0" anchor="ctr"/>
          <a:lstStyle/>
          <a:p>
            <a:pPr marL="0" indent="0">
              <a:buNone/>
            </a:pPr>
            <a:r>
              <a:rPr lang="en-US" sz="750" dirty="0">
                <a:solidFill>
                  <a:srgbClr val="8A96A3"/>
                </a:solidFill>
                <a:latin typeface="Calibri" pitchFamily="34" charset="0"/>
                <a:ea typeface="Calibri" pitchFamily="34" charset="-122"/>
                <a:cs typeface="Calibri" pitchFamily="34" charset="-120"/>
              </a:rPr>
              <a:t>Growing at ~12-20% CAGR to 2030</a:t>
            </a:r>
            <a:endParaRPr lang="en-US" sz="750" dirty="0"/>
          </a:p>
        </p:txBody>
      </p:sp>
      <p:sp>
        <p:nvSpPr>
          <p:cNvPr id="16" name="Shape 14"/>
          <p:cNvSpPr/>
          <p:nvPr/>
        </p:nvSpPr>
        <p:spPr>
          <a:xfrm>
            <a:off x="6583680" y="2542032"/>
            <a:ext cx="2331720" cy="1024128"/>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17" name="Shape 15"/>
          <p:cNvSpPr/>
          <p:nvPr/>
        </p:nvSpPr>
        <p:spPr>
          <a:xfrm>
            <a:off x="6583680" y="2542032"/>
            <a:ext cx="54864" cy="1024128"/>
          </a:xfrm>
          <a:prstGeom prst="rect">
            <a:avLst/>
          </a:prstGeom>
          <a:solidFill>
            <a:srgbClr val="0E7C86"/>
          </a:solidFill>
          <a:ln/>
        </p:spPr>
        <p:txBody>
          <a:bodyPr/>
          <a:lstStyle/>
          <a:p>
            <a:endParaRPr lang="en-IN"/>
          </a:p>
        </p:txBody>
      </p:sp>
      <p:sp>
        <p:nvSpPr>
          <p:cNvPr id="18" name="Text 16"/>
          <p:cNvSpPr/>
          <p:nvPr/>
        </p:nvSpPr>
        <p:spPr>
          <a:xfrm>
            <a:off x="6766560" y="2615184"/>
            <a:ext cx="2011680" cy="411480"/>
          </a:xfrm>
          <a:prstGeom prst="rect">
            <a:avLst/>
          </a:prstGeom>
          <a:noFill/>
          <a:ln/>
        </p:spPr>
        <p:txBody>
          <a:bodyPr wrap="square" lIns="0" tIns="0" rIns="0" bIns="0" rtlCol="0" anchor="ctr"/>
          <a:lstStyle/>
          <a:p>
            <a:pPr marL="0" indent="0">
              <a:buNone/>
            </a:pPr>
            <a:r>
              <a:rPr lang="en-US" sz="2200" b="1" dirty="0">
                <a:solidFill>
                  <a:srgbClr val="12A4B0"/>
                </a:solidFill>
                <a:latin typeface="Calibri" pitchFamily="34" charset="0"/>
                <a:ea typeface="Calibri" pitchFamily="34" charset="-122"/>
                <a:cs typeface="Calibri" pitchFamily="34" charset="-120"/>
              </a:rPr>
              <a:t>$22.5B</a:t>
            </a:r>
            <a:endParaRPr lang="en-US" sz="2200" dirty="0"/>
          </a:p>
        </p:txBody>
      </p:sp>
      <p:sp>
        <p:nvSpPr>
          <p:cNvPr id="19" name="Text 17"/>
          <p:cNvSpPr/>
          <p:nvPr/>
        </p:nvSpPr>
        <p:spPr>
          <a:xfrm>
            <a:off x="6766560" y="2999232"/>
            <a:ext cx="201168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India CDMO Market</a:t>
            </a:r>
            <a:endParaRPr lang="en-US" sz="900" dirty="0"/>
          </a:p>
        </p:txBody>
      </p:sp>
      <p:sp>
        <p:nvSpPr>
          <p:cNvPr id="20" name="Text 18"/>
          <p:cNvSpPr/>
          <p:nvPr/>
        </p:nvSpPr>
        <p:spPr>
          <a:xfrm>
            <a:off x="6766560" y="3209544"/>
            <a:ext cx="2011680" cy="274320"/>
          </a:xfrm>
          <a:prstGeom prst="rect">
            <a:avLst/>
          </a:prstGeom>
          <a:noFill/>
          <a:ln/>
        </p:spPr>
        <p:txBody>
          <a:bodyPr wrap="square" lIns="0" tIns="0" rIns="0" bIns="0" rtlCol="0" anchor="ctr"/>
          <a:lstStyle/>
          <a:p>
            <a:pPr marL="0" indent="0">
              <a:buNone/>
            </a:pPr>
            <a:r>
              <a:rPr lang="en-US" sz="750" dirty="0">
                <a:solidFill>
                  <a:srgbClr val="8A96A3"/>
                </a:solidFill>
                <a:latin typeface="Calibri" pitchFamily="34" charset="0"/>
                <a:ea typeface="Calibri" pitchFamily="34" charset="-122"/>
                <a:cs typeface="Calibri" pitchFamily="34" charset="-120"/>
              </a:rPr>
              <a:t>Projected $44.6B by 2029</a:t>
            </a:r>
            <a:endParaRPr lang="en-US" sz="750" dirty="0"/>
          </a:p>
        </p:txBody>
      </p:sp>
      <p:sp>
        <p:nvSpPr>
          <p:cNvPr id="21" name="Shape 19"/>
          <p:cNvSpPr/>
          <p:nvPr/>
        </p:nvSpPr>
        <p:spPr>
          <a:xfrm>
            <a:off x="6583680" y="3712464"/>
            <a:ext cx="2331720" cy="1024128"/>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22" name="Shape 20"/>
          <p:cNvSpPr/>
          <p:nvPr/>
        </p:nvSpPr>
        <p:spPr>
          <a:xfrm>
            <a:off x="6583680" y="3712464"/>
            <a:ext cx="54864" cy="1024128"/>
          </a:xfrm>
          <a:prstGeom prst="rect">
            <a:avLst/>
          </a:prstGeom>
          <a:solidFill>
            <a:srgbClr val="0E7C86"/>
          </a:solidFill>
          <a:ln/>
        </p:spPr>
        <p:txBody>
          <a:bodyPr/>
          <a:lstStyle/>
          <a:p>
            <a:endParaRPr lang="en-IN"/>
          </a:p>
        </p:txBody>
      </p:sp>
      <p:sp>
        <p:nvSpPr>
          <p:cNvPr id="23" name="Text 21"/>
          <p:cNvSpPr/>
          <p:nvPr/>
        </p:nvSpPr>
        <p:spPr>
          <a:xfrm>
            <a:off x="6766560" y="3785616"/>
            <a:ext cx="2011680" cy="411480"/>
          </a:xfrm>
          <a:prstGeom prst="rect">
            <a:avLst/>
          </a:prstGeom>
          <a:noFill/>
          <a:ln/>
        </p:spPr>
        <p:txBody>
          <a:bodyPr wrap="square" lIns="0" tIns="0" rIns="0" bIns="0" rtlCol="0" anchor="ctr"/>
          <a:lstStyle/>
          <a:p>
            <a:pPr marL="0" indent="0">
              <a:buNone/>
            </a:pPr>
            <a:r>
              <a:rPr lang="en-US" sz="2200" b="1" dirty="0">
                <a:solidFill>
                  <a:srgbClr val="12A4B0"/>
                </a:solidFill>
                <a:latin typeface="Calibri" pitchFamily="34" charset="0"/>
                <a:ea typeface="Calibri" pitchFamily="34" charset="-122"/>
                <a:cs typeface="Calibri" pitchFamily="34" charset="-120"/>
              </a:rPr>
              <a:t>1.46M+</a:t>
            </a:r>
            <a:endParaRPr lang="en-US" sz="2200" dirty="0"/>
          </a:p>
        </p:txBody>
      </p:sp>
      <p:sp>
        <p:nvSpPr>
          <p:cNvPr id="24" name="Text 22"/>
          <p:cNvSpPr/>
          <p:nvPr/>
        </p:nvSpPr>
        <p:spPr>
          <a:xfrm>
            <a:off x="6766560" y="4169664"/>
            <a:ext cx="2011680" cy="2286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Cancer Incidence (India)</a:t>
            </a:r>
            <a:endParaRPr lang="en-US" sz="900" dirty="0"/>
          </a:p>
        </p:txBody>
      </p:sp>
      <p:sp>
        <p:nvSpPr>
          <p:cNvPr id="25" name="Text 23"/>
          <p:cNvSpPr/>
          <p:nvPr/>
        </p:nvSpPr>
        <p:spPr>
          <a:xfrm>
            <a:off x="6766560" y="4379976"/>
            <a:ext cx="2011680" cy="274320"/>
          </a:xfrm>
          <a:prstGeom prst="rect">
            <a:avLst/>
          </a:prstGeom>
          <a:noFill/>
          <a:ln/>
        </p:spPr>
        <p:txBody>
          <a:bodyPr wrap="square" lIns="0" tIns="0" rIns="0" bIns="0" rtlCol="0" anchor="ctr"/>
          <a:lstStyle/>
          <a:p>
            <a:pPr marL="0" indent="0">
              <a:buNone/>
            </a:pPr>
            <a:r>
              <a:rPr lang="en-US" sz="750" dirty="0">
                <a:solidFill>
                  <a:srgbClr val="8A96A3"/>
                </a:solidFill>
                <a:latin typeface="Calibri" pitchFamily="34" charset="0"/>
                <a:ea typeface="Calibri" pitchFamily="34" charset="-122"/>
                <a:cs typeface="Calibri" pitchFamily="34" charset="-120"/>
              </a:rPr>
              <a:t>New cases in 2024, rising annually</a:t>
            </a:r>
            <a:endParaRPr lang="en-US" sz="750" dirty="0"/>
          </a:p>
        </p:txBody>
      </p:sp>
      <p:sp>
        <p:nvSpPr>
          <p:cNvPr id="26" name="Text 24"/>
          <p:cNvSpPr/>
          <p:nvPr/>
        </p:nvSpPr>
        <p:spPr>
          <a:xfrm>
            <a:off x="502920" y="1051560"/>
            <a:ext cx="5852160" cy="256032"/>
          </a:xfrm>
          <a:prstGeom prst="rect">
            <a:avLst/>
          </a:prstGeom>
          <a:noFill/>
          <a:ln/>
        </p:spPr>
        <p:txBody>
          <a:bodyPr wrap="square" lIns="0" tIns="0" rIns="0" bIns="0" rtlCol="0" anchor="ctr"/>
          <a:lstStyle/>
          <a:p>
            <a:pPr marL="0" indent="0">
              <a:buNone/>
            </a:pPr>
            <a:r>
              <a:rPr lang="en-US" sz="1000" b="1" kern="0" spc="150" dirty="0">
                <a:solidFill>
                  <a:srgbClr val="12A4B0"/>
                </a:solidFill>
                <a:latin typeface="Calibri" pitchFamily="34" charset="0"/>
                <a:ea typeface="Calibri" pitchFamily="34" charset="-122"/>
                <a:cs typeface="Calibri" pitchFamily="34" charset="-120"/>
              </a:rPr>
              <a:t>INDIA PHARMA — STRUCTURAL TAILWINDS</a:t>
            </a:r>
            <a:endParaRPr lang="en-US" sz="1000" dirty="0"/>
          </a:p>
        </p:txBody>
      </p:sp>
      <p:sp>
        <p:nvSpPr>
          <p:cNvPr id="27" name="Text 25"/>
          <p:cNvSpPr/>
          <p:nvPr/>
        </p:nvSpPr>
        <p:spPr>
          <a:xfrm>
            <a:off x="502920" y="1325880"/>
            <a:ext cx="5852160" cy="1417320"/>
          </a:xfrm>
          <a:prstGeom prst="rect">
            <a:avLst/>
          </a:prstGeom>
          <a:noFill/>
          <a:ln/>
        </p:spPr>
        <p:txBody>
          <a:bodyPr wrap="square" lIns="0" tIns="0" rIns="0" bIns="0" rtlCol="0" anchor="t"/>
          <a:lstStyle/>
          <a:p>
            <a:pPr marL="0" indent="0">
              <a:lnSpc>
                <a:spcPct val="125000"/>
              </a:lnSpc>
              <a:buNone/>
            </a:pPr>
            <a:r>
              <a:rPr lang="en-US" sz="900" dirty="0">
                <a:solidFill>
                  <a:srgbClr val="C8D0D8"/>
                </a:solidFill>
                <a:latin typeface="Calibri" pitchFamily="34" charset="0"/>
                <a:ea typeface="Calibri" pitchFamily="34" charset="-122"/>
                <a:cs typeface="Calibri" pitchFamily="34" charset="-120"/>
              </a:rPr>
              <a:t>India is the world's 3rd largest pharmaceutical producer by volume, valued at ~$65B in FY25 and projected to reach $130-175B by 2030-33 (11-13% CAGR). Our country supplies 20% of global generics, 50% of global vaccine demand, and serves 200+ countries/territories. Government initiatives — PLI schemes for APIs &amp; bulk drugs, Ayushman Bharat expansion to 150K wellness centres — are accelerating domestic consumption, especially in Tier-2/3 cities. Contract manufacturing (CDMO) is a key growth lever: India's CDMO market is expected to double from $22.5B (2024) to $44.6B by 2029, driven by cost advantages and regulatory track records. Patent cliffs of ~$4B annually (2024-26) in developed markets create a massive window for Indian generic makers.</a:t>
            </a:r>
            <a:endParaRPr lang="en-US" sz="900" dirty="0"/>
          </a:p>
        </p:txBody>
      </p:sp>
      <p:sp>
        <p:nvSpPr>
          <p:cNvPr id="28" name="Text 26"/>
          <p:cNvSpPr/>
          <p:nvPr/>
        </p:nvSpPr>
        <p:spPr>
          <a:xfrm>
            <a:off x="502920" y="2834640"/>
            <a:ext cx="5852160" cy="256032"/>
          </a:xfrm>
          <a:prstGeom prst="rect">
            <a:avLst/>
          </a:prstGeom>
          <a:noFill/>
          <a:ln/>
        </p:spPr>
        <p:txBody>
          <a:bodyPr wrap="square" lIns="0" tIns="0" rIns="0" bIns="0" rtlCol="0" anchor="ctr"/>
          <a:lstStyle/>
          <a:p>
            <a:pPr marL="0" indent="0">
              <a:buNone/>
            </a:pPr>
            <a:r>
              <a:rPr lang="en-US" sz="1000" b="1" kern="0" spc="150" dirty="0">
                <a:solidFill>
                  <a:srgbClr val="12A4B0"/>
                </a:solidFill>
                <a:latin typeface="Calibri" pitchFamily="34" charset="0"/>
                <a:ea typeface="Calibri" pitchFamily="34" charset="-122"/>
                <a:cs typeface="Calibri" pitchFamily="34" charset="-120"/>
              </a:rPr>
              <a:t>ONCOLOGY — THE FASTEST GROWING THERAPEUTIC SEGMENT</a:t>
            </a:r>
            <a:endParaRPr lang="en-US" sz="1000" dirty="0"/>
          </a:p>
        </p:txBody>
      </p:sp>
      <p:sp>
        <p:nvSpPr>
          <p:cNvPr id="29" name="Text 27"/>
          <p:cNvSpPr/>
          <p:nvPr/>
        </p:nvSpPr>
        <p:spPr>
          <a:xfrm>
            <a:off x="502920" y="3108960"/>
            <a:ext cx="5852160" cy="1463040"/>
          </a:xfrm>
          <a:prstGeom prst="rect">
            <a:avLst/>
          </a:prstGeom>
          <a:noFill/>
          <a:ln/>
        </p:spPr>
        <p:txBody>
          <a:bodyPr wrap="square" lIns="0" tIns="0" rIns="0" bIns="0" rtlCol="0" anchor="t"/>
          <a:lstStyle/>
          <a:p>
            <a:pPr marL="0" indent="0">
              <a:lnSpc>
                <a:spcPct val="125000"/>
              </a:lnSpc>
              <a:buNone/>
            </a:pPr>
            <a:r>
              <a:rPr lang="en-US" sz="900" dirty="0">
                <a:solidFill>
                  <a:srgbClr val="C8D0D8"/>
                </a:solidFill>
                <a:latin typeface="Calibri" pitchFamily="34" charset="0"/>
                <a:ea typeface="Calibri" pitchFamily="34" charset="-122"/>
                <a:cs typeface="Calibri" pitchFamily="34" charset="-120"/>
              </a:rPr>
              <a:t>India's oncology drug market was valued at ~$2B in 2025 and is the largest pharma segment, growing at an 8-20% CAGR through 2030 (varying estimates). Key drivers: 1.46M+ new cancer diagnoses in 2024 (rising annually), Ayushman Bharat adding 17 high-cost oncology drugs to reimbursement (cutting household spend ~55%), and the National Cancer Grid expanding to 300+ centres. Biosimilar oncology drugs (trastuzumab, rituximab) are gaining rapid uptake under state cancer schemes. Indian companies are well-positioned in cytotoxic manufacturing — a high-barrier niche requiring cleanroom capabilities and regulatory approvals (EU-GMP, ANVISA, COFEPRIS). Beta Drugs operates at the intersection of these tailwinds: oncology-focused, CDMO-capable, export-oriented, and vertically integrated in API manufacturing.</a:t>
            </a:r>
            <a:endParaRPr lang="en-US" sz="900" dirty="0"/>
          </a:p>
        </p:txBody>
      </p:sp>
      <p:sp>
        <p:nvSpPr>
          <p:cNvPr id="30" name="Text 28"/>
          <p:cNvSpPr/>
          <p:nvPr/>
        </p:nvSpPr>
        <p:spPr>
          <a:xfrm>
            <a:off x="502920" y="4754880"/>
            <a:ext cx="7315200" cy="228600"/>
          </a:xfrm>
          <a:prstGeom prst="rect">
            <a:avLst/>
          </a:prstGeom>
          <a:noFill/>
          <a:ln/>
        </p:spPr>
        <p:txBody>
          <a:bodyPr wrap="square" lIns="0" tIns="0" rIns="0" bIns="0" rtlCol="0" anchor="ctr"/>
          <a:lstStyle/>
          <a:p>
            <a:pPr marL="0" indent="0">
              <a:buNone/>
            </a:pPr>
            <a:r>
              <a:rPr lang="en-US" sz="650" dirty="0">
                <a:solidFill>
                  <a:srgbClr val="5A6A78"/>
                </a:solidFill>
                <a:latin typeface="Calibri" pitchFamily="34" charset="0"/>
                <a:ea typeface="Calibri" pitchFamily="34" charset="-122"/>
                <a:cs typeface="Calibri" pitchFamily="34" charset="-120"/>
              </a:rPr>
              <a:t>Source: IMARC, Mordor Intelligence, Technavio, IQVIA, ISPE, MarkNtel Advisors, Company AR FY25  |  All market figures approximate</a:t>
            </a:r>
            <a:endParaRPr lang="en-US" sz="650" dirty="0"/>
          </a:p>
        </p:txBody>
      </p:sp>
      <p:sp>
        <p:nvSpPr>
          <p:cNvPr id="31" name="Text 29"/>
          <p:cNvSpPr/>
          <p:nvPr/>
        </p:nvSpPr>
        <p:spPr>
          <a:xfrm>
            <a:off x="8503920" y="4754880"/>
            <a:ext cx="365760" cy="228600"/>
          </a:xfrm>
          <a:prstGeom prst="rect">
            <a:avLst/>
          </a:prstGeom>
          <a:noFill/>
          <a:ln/>
        </p:spPr>
        <p:txBody>
          <a:bodyPr wrap="square" lIns="0" tIns="0" rIns="0" bIns="0" rtlCol="0" anchor="ctr"/>
          <a:lstStyle/>
          <a:p>
            <a:pPr marL="0" indent="0" algn="r">
              <a:buNone/>
            </a:pPr>
            <a:r>
              <a:rPr lang="en-US" sz="800" dirty="0">
                <a:solidFill>
                  <a:srgbClr val="0E7C86"/>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86"/>
          </a:solidFill>
          <a:ln/>
        </p:spPr>
        <p:txBody>
          <a:bodyPr/>
          <a:lstStyle/>
          <a:p>
            <a:endParaRPr lang="en-IN"/>
          </a:p>
        </p:txBody>
      </p:sp>
      <p:sp>
        <p:nvSpPr>
          <p:cNvPr id="3" name="Text 1"/>
          <p:cNvSpPr/>
          <p:nvPr/>
        </p:nvSpPr>
        <p:spPr>
          <a:xfrm>
            <a:off x="457200" y="68580"/>
            <a:ext cx="3657600" cy="274320"/>
          </a:xfrm>
          <a:prstGeom prst="rect">
            <a:avLst/>
          </a:prstGeom>
          <a:noFill/>
          <a:ln/>
        </p:spPr>
        <p:txBody>
          <a:bodyPr wrap="square" lIns="0" tIns="0" rIns="0" bIns="0" rtlCol="0" anchor="ctr"/>
          <a:lstStyle/>
          <a:p>
            <a:pPr marL="0" indent="0">
              <a:buNone/>
            </a:pPr>
            <a:r>
              <a:rPr lang="en-US" sz="1000" b="1" kern="0" spc="300" dirty="0">
                <a:solidFill>
                  <a:srgbClr val="0E7C86"/>
                </a:solidFill>
                <a:latin typeface="Calibri" pitchFamily="34" charset="0"/>
                <a:ea typeface="Calibri" pitchFamily="34" charset="-122"/>
                <a:cs typeface="Calibri" pitchFamily="34" charset="-120"/>
              </a:rPr>
              <a:t>BETA DRUGS LTD</a:t>
            </a:r>
            <a:endParaRPr lang="en-US" sz="1000" dirty="0"/>
          </a:p>
        </p:txBody>
      </p:sp>
      <p:sp>
        <p:nvSpPr>
          <p:cNvPr id="4" name="Text 2"/>
          <p:cNvSpPr/>
          <p:nvPr/>
        </p:nvSpPr>
        <p:spPr>
          <a:xfrm>
            <a:off x="457200" y="265176"/>
            <a:ext cx="5486400" cy="292608"/>
          </a:xfrm>
          <a:prstGeom prst="rect">
            <a:avLst/>
          </a:prstGeom>
          <a:noFill/>
          <a:ln/>
        </p:spPr>
        <p:txBody>
          <a:bodyPr wrap="square" lIns="0" tIns="0" rIns="0" bIns="0" rtlCol="0" anchor="ctr"/>
          <a:lstStyle/>
          <a:p>
            <a:pPr marL="0" indent="0">
              <a:buNone/>
            </a:pPr>
            <a:r>
              <a:rPr lang="en-US" sz="1600" b="1" dirty="0">
                <a:solidFill>
                  <a:srgbClr val="1A2332"/>
                </a:solidFill>
                <a:latin typeface="Calibri" pitchFamily="34" charset="0"/>
                <a:ea typeface="Calibri" pitchFamily="34" charset="-122"/>
                <a:cs typeface="Calibri" pitchFamily="34" charset="-120"/>
              </a:rPr>
              <a:t>Company Overview &amp; Financial Snapshot</a:t>
            </a:r>
            <a:endParaRPr lang="en-US" sz="1600" dirty="0"/>
          </a:p>
        </p:txBody>
      </p:sp>
      <p:grpSp>
        <p:nvGrpSpPr>
          <p:cNvPr id="41" name="Group 40">
            <a:extLst>
              <a:ext uri="{FF2B5EF4-FFF2-40B4-BE49-F238E27FC236}">
                <a16:creationId xmlns:a16="http://schemas.microsoft.com/office/drawing/2014/main" id="{9D1ABB82-0B31-00A9-1265-C44307E83A38}"/>
              </a:ext>
            </a:extLst>
          </p:cNvPr>
          <p:cNvGrpSpPr/>
          <p:nvPr/>
        </p:nvGrpSpPr>
        <p:grpSpPr>
          <a:xfrm>
            <a:off x="365760" y="676656"/>
            <a:ext cx="4206240" cy="1490472"/>
            <a:chOff x="457200" y="777240"/>
            <a:chExt cx="4114800" cy="1645920"/>
          </a:xfrm>
        </p:grpSpPr>
        <p:sp>
          <p:nvSpPr>
            <p:cNvPr id="5" name="Shape 3"/>
            <p:cNvSpPr/>
            <p:nvPr/>
          </p:nvSpPr>
          <p:spPr>
            <a:xfrm>
              <a:off x="457200" y="777240"/>
              <a:ext cx="4114800" cy="164592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6" name="Shape 4"/>
            <p:cNvSpPr/>
            <p:nvPr/>
          </p:nvSpPr>
          <p:spPr>
            <a:xfrm>
              <a:off x="457200" y="777240"/>
              <a:ext cx="64008" cy="1645920"/>
            </a:xfrm>
            <a:prstGeom prst="rect">
              <a:avLst/>
            </a:prstGeom>
            <a:solidFill>
              <a:srgbClr val="0E7C86"/>
            </a:solidFill>
            <a:ln/>
          </p:spPr>
          <p:txBody>
            <a:bodyPr/>
            <a:lstStyle/>
            <a:p>
              <a:endParaRPr lang="en-IN"/>
            </a:p>
          </p:txBody>
        </p:sp>
        <p:sp>
          <p:nvSpPr>
            <p:cNvPr id="7" name="Text 5"/>
            <p:cNvSpPr/>
            <p:nvPr/>
          </p:nvSpPr>
          <p:spPr>
            <a:xfrm>
              <a:off x="658368" y="850392"/>
              <a:ext cx="3657600" cy="201168"/>
            </a:xfrm>
            <a:prstGeom prst="rect">
              <a:avLst/>
            </a:prstGeom>
            <a:noFill/>
            <a:ln/>
          </p:spPr>
          <p:txBody>
            <a:bodyPr wrap="square" lIns="0" tIns="0" rIns="0" bIns="0" rtlCol="0" anchor="ctr"/>
            <a:lstStyle/>
            <a:p>
              <a:pPr marL="0" indent="0">
                <a:buNone/>
              </a:pPr>
              <a:r>
                <a:rPr lang="en-US" sz="850" b="1" kern="0" spc="150" dirty="0">
                  <a:solidFill>
                    <a:srgbClr val="0E7C86"/>
                  </a:solidFill>
                  <a:latin typeface="Calibri" pitchFamily="34" charset="0"/>
                  <a:ea typeface="Calibri" pitchFamily="34" charset="-122"/>
                  <a:cs typeface="Calibri" pitchFamily="34" charset="-120"/>
                </a:rPr>
                <a:t>ABOUT THE COMPANY</a:t>
              </a:r>
              <a:endParaRPr lang="en-US" sz="850" dirty="0"/>
            </a:p>
          </p:txBody>
        </p:sp>
        <p:sp>
          <p:nvSpPr>
            <p:cNvPr id="8" name="Text 6"/>
            <p:cNvSpPr/>
            <p:nvPr/>
          </p:nvSpPr>
          <p:spPr>
            <a:xfrm>
              <a:off x="658368" y="1069848"/>
              <a:ext cx="3749040" cy="1353312"/>
            </a:xfrm>
            <a:prstGeom prst="rect">
              <a:avLst/>
            </a:prstGeom>
            <a:noFill/>
            <a:ln/>
          </p:spPr>
          <p:txBody>
            <a:bodyPr wrap="square" lIns="0" tIns="0" rIns="0" bIns="0" rtlCol="0" anchor="t"/>
            <a:lstStyle/>
            <a:p>
              <a:pPr marL="0" indent="0">
                <a:lnSpc>
                  <a:spcPct val="120000"/>
                </a:lnSpc>
                <a:buNone/>
              </a:pPr>
              <a:r>
                <a:rPr lang="en-US" sz="800" b="1" dirty="0">
                  <a:solidFill>
                    <a:srgbClr val="1A2332"/>
                  </a:solidFill>
                  <a:latin typeface="Calibri" pitchFamily="34" charset="0"/>
                  <a:ea typeface="Calibri" pitchFamily="34" charset="-122"/>
                  <a:cs typeface="Calibri" pitchFamily="34" charset="-120"/>
                </a:rPr>
                <a:t>Founded 1985 (Adley Group) | HQ: Baddi, Himachal Pradesh</a:t>
              </a:r>
              <a:endParaRPr lang="en-US" sz="800" dirty="0"/>
            </a:p>
            <a:p>
              <a:pPr marL="0" indent="0">
                <a:lnSpc>
                  <a:spcPct val="120000"/>
                </a:lnSpc>
                <a:buNone/>
              </a:pPr>
              <a:r>
                <a:rPr lang="en-US" sz="780" dirty="0">
                  <a:solidFill>
                    <a:srgbClr val="1A2332"/>
                  </a:solidFill>
                  <a:latin typeface="Calibri" pitchFamily="34" charset="0"/>
                  <a:ea typeface="Calibri" pitchFamily="34" charset="-122"/>
                  <a:cs typeface="Calibri" pitchFamily="34" charset="-120"/>
                </a:rPr>
                <a:t>India's leading cytotoxic oncology drug manufacturer. Operates across Branded Formulations, CDMO, Exports (46+ countries, 268 market filings), API (34 oncology APIs in-house via Adley Lab, Derabassi), Dermatology (Inspira Derma, turned profitable Nov '25), and IVF (66% stake in Nivian Lifesciences acquired Jan '26 for ₹69.4 Cr). Serves top pharma cos. incl. Glenmark, Intas, Alkem, Torrent, Hetero. Forbes Asia 'Best Under a Billion' winner 3 consecutive years. Recently migrated from SME to NSE Main Board (Nov '25). Preferential issue of ₹117 Cr (Tanas Capital and HealthQuad — backed by BII, SwedFund, SIDBI, Merck, J&amp;J) strengthens balance sheet.</a:t>
              </a:r>
              <a:endParaRPr lang="en-US" sz="800" dirty="0"/>
            </a:p>
          </p:txBody>
        </p:sp>
      </p:grpSp>
      <p:grpSp>
        <p:nvGrpSpPr>
          <p:cNvPr id="42" name="Group 41">
            <a:extLst>
              <a:ext uri="{FF2B5EF4-FFF2-40B4-BE49-F238E27FC236}">
                <a16:creationId xmlns:a16="http://schemas.microsoft.com/office/drawing/2014/main" id="{C9BE4A9B-6900-0337-D28B-F90E1A53EC11}"/>
              </a:ext>
            </a:extLst>
          </p:cNvPr>
          <p:cNvGrpSpPr/>
          <p:nvPr/>
        </p:nvGrpSpPr>
        <p:grpSpPr>
          <a:xfrm>
            <a:off x="4800600" y="430445"/>
            <a:ext cx="4114800" cy="1965960"/>
            <a:chOff x="4800600" y="777240"/>
            <a:chExt cx="4114800" cy="1965960"/>
          </a:xfrm>
        </p:grpSpPr>
        <p:sp>
          <p:nvSpPr>
            <p:cNvPr id="9" name="Shape 7"/>
            <p:cNvSpPr/>
            <p:nvPr/>
          </p:nvSpPr>
          <p:spPr>
            <a:xfrm>
              <a:off x="4800600" y="777240"/>
              <a:ext cx="128016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10" name="Text 8"/>
            <p:cNvSpPr/>
            <p:nvPr/>
          </p:nvSpPr>
          <p:spPr>
            <a:xfrm>
              <a:off x="4800600" y="886968"/>
              <a:ext cx="128016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₹1,143 Cr</a:t>
              </a:r>
              <a:endParaRPr lang="en-US" sz="1300" dirty="0"/>
            </a:p>
          </p:txBody>
        </p:sp>
        <p:sp>
          <p:nvSpPr>
            <p:cNvPr id="11" name="Text 9"/>
            <p:cNvSpPr/>
            <p:nvPr/>
          </p:nvSpPr>
          <p:spPr>
            <a:xfrm>
              <a:off x="4800600" y="1188720"/>
              <a:ext cx="1280160" cy="182880"/>
            </a:xfrm>
            <a:prstGeom prst="rect">
              <a:avLst/>
            </a:prstGeom>
            <a:noFill/>
            <a:ln/>
          </p:spPr>
          <p:txBody>
            <a:bodyPr wrap="square" lIns="0" tIns="0" rIns="0" bIns="0" rtlCol="0" anchor="ctr"/>
            <a:lstStyle/>
            <a:p>
              <a:pPr marL="0" indent="0" algn="ctr">
                <a:buNone/>
              </a:pPr>
              <a:r>
                <a:rPr lang="en-US" sz="750" b="1" dirty="0">
                  <a:solidFill>
                    <a:srgbClr val="1A2332"/>
                  </a:solidFill>
                  <a:latin typeface="Calibri" pitchFamily="34" charset="0"/>
                  <a:ea typeface="Calibri" pitchFamily="34" charset="-122"/>
                  <a:cs typeface="Calibri" pitchFamily="34" charset="-120"/>
                </a:rPr>
                <a:t>Market Cap</a:t>
              </a:r>
              <a:endParaRPr lang="en-US" sz="750" dirty="0"/>
            </a:p>
          </p:txBody>
        </p:sp>
        <p:sp>
          <p:nvSpPr>
            <p:cNvPr id="12" name="Text 10"/>
            <p:cNvSpPr/>
            <p:nvPr/>
          </p:nvSpPr>
          <p:spPr>
            <a:xfrm>
              <a:off x="4800600" y="1371600"/>
              <a:ext cx="1280160" cy="182880"/>
            </a:xfrm>
            <a:prstGeom prst="rect">
              <a:avLst/>
            </a:prstGeom>
            <a:noFill/>
            <a:ln/>
          </p:spPr>
          <p:txBody>
            <a:bodyPr wrap="square" lIns="0" tIns="0" rIns="0" bIns="0" rtlCol="0" anchor="ctr"/>
            <a:lstStyle/>
            <a:p>
              <a:pPr marL="0" indent="0" algn="ctr">
                <a:buNone/>
              </a:pPr>
              <a:r>
                <a:rPr lang="en-US" sz="700" dirty="0">
                  <a:solidFill>
                    <a:srgbClr val="8A96A3"/>
                  </a:solidFill>
                  <a:latin typeface="Calibri" pitchFamily="34" charset="0"/>
                  <a:ea typeface="Calibri" pitchFamily="34" charset="-122"/>
                  <a:cs typeface="Calibri" pitchFamily="34" charset="-120"/>
                </a:rPr>
                <a:t>CMP ₹1,101</a:t>
              </a:r>
              <a:endParaRPr lang="en-US" sz="700" dirty="0"/>
            </a:p>
          </p:txBody>
        </p:sp>
        <p:sp>
          <p:nvSpPr>
            <p:cNvPr id="13" name="Shape 11"/>
            <p:cNvSpPr/>
            <p:nvPr/>
          </p:nvSpPr>
          <p:spPr>
            <a:xfrm>
              <a:off x="6217920" y="777240"/>
              <a:ext cx="128016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14" name="Text 12"/>
            <p:cNvSpPr/>
            <p:nvPr/>
          </p:nvSpPr>
          <p:spPr>
            <a:xfrm>
              <a:off x="6217920" y="886968"/>
              <a:ext cx="128016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₹368.8 Cr</a:t>
              </a:r>
              <a:endParaRPr lang="en-US" sz="1300" dirty="0"/>
            </a:p>
          </p:txBody>
        </p:sp>
        <p:sp>
          <p:nvSpPr>
            <p:cNvPr id="15" name="Text 13"/>
            <p:cNvSpPr/>
            <p:nvPr/>
          </p:nvSpPr>
          <p:spPr>
            <a:xfrm>
              <a:off x="6217920" y="1188720"/>
              <a:ext cx="1280160" cy="182880"/>
            </a:xfrm>
            <a:prstGeom prst="rect">
              <a:avLst/>
            </a:prstGeom>
            <a:noFill/>
            <a:ln/>
          </p:spPr>
          <p:txBody>
            <a:bodyPr wrap="square" lIns="0" tIns="0" rIns="0" bIns="0" rtlCol="0" anchor="ctr"/>
            <a:lstStyle/>
            <a:p>
              <a:pPr marL="0" indent="0" algn="ctr">
                <a:buNone/>
              </a:pPr>
              <a:r>
                <a:rPr lang="en-US" sz="750" b="1" dirty="0">
                  <a:solidFill>
                    <a:srgbClr val="1A2332"/>
                  </a:solidFill>
                  <a:latin typeface="Calibri" pitchFamily="34" charset="0"/>
                  <a:ea typeface="Calibri" pitchFamily="34" charset="-122"/>
                  <a:cs typeface="Calibri" pitchFamily="34" charset="-120"/>
                </a:rPr>
                <a:t>FY25 Revenue</a:t>
              </a:r>
              <a:endParaRPr lang="en-US" sz="750" dirty="0"/>
            </a:p>
          </p:txBody>
        </p:sp>
        <p:sp>
          <p:nvSpPr>
            <p:cNvPr id="16" name="Text 14"/>
            <p:cNvSpPr/>
            <p:nvPr/>
          </p:nvSpPr>
          <p:spPr>
            <a:xfrm>
              <a:off x="6217920" y="1371600"/>
              <a:ext cx="1280160" cy="182880"/>
            </a:xfrm>
            <a:prstGeom prst="rect">
              <a:avLst/>
            </a:prstGeom>
            <a:noFill/>
            <a:ln/>
          </p:spPr>
          <p:txBody>
            <a:bodyPr wrap="square" lIns="0" tIns="0" rIns="0" bIns="0" rtlCol="0" anchor="ctr"/>
            <a:lstStyle/>
            <a:p>
              <a:pPr marL="0" indent="0" algn="ctr">
                <a:buNone/>
              </a:pPr>
              <a:r>
                <a:rPr lang="en-US" sz="700" dirty="0">
                  <a:solidFill>
                    <a:srgbClr val="8A96A3"/>
                  </a:solidFill>
                  <a:latin typeface="Calibri" pitchFamily="34" charset="0"/>
                  <a:ea typeface="Calibri" pitchFamily="34" charset="-122"/>
                  <a:cs typeface="Calibri" pitchFamily="34" charset="-120"/>
                </a:rPr>
                <a:t>4-Yr CAGR 41.8%</a:t>
              </a:r>
              <a:endParaRPr lang="en-US" sz="700" dirty="0"/>
            </a:p>
          </p:txBody>
        </p:sp>
        <p:sp>
          <p:nvSpPr>
            <p:cNvPr id="17" name="Shape 15"/>
            <p:cNvSpPr/>
            <p:nvPr/>
          </p:nvSpPr>
          <p:spPr>
            <a:xfrm>
              <a:off x="7635240" y="777240"/>
              <a:ext cx="128016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18" name="Text 16"/>
            <p:cNvSpPr/>
            <p:nvPr/>
          </p:nvSpPr>
          <p:spPr>
            <a:xfrm>
              <a:off x="7635240" y="886968"/>
              <a:ext cx="128016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₹84.9 Cr</a:t>
              </a:r>
              <a:endParaRPr lang="en-US" sz="1300" dirty="0"/>
            </a:p>
          </p:txBody>
        </p:sp>
        <p:sp>
          <p:nvSpPr>
            <p:cNvPr id="19" name="Text 17"/>
            <p:cNvSpPr/>
            <p:nvPr/>
          </p:nvSpPr>
          <p:spPr>
            <a:xfrm>
              <a:off x="7635240" y="1188720"/>
              <a:ext cx="1280160" cy="182880"/>
            </a:xfrm>
            <a:prstGeom prst="rect">
              <a:avLst/>
            </a:prstGeom>
            <a:noFill/>
            <a:ln/>
          </p:spPr>
          <p:txBody>
            <a:bodyPr wrap="square" lIns="0" tIns="0" rIns="0" bIns="0" rtlCol="0" anchor="ctr"/>
            <a:lstStyle/>
            <a:p>
              <a:pPr marL="0" indent="0" algn="ctr">
                <a:buNone/>
              </a:pPr>
              <a:r>
                <a:rPr lang="en-US" sz="750" b="1" dirty="0">
                  <a:solidFill>
                    <a:srgbClr val="1A2332"/>
                  </a:solidFill>
                  <a:latin typeface="Calibri" pitchFamily="34" charset="0"/>
                  <a:ea typeface="Calibri" pitchFamily="34" charset="-122"/>
                  <a:cs typeface="Calibri" pitchFamily="34" charset="-120"/>
                </a:rPr>
                <a:t>FY25 EBITDA</a:t>
              </a:r>
              <a:endParaRPr lang="en-US" sz="750" dirty="0"/>
            </a:p>
          </p:txBody>
        </p:sp>
        <p:sp>
          <p:nvSpPr>
            <p:cNvPr id="20" name="Text 18"/>
            <p:cNvSpPr/>
            <p:nvPr/>
          </p:nvSpPr>
          <p:spPr>
            <a:xfrm>
              <a:off x="7635240" y="1371600"/>
              <a:ext cx="1280160" cy="182880"/>
            </a:xfrm>
            <a:prstGeom prst="rect">
              <a:avLst/>
            </a:prstGeom>
            <a:noFill/>
            <a:ln/>
          </p:spPr>
          <p:txBody>
            <a:bodyPr wrap="square" lIns="0" tIns="0" rIns="0" bIns="0" rtlCol="0" anchor="ctr"/>
            <a:lstStyle/>
            <a:p>
              <a:pPr marL="0" indent="0" algn="ctr">
                <a:buNone/>
              </a:pPr>
              <a:r>
                <a:rPr lang="en-US" sz="700" dirty="0">
                  <a:solidFill>
                    <a:srgbClr val="8A96A3"/>
                  </a:solidFill>
                  <a:latin typeface="Calibri" pitchFamily="34" charset="0"/>
                  <a:ea typeface="Calibri" pitchFamily="34" charset="-122"/>
                  <a:cs typeface="Calibri" pitchFamily="34" charset="-120"/>
                </a:rPr>
                <a:t>Margin 23.0%</a:t>
              </a:r>
              <a:endParaRPr lang="en-US" sz="700" dirty="0"/>
            </a:p>
          </p:txBody>
        </p:sp>
        <p:sp>
          <p:nvSpPr>
            <p:cNvPr id="21" name="Shape 19"/>
            <p:cNvSpPr/>
            <p:nvPr/>
          </p:nvSpPr>
          <p:spPr>
            <a:xfrm>
              <a:off x="4800600" y="1828800"/>
              <a:ext cx="128016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22" name="Text 20"/>
            <p:cNvSpPr/>
            <p:nvPr/>
          </p:nvSpPr>
          <p:spPr>
            <a:xfrm>
              <a:off x="4800600" y="1938528"/>
              <a:ext cx="128016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₹72.6 Cr</a:t>
              </a:r>
              <a:endParaRPr lang="en-US" sz="1300" dirty="0"/>
            </a:p>
          </p:txBody>
        </p:sp>
        <p:sp>
          <p:nvSpPr>
            <p:cNvPr id="23" name="Text 21"/>
            <p:cNvSpPr/>
            <p:nvPr/>
          </p:nvSpPr>
          <p:spPr>
            <a:xfrm>
              <a:off x="4800600" y="2240280"/>
              <a:ext cx="1280160" cy="182880"/>
            </a:xfrm>
            <a:prstGeom prst="rect">
              <a:avLst/>
            </a:prstGeom>
            <a:noFill/>
            <a:ln/>
          </p:spPr>
          <p:txBody>
            <a:bodyPr wrap="square" lIns="0" tIns="0" rIns="0" bIns="0" rtlCol="0" anchor="ctr"/>
            <a:lstStyle/>
            <a:p>
              <a:pPr marL="0" indent="0" algn="ctr">
                <a:buNone/>
              </a:pPr>
              <a:r>
                <a:rPr lang="en-US" sz="750" b="1" dirty="0">
                  <a:solidFill>
                    <a:srgbClr val="1A2332"/>
                  </a:solidFill>
                  <a:latin typeface="Calibri" pitchFamily="34" charset="0"/>
                  <a:ea typeface="Calibri" pitchFamily="34" charset="-122"/>
                  <a:cs typeface="Calibri" pitchFamily="34" charset="-120"/>
                </a:rPr>
                <a:t>FY25 PAT</a:t>
              </a:r>
              <a:endParaRPr lang="en-US" sz="750" dirty="0"/>
            </a:p>
          </p:txBody>
        </p:sp>
        <p:sp>
          <p:nvSpPr>
            <p:cNvPr id="24" name="Text 22"/>
            <p:cNvSpPr/>
            <p:nvPr/>
          </p:nvSpPr>
          <p:spPr>
            <a:xfrm>
              <a:off x="4800600" y="2423160"/>
              <a:ext cx="1280160" cy="182880"/>
            </a:xfrm>
            <a:prstGeom prst="rect">
              <a:avLst/>
            </a:prstGeom>
            <a:noFill/>
            <a:ln/>
          </p:spPr>
          <p:txBody>
            <a:bodyPr wrap="square" lIns="0" tIns="0" rIns="0" bIns="0" rtlCol="0" anchor="ctr"/>
            <a:lstStyle/>
            <a:p>
              <a:pPr marL="0" indent="0" algn="ctr">
                <a:buNone/>
              </a:pPr>
              <a:r>
                <a:rPr lang="en-US" sz="700" dirty="0">
                  <a:solidFill>
                    <a:srgbClr val="8A96A3"/>
                  </a:solidFill>
                  <a:latin typeface="Calibri" pitchFamily="34" charset="0"/>
                  <a:ea typeface="Calibri" pitchFamily="34" charset="-122"/>
                  <a:cs typeface="Calibri" pitchFamily="34" charset="-120"/>
                </a:rPr>
                <a:t>NPM 19.7%</a:t>
              </a:r>
              <a:endParaRPr lang="en-US" sz="700" dirty="0"/>
            </a:p>
          </p:txBody>
        </p:sp>
        <p:sp>
          <p:nvSpPr>
            <p:cNvPr id="25" name="Shape 23"/>
            <p:cNvSpPr/>
            <p:nvPr/>
          </p:nvSpPr>
          <p:spPr>
            <a:xfrm>
              <a:off x="6217920" y="1828800"/>
              <a:ext cx="128016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26" name="Text 24"/>
            <p:cNvSpPr/>
            <p:nvPr/>
          </p:nvSpPr>
          <p:spPr>
            <a:xfrm>
              <a:off x="6217920" y="1938528"/>
              <a:ext cx="128016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38.7%</a:t>
              </a:r>
              <a:endParaRPr lang="en-US" sz="1300" dirty="0"/>
            </a:p>
          </p:txBody>
        </p:sp>
        <p:sp>
          <p:nvSpPr>
            <p:cNvPr id="27" name="Text 25"/>
            <p:cNvSpPr/>
            <p:nvPr/>
          </p:nvSpPr>
          <p:spPr>
            <a:xfrm>
              <a:off x="6217920" y="2240280"/>
              <a:ext cx="1280160" cy="182880"/>
            </a:xfrm>
            <a:prstGeom prst="rect">
              <a:avLst/>
            </a:prstGeom>
            <a:noFill/>
            <a:ln/>
          </p:spPr>
          <p:txBody>
            <a:bodyPr wrap="square" lIns="0" tIns="0" rIns="0" bIns="0" rtlCol="0" anchor="ctr"/>
            <a:lstStyle/>
            <a:p>
              <a:pPr marL="0" indent="0" algn="ctr">
                <a:buNone/>
              </a:pPr>
              <a:r>
                <a:rPr lang="en-US" sz="750" b="1" dirty="0">
                  <a:solidFill>
                    <a:srgbClr val="1A2332"/>
                  </a:solidFill>
                  <a:latin typeface="Calibri" pitchFamily="34" charset="0"/>
                  <a:ea typeface="Calibri" pitchFamily="34" charset="-122"/>
                  <a:cs typeface="Calibri" pitchFamily="34" charset="-120"/>
                </a:rPr>
                <a:t>FY25 ROCE</a:t>
              </a:r>
              <a:endParaRPr lang="en-US" sz="750" dirty="0"/>
            </a:p>
          </p:txBody>
        </p:sp>
        <p:sp>
          <p:nvSpPr>
            <p:cNvPr id="28" name="Text 26"/>
            <p:cNvSpPr/>
            <p:nvPr/>
          </p:nvSpPr>
          <p:spPr>
            <a:xfrm>
              <a:off x="6217920" y="2423160"/>
              <a:ext cx="1280160" cy="182880"/>
            </a:xfrm>
            <a:prstGeom prst="rect">
              <a:avLst/>
            </a:prstGeom>
            <a:noFill/>
            <a:ln/>
          </p:spPr>
          <p:txBody>
            <a:bodyPr wrap="square" lIns="0" tIns="0" rIns="0" bIns="0" rtlCol="0" anchor="ctr"/>
            <a:lstStyle/>
            <a:p>
              <a:pPr marL="0" indent="0" algn="ctr">
                <a:buNone/>
              </a:pPr>
              <a:r>
                <a:rPr lang="en-US" sz="700" dirty="0">
                  <a:solidFill>
                    <a:srgbClr val="8A96A3"/>
                  </a:solidFill>
                  <a:latin typeface="Calibri" pitchFamily="34" charset="0"/>
                  <a:ea typeface="Calibri" pitchFamily="34" charset="-122"/>
                  <a:cs typeface="Calibri" pitchFamily="34" charset="-120"/>
                </a:rPr>
                <a:t>ROE 36.8%</a:t>
              </a:r>
              <a:endParaRPr lang="en-US" sz="700" dirty="0"/>
            </a:p>
          </p:txBody>
        </p:sp>
        <p:sp>
          <p:nvSpPr>
            <p:cNvPr id="29" name="Shape 27"/>
            <p:cNvSpPr/>
            <p:nvPr/>
          </p:nvSpPr>
          <p:spPr>
            <a:xfrm>
              <a:off x="7635240" y="1828800"/>
              <a:ext cx="128016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en-IN"/>
            </a:p>
          </p:txBody>
        </p:sp>
        <p:sp>
          <p:nvSpPr>
            <p:cNvPr id="30" name="Text 28"/>
            <p:cNvSpPr/>
            <p:nvPr/>
          </p:nvSpPr>
          <p:spPr>
            <a:xfrm>
              <a:off x="7635240" y="1938528"/>
              <a:ext cx="1280160" cy="32004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0.09x</a:t>
              </a:r>
              <a:endParaRPr lang="en-US" sz="1300" dirty="0"/>
            </a:p>
          </p:txBody>
        </p:sp>
        <p:sp>
          <p:nvSpPr>
            <p:cNvPr id="31" name="Text 29"/>
            <p:cNvSpPr/>
            <p:nvPr/>
          </p:nvSpPr>
          <p:spPr>
            <a:xfrm>
              <a:off x="7635240" y="2240280"/>
              <a:ext cx="1280160" cy="182880"/>
            </a:xfrm>
            <a:prstGeom prst="rect">
              <a:avLst/>
            </a:prstGeom>
            <a:noFill/>
            <a:ln/>
          </p:spPr>
          <p:txBody>
            <a:bodyPr wrap="square" lIns="0" tIns="0" rIns="0" bIns="0" rtlCol="0" anchor="ctr"/>
            <a:lstStyle/>
            <a:p>
              <a:pPr marL="0" indent="0" algn="ctr">
                <a:buNone/>
              </a:pPr>
              <a:r>
                <a:rPr lang="en-US" sz="750" b="1" dirty="0">
                  <a:solidFill>
                    <a:srgbClr val="1A2332"/>
                  </a:solidFill>
                  <a:latin typeface="Calibri" pitchFamily="34" charset="0"/>
                  <a:ea typeface="Calibri" pitchFamily="34" charset="-122"/>
                  <a:cs typeface="Calibri" pitchFamily="34" charset="-120"/>
                </a:rPr>
                <a:t>FY25 D/E</a:t>
              </a:r>
              <a:endParaRPr lang="en-US" sz="750" dirty="0"/>
            </a:p>
          </p:txBody>
        </p:sp>
        <p:sp>
          <p:nvSpPr>
            <p:cNvPr id="32" name="Text 30"/>
            <p:cNvSpPr/>
            <p:nvPr/>
          </p:nvSpPr>
          <p:spPr>
            <a:xfrm>
              <a:off x="7635240" y="2423160"/>
              <a:ext cx="1280160" cy="182880"/>
            </a:xfrm>
            <a:prstGeom prst="rect">
              <a:avLst/>
            </a:prstGeom>
            <a:noFill/>
            <a:ln/>
          </p:spPr>
          <p:txBody>
            <a:bodyPr wrap="square" lIns="0" tIns="0" rIns="0" bIns="0" rtlCol="0" anchor="ctr"/>
            <a:lstStyle/>
            <a:p>
              <a:pPr marL="0" indent="0" algn="ctr">
                <a:buNone/>
              </a:pPr>
              <a:r>
                <a:rPr lang="en-US" sz="700" dirty="0">
                  <a:solidFill>
                    <a:srgbClr val="8A96A3"/>
                  </a:solidFill>
                  <a:latin typeface="Calibri" pitchFamily="34" charset="0"/>
                  <a:ea typeface="Calibri" pitchFamily="34" charset="-122"/>
                  <a:cs typeface="Calibri" pitchFamily="34" charset="-120"/>
                </a:rPr>
                <a:t>Net Cash ₹103 Cr</a:t>
              </a:r>
              <a:endParaRPr lang="en-US" sz="700" dirty="0"/>
            </a:p>
          </p:txBody>
        </p:sp>
      </p:grpSp>
      <p:sp>
        <p:nvSpPr>
          <p:cNvPr id="33" name="Text 31"/>
          <p:cNvSpPr/>
          <p:nvPr/>
        </p:nvSpPr>
        <p:spPr>
          <a:xfrm>
            <a:off x="431190" y="2195237"/>
            <a:ext cx="3657600" cy="182880"/>
          </a:xfrm>
          <a:prstGeom prst="rect">
            <a:avLst/>
          </a:prstGeom>
          <a:noFill/>
          <a:ln/>
        </p:spPr>
        <p:txBody>
          <a:bodyPr wrap="square" lIns="0" tIns="0" rIns="0" bIns="0" rtlCol="0" anchor="ctr"/>
          <a:lstStyle/>
          <a:p>
            <a:pPr marL="0" indent="0">
              <a:buNone/>
            </a:pPr>
            <a:r>
              <a:rPr lang="en-US" sz="800" b="1" kern="0" spc="100" dirty="0">
                <a:solidFill>
                  <a:srgbClr val="0E7C86"/>
                </a:solidFill>
                <a:latin typeface="Calibri" pitchFamily="34" charset="0"/>
                <a:ea typeface="Calibri" pitchFamily="34" charset="-122"/>
                <a:cs typeface="Calibri" pitchFamily="34" charset="-120"/>
              </a:rPr>
              <a:t>INCOME STATEMENT (₹ Cr)</a:t>
            </a:r>
            <a:endParaRPr lang="en-US" sz="800" dirty="0"/>
          </a:p>
        </p:txBody>
      </p:sp>
      <p:graphicFrame>
        <p:nvGraphicFramePr>
          <p:cNvPr id="34" name="Table 0"/>
          <p:cNvGraphicFramePr>
            <a:graphicFrameLocks noGrp="1"/>
          </p:cNvGraphicFramePr>
          <p:nvPr>
            <p:extLst>
              <p:ext uri="{D42A27DB-BD31-4B8C-83A1-F6EECF244321}">
                <p14:modId xmlns:p14="http://schemas.microsoft.com/office/powerpoint/2010/main" val="2368010936"/>
              </p:ext>
            </p:extLst>
          </p:nvPr>
        </p:nvGraphicFramePr>
        <p:xfrm>
          <a:off x="431190" y="2396405"/>
          <a:ext cx="3886200" cy="1097280"/>
        </p:xfrm>
        <a:graphic>
          <a:graphicData uri="http://schemas.openxmlformats.org/drawingml/2006/table">
            <a:tbl>
              <a:tblPr/>
              <a:tblGrid>
                <a:gridCol w="86868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tblGrid>
              <a:tr h="182880">
                <a:tc>
                  <a:txBody>
                    <a:bodyPr/>
                    <a:lstStyle/>
                    <a:p>
                      <a:pPr marL="0" indent="0" algn="l">
                        <a:buNone/>
                      </a:pPr>
                      <a:r>
                        <a:rPr lang="en-US" sz="650" b="1" dirty="0">
                          <a:solidFill>
                            <a:srgbClr val="FFFFFF"/>
                          </a:solidFill>
                          <a:latin typeface="Calibri" pitchFamily="34" charset="0"/>
                          <a:ea typeface="Calibri" pitchFamily="34" charset="-122"/>
                          <a:cs typeface="Calibri" pitchFamily="34" charset="-120"/>
                        </a:rPr>
                        <a:t>Particulars</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FY23A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FY24A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FY25A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FY26E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FY27E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FY30E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Revenue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227.1</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297.1</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368.8</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400.0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545.0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1,140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extLst>
                  <a:ext uri="{0D108BD9-81ED-4DB2-BD59-A6C34878D82A}">
                    <a16:rowId xmlns:a16="http://schemas.microsoft.com/office/drawing/2014/main" val="10001"/>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EBITDA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61.3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59.4</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84.9</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88.0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133.5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370.5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EBITDA Margin</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27.0%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20.0%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23.0%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22.0%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24.5%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32.5%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extLst>
                  <a:ext uri="{0D108BD9-81ED-4DB2-BD59-A6C34878D82A}">
                    <a16:rowId xmlns:a16="http://schemas.microsoft.com/office/drawing/2014/main" val="10003"/>
                  </a:ext>
                </a:extLst>
              </a:tr>
              <a:tr h="182880">
                <a:tc>
                  <a:txBody>
                    <a:bodyPr/>
                    <a:lstStyle/>
                    <a:p>
                      <a:pPr marL="0" indent="0" algn="l">
                        <a:buNone/>
                      </a:pPr>
                      <a:r>
                        <a:rPr lang="en-US" sz="650" b="1" dirty="0">
                          <a:solidFill>
                            <a:srgbClr val="1A2332"/>
                          </a:solidFill>
                          <a:latin typeface="Calibri" pitchFamily="34" charset="0"/>
                          <a:ea typeface="Calibri" pitchFamily="34" charset="-122"/>
                          <a:cs typeface="Calibri" pitchFamily="34" charset="-120"/>
                        </a:rPr>
                        <a:t>PAT</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46.3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45.7</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72.6</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62.0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95.9</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274.6</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EPS (₹)</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48.2</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47.6</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71.9</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59.7</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92.3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264.4</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extLst>
                  <a:ext uri="{0D108BD9-81ED-4DB2-BD59-A6C34878D82A}">
                    <a16:rowId xmlns:a16="http://schemas.microsoft.com/office/drawing/2014/main" val="10005"/>
                  </a:ext>
                </a:extLst>
              </a:tr>
            </a:tbl>
          </a:graphicData>
        </a:graphic>
      </p:graphicFrame>
      <p:sp>
        <p:nvSpPr>
          <p:cNvPr id="35" name="Text 32"/>
          <p:cNvSpPr/>
          <p:nvPr/>
        </p:nvSpPr>
        <p:spPr>
          <a:xfrm>
            <a:off x="4846320" y="2432304"/>
            <a:ext cx="4114800" cy="182880"/>
          </a:xfrm>
          <a:prstGeom prst="rect">
            <a:avLst/>
          </a:prstGeom>
          <a:noFill/>
          <a:ln/>
        </p:spPr>
        <p:txBody>
          <a:bodyPr wrap="square" lIns="0" tIns="0" rIns="0" bIns="0" rtlCol="0" anchor="ctr"/>
          <a:lstStyle/>
          <a:p>
            <a:pPr marL="0" indent="0">
              <a:buNone/>
            </a:pPr>
            <a:r>
              <a:rPr lang="en-US" sz="800" b="1" kern="0" spc="100" dirty="0">
                <a:solidFill>
                  <a:srgbClr val="0E7C86"/>
                </a:solidFill>
                <a:latin typeface="Calibri" pitchFamily="34" charset="0"/>
                <a:ea typeface="Calibri" pitchFamily="34" charset="-122"/>
                <a:cs typeface="Calibri" pitchFamily="34" charset="-120"/>
              </a:rPr>
              <a:t>BALANCE SHEET &amp; CASH FLOW (₹ Cr)</a:t>
            </a:r>
            <a:endParaRPr lang="en-US" sz="800" dirty="0"/>
          </a:p>
        </p:txBody>
      </p:sp>
      <p:graphicFrame>
        <p:nvGraphicFramePr>
          <p:cNvPr id="36" name="Table 1"/>
          <p:cNvGraphicFramePr>
            <a:graphicFrameLocks noGrp="1"/>
          </p:cNvGraphicFramePr>
          <p:nvPr>
            <p:extLst>
              <p:ext uri="{D42A27DB-BD31-4B8C-83A1-F6EECF244321}">
                <p14:modId xmlns:p14="http://schemas.microsoft.com/office/powerpoint/2010/main" val="698058311"/>
              </p:ext>
            </p:extLst>
          </p:nvPr>
        </p:nvGraphicFramePr>
        <p:xfrm>
          <a:off x="4846320" y="2600621"/>
          <a:ext cx="3657600" cy="1097280"/>
        </p:xfrm>
        <a:graphic>
          <a:graphicData uri="http://schemas.openxmlformats.org/drawingml/2006/table">
            <a:tbl>
              <a:tblPr/>
              <a:tblGrid>
                <a:gridCol w="86868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tblGrid>
              <a:tr h="182880">
                <a:tc>
                  <a:txBody>
                    <a:bodyPr/>
                    <a:lstStyle/>
                    <a:p>
                      <a:pPr marL="0" indent="0" algn="l">
                        <a:buNone/>
                      </a:pPr>
                      <a:r>
                        <a:rPr lang="en-US" sz="650" b="1" dirty="0">
                          <a:solidFill>
                            <a:srgbClr val="FFFFFF"/>
                          </a:solidFill>
                          <a:latin typeface="Calibri" pitchFamily="34" charset="0"/>
                          <a:ea typeface="Calibri" pitchFamily="34" charset="-122"/>
                          <a:cs typeface="Calibri" pitchFamily="34" charset="-120"/>
                        </a:rPr>
                        <a:t>Particulars</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FY23A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FY24A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FY25A</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FY26E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FY27E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tc>
                  <a:txBody>
                    <a:bodyPr/>
                    <a:lstStyle/>
                    <a:p>
                      <a:pPr marL="0" indent="0" algn="r">
                        <a:buNone/>
                      </a:pPr>
                      <a:r>
                        <a:rPr lang="en-US" sz="650" b="1" dirty="0">
                          <a:solidFill>
                            <a:srgbClr val="FFFFFF"/>
                          </a:solidFill>
                          <a:latin typeface="Calibri" pitchFamily="34" charset="0"/>
                          <a:ea typeface="Calibri" pitchFamily="34" charset="-122"/>
                          <a:cs typeface="Calibri" pitchFamily="34" charset="-120"/>
                        </a:rPr>
                        <a:t>FY30E</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Total Equity</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124.8</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167.0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197.3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298.6</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380.1</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913.8</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extLst>
                  <a:ext uri="{0D108BD9-81ED-4DB2-BD59-A6C34878D82A}">
                    <a16:rowId xmlns:a16="http://schemas.microsoft.com/office/drawing/2014/main" val="10001"/>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Total Assets</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201.7</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272.3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424.3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513.6</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602.3</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1,159.5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Net Debt/(Cash)</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19.5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6.0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(103.0)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(125.8)</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(174.8)</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(452.6)</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extLst>
                  <a:ext uri="{0D108BD9-81ED-4DB2-BD59-A6C34878D82A}">
                    <a16:rowId xmlns:a16="http://schemas.microsoft.com/office/drawing/2014/main" val="10003"/>
                  </a:ext>
                </a:extLst>
              </a:tr>
              <a:tr h="182880">
                <a:tc>
                  <a:txBody>
                    <a:bodyPr/>
                    <a:lstStyle/>
                    <a:p>
                      <a:pPr marL="0" indent="0" algn="l">
                        <a:buNone/>
                      </a:pPr>
                      <a:r>
                        <a:rPr lang="en-US" sz="650" dirty="0">
                          <a:solidFill>
                            <a:srgbClr val="1A2332"/>
                          </a:solidFill>
                          <a:latin typeface="Calibri" pitchFamily="34" charset="0"/>
                          <a:ea typeface="Calibri" pitchFamily="34" charset="-122"/>
                          <a:cs typeface="Calibri" pitchFamily="34" charset="-120"/>
                        </a:rPr>
                        <a:t>CFO</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26.1</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32.7</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46.2</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75.5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72.4</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tc>
                  <a:txBody>
                    <a:bodyPr/>
                    <a:lstStyle/>
                    <a:p>
                      <a:pPr marL="0" indent="0" algn="r">
                        <a:buNone/>
                      </a:pPr>
                      <a:r>
                        <a:rPr lang="en-US" sz="650" dirty="0">
                          <a:solidFill>
                            <a:srgbClr val="1A2332"/>
                          </a:solidFill>
                          <a:latin typeface="Calibri" pitchFamily="34" charset="0"/>
                          <a:ea typeface="Calibri" pitchFamily="34" charset="-122"/>
                          <a:cs typeface="Calibri" pitchFamily="34" charset="-120"/>
                        </a:rPr>
                        <a:t>256.0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2880">
                <a:tc>
                  <a:txBody>
                    <a:bodyPr/>
                    <a:lstStyle/>
                    <a:p>
                      <a:pPr marL="0" indent="0" algn="l">
                        <a:buNone/>
                      </a:pPr>
                      <a:r>
                        <a:rPr lang="en-US" sz="650" b="1" dirty="0">
                          <a:solidFill>
                            <a:srgbClr val="1A2332"/>
                          </a:solidFill>
                          <a:latin typeface="Calibri" pitchFamily="34" charset="0"/>
                          <a:ea typeface="Calibri" pitchFamily="34" charset="-122"/>
                          <a:cs typeface="Calibri" pitchFamily="34" charset="-120"/>
                        </a:rPr>
                        <a:t>FCF</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7.1</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18.7</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21.2</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40.5</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30.4</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tc>
                  <a:txBody>
                    <a:bodyPr/>
                    <a:lstStyle/>
                    <a:p>
                      <a:pPr marL="0" indent="0" algn="r">
                        <a:buNone/>
                      </a:pPr>
                      <a:r>
                        <a:rPr lang="en-US" sz="650" b="1" dirty="0">
                          <a:solidFill>
                            <a:srgbClr val="1A2332"/>
                          </a:solidFill>
                          <a:latin typeface="Calibri" pitchFamily="34" charset="0"/>
                          <a:ea typeface="Calibri" pitchFamily="34" charset="-122"/>
                          <a:cs typeface="Calibri" pitchFamily="34" charset="-120"/>
                        </a:rPr>
                        <a:t>201.0</a:t>
                      </a:r>
                      <a:endParaRPr lang="en-US" sz="650" dirty="0">
                        <a:latin typeface="Calibri" charset="0"/>
                        <a:ea typeface="Calibri" charset="0"/>
                        <a:cs typeface="Calibri" charset="0"/>
                      </a:endParaRPr>
                    </a:p>
                  </a:txBody>
                  <a:tcPr marL="38100" marR="38100" marT="12700" marB="12700">
                    <a:lnL w="3810" cap="flat" cmpd="sng" algn="ctr">
                      <a:solidFill>
                        <a:srgbClr val="E2E6EA"/>
                      </a:solidFill>
                      <a:prstDash val="solid"/>
                      <a:round/>
                      <a:headEnd type="none" w="med" len="med"/>
                      <a:tailEnd type="none" w="med" len="med"/>
                    </a:lnL>
                    <a:lnR w="3810" cap="flat" cmpd="sng" algn="ctr">
                      <a:solidFill>
                        <a:srgbClr val="E2E6EA"/>
                      </a:solidFill>
                      <a:prstDash val="solid"/>
                      <a:round/>
                      <a:headEnd type="none" w="med" len="med"/>
                      <a:tailEnd type="none" w="med" len="med"/>
                    </a:lnR>
                    <a:lnT w="3810" cap="flat" cmpd="sng" algn="ctr">
                      <a:solidFill>
                        <a:srgbClr val="E2E6EA"/>
                      </a:solidFill>
                      <a:prstDash val="solid"/>
                      <a:round/>
                      <a:headEnd type="none" w="med" len="med"/>
                      <a:tailEnd type="none" w="med" len="med"/>
                    </a:lnT>
                    <a:lnB w="3810" cap="flat" cmpd="sng" algn="ctr">
                      <a:solidFill>
                        <a:srgbClr val="E2E6EA"/>
                      </a:solidFill>
                      <a:prstDash val="solid"/>
                      <a:round/>
                      <a:headEnd type="none" w="med" len="med"/>
                      <a:tailEnd type="none" w="med" len="med"/>
                    </a:lnB>
                    <a:solidFill>
                      <a:srgbClr val="F8FAFB"/>
                    </a:solidFill>
                  </a:tcPr>
                </a:tc>
                <a:extLst>
                  <a:ext uri="{0D108BD9-81ED-4DB2-BD59-A6C34878D82A}">
                    <a16:rowId xmlns:a16="http://schemas.microsoft.com/office/drawing/2014/main" val="10005"/>
                  </a:ext>
                </a:extLst>
              </a:tr>
            </a:tbl>
          </a:graphicData>
        </a:graphic>
      </p:graphicFrame>
      <p:graphicFrame>
        <p:nvGraphicFramePr>
          <p:cNvPr id="37" name="Chart 0"/>
          <p:cNvGraphicFramePr/>
          <p:nvPr>
            <p:extLst>
              <p:ext uri="{D42A27DB-BD31-4B8C-83A1-F6EECF244321}">
                <p14:modId xmlns:p14="http://schemas.microsoft.com/office/powerpoint/2010/main" val="3574653578"/>
              </p:ext>
            </p:extLst>
          </p:nvPr>
        </p:nvGraphicFramePr>
        <p:xfrm>
          <a:off x="457200" y="3539405"/>
          <a:ext cx="4206240" cy="13526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8" name="Chart 1"/>
          <p:cNvGraphicFramePr/>
          <p:nvPr>
            <p:extLst>
              <p:ext uri="{D42A27DB-BD31-4B8C-83A1-F6EECF244321}">
                <p14:modId xmlns:p14="http://schemas.microsoft.com/office/powerpoint/2010/main" val="2203786717"/>
              </p:ext>
            </p:extLst>
          </p:nvPr>
        </p:nvGraphicFramePr>
        <p:xfrm>
          <a:off x="4846320" y="3697901"/>
          <a:ext cx="3931920" cy="1228344"/>
        </p:xfrm>
        <a:graphic>
          <a:graphicData uri="http://schemas.openxmlformats.org/drawingml/2006/chart">
            <c:chart xmlns:c="http://schemas.openxmlformats.org/drawingml/2006/chart" xmlns:r="http://schemas.openxmlformats.org/officeDocument/2006/relationships" r:id="rId4"/>
          </a:graphicData>
        </a:graphic>
      </p:graphicFrame>
      <p:sp>
        <p:nvSpPr>
          <p:cNvPr id="39" name="Text 33"/>
          <p:cNvSpPr/>
          <p:nvPr/>
        </p:nvSpPr>
        <p:spPr>
          <a:xfrm>
            <a:off x="457200" y="4926245"/>
            <a:ext cx="6400800" cy="182880"/>
          </a:xfrm>
          <a:prstGeom prst="rect">
            <a:avLst/>
          </a:prstGeom>
          <a:noFill/>
          <a:ln/>
        </p:spPr>
        <p:txBody>
          <a:bodyPr wrap="square" lIns="0" tIns="0" rIns="0" bIns="0" rtlCol="0" anchor="ctr"/>
          <a:lstStyle/>
          <a:p>
            <a:pPr marL="0" indent="0">
              <a:buNone/>
            </a:pPr>
            <a:r>
              <a:rPr lang="en-US" sz="650" dirty="0">
                <a:solidFill>
                  <a:srgbClr val="8A96A3"/>
                </a:solidFill>
                <a:latin typeface="Calibri" pitchFamily="34" charset="0"/>
                <a:ea typeface="Calibri" pitchFamily="34" charset="-122"/>
                <a:cs typeface="Calibri" pitchFamily="34" charset="-120"/>
              </a:rPr>
              <a:t>Source: Company filings, Internal model estimates  |  E = Estimated  |  FY ending March</a:t>
            </a:r>
            <a:endParaRPr lang="en-US" sz="650" dirty="0"/>
          </a:p>
        </p:txBody>
      </p:sp>
      <p:sp>
        <p:nvSpPr>
          <p:cNvPr id="40" name="Text 34"/>
          <p:cNvSpPr/>
          <p:nvPr/>
        </p:nvSpPr>
        <p:spPr>
          <a:xfrm>
            <a:off x="8503920" y="4892040"/>
            <a:ext cx="365760" cy="182880"/>
          </a:xfrm>
          <a:prstGeom prst="rect">
            <a:avLst/>
          </a:prstGeom>
          <a:noFill/>
          <a:ln/>
        </p:spPr>
        <p:txBody>
          <a:bodyPr wrap="square" lIns="0" tIns="0" rIns="0" bIns="0" rtlCol="0" anchor="ctr"/>
          <a:lstStyle/>
          <a:p>
            <a:pPr marL="0" indent="0" algn="r">
              <a:buNone/>
            </a:pPr>
            <a:r>
              <a:rPr lang="en-US" sz="800" dirty="0">
                <a:solidFill>
                  <a:srgbClr val="0E7C86"/>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86"/>
          </a:solidFill>
          <a:ln/>
        </p:spPr>
        <p:txBody>
          <a:bodyPr/>
          <a:lstStyle/>
          <a:p>
            <a:endParaRPr lang="en-IN"/>
          </a:p>
        </p:txBody>
      </p:sp>
      <p:sp>
        <p:nvSpPr>
          <p:cNvPr id="3" name="Text 1"/>
          <p:cNvSpPr/>
          <p:nvPr/>
        </p:nvSpPr>
        <p:spPr>
          <a:xfrm>
            <a:off x="457200" y="137160"/>
            <a:ext cx="3657600" cy="228600"/>
          </a:xfrm>
          <a:prstGeom prst="rect">
            <a:avLst/>
          </a:prstGeom>
          <a:noFill/>
          <a:ln/>
        </p:spPr>
        <p:txBody>
          <a:bodyPr wrap="square" lIns="0" tIns="0" rIns="0" bIns="0" rtlCol="0" anchor="ctr"/>
          <a:lstStyle/>
          <a:p>
            <a:pPr marL="0" indent="0">
              <a:buNone/>
            </a:pPr>
            <a:r>
              <a:rPr lang="en-US" sz="1000" b="1" kern="0" spc="300" dirty="0">
                <a:solidFill>
                  <a:srgbClr val="12A4B0"/>
                </a:solidFill>
                <a:latin typeface="Calibri" pitchFamily="34" charset="0"/>
                <a:ea typeface="Calibri" pitchFamily="34" charset="-122"/>
                <a:cs typeface="Calibri" pitchFamily="34" charset="-120"/>
              </a:rPr>
              <a:t>BETA DRUGS LTD</a:t>
            </a:r>
            <a:endParaRPr lang="en-US" sz="1000" dirty="0"/>
          </a:p>
        </p:txBody>
      </p:sp>
      <p:sp>
        <p:nvSpPr>
          <p:cNvPr id="4" name="Text 2"/>
          <p:cNvSpPr/>
          <p:nvPr/>
        </p:nvSpPr>
        <p:spPr>
          <a:xfrm>
            <a:off x="457200" y="347472"/>
            <a:ext cx="4572000" cy="29260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Investment Thesis — BUY </a:t>
            </a:r>
            <a:endParaRPr lang="en-US" sz="1700" dirty="0"/>
          </a:p>
        </p:txBody>
      </p:sp>
      <p:sp>
        <p:nvSpPr>
          <p:cNvPr id="5" name="Shape 3"/>
          <p:cNvSpPr/>
          <p:nvPr/>
        </p:nvSpPr>
        <p:spPr>
          <a:xfrm>
            <a:off x="457200" y="694944"/>
            <a:ext cx="2529840" cy="0"/>
          </a:xfrm>
          <a:prstGeom prst="line">
            <a:avLst/>
          </a:prstGeom>
          <a:noFill/>
          <a:ln w="19050">
            <a:solidFill>
              <a:srgbClr val="0E7C86"/>
            </a:solidFill>
            <a:prstDash val="solid"/>
          </a:ln>
        </p:spPr>
        <p:txBody>
          <a:bodyPr/>
          <a:lstStyle/>
          <a:p>
            <a:endParaRPr lang="en-IN"/>
          </a:p>
        </p:txBody>
      </p:sp>
      <p:sp>
        <p:nvSpPr>
          <p:cNvPr id="6" name="Shape 4"/>
          <p:cNvSpPr/>
          <p:nvPr/>
        </p:nvSpPr>
        <p:spPr>
          <a:xfrm>
            <a:off x="457200" y="841248"/>
            <a:ext cx="4023360" cy="1920240"/>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7" name="Shape 5"/>
          <p:cNvSpPr/>
          <p:nvPr/>
        </p:nvSpPr>
        <p:spPr>
          <a:xfrm>
            <a:off x="457200" y="841248"/>
            <a:ext cx="54864" cy="1920240"/>
          </a:xfrm>
          <a:prstGeom prst="rect">
            <a:avLst/>
          </a:prstGeom>
          <a:solidFill>
            <a:srgbClr val="D94444"/>
          </a:solidFill>
          <a:ln/>
        </p:spPr>
        <p:txBody>
          <a:bodyPr/>
          <a:lstStyle/>
          <a:p>
            <a:endParaRPr lang="en-IN"/>
          </a:p>
        </p:txBody>
      </p:sp>
      <p:sp>
        <p:nvSpPr>
          <p:cNvPr id="8" name="Text 6"/>
          <p:cNvSpPr/>
          <p:nvPr/>
        </p:nvSpPr>
        <p:spPr>
          <a:xfrm>
            <a:off x="640080" y="914400"/>
            <a:ext cx="3657600" cy="182880"/>
          </a:xfrm>
          <a:prstGeom prst="rect">
            <a:avLst/>
          </a:prstGeom>
          <a:noFill/>
          <a:ln/>
        </p:spPr>
        <p:txBody>
          <a:bodyPr wrap="square" lIns="0" tIns="0" rIns="0" bIns="0" rtlCol="0" anchor="ctr"/>
          <a:lstStyle/>
          <a:p>
            <a:pPr marL="0" indent="0">
              <a:buNone/>
            </a:pPr>
            <a:r>
              <a:rPr lang="en-US" sz="850" b="1" kern="0" spc="100" dirty="0">
                <a:solidFill>
                  <a:srgbClr val="D4A843"/>
                </a:solidFill>
                <a:latin typeface="Calibri" pitchFamily="34" charset="0"/>
                <a:ea typeface="Calibri" pitchFamily="34" charset="-122"/>
                <a:cs typeface="Calibri" pitchFamily="34" charset="-120"/>
              </a:rPr>
              <a:t>MARKET PRICING — WHAT THE STREET SEES</a:t>
            </a:r>
            <a:endParaRPr lang="en-US" sz="850" dirty="0"/>
          </a:p>
        </p:txBody>
      </p:sp>
      <p:sp>
        <p:nvSpPr>
          <p:cNvPr id="9" name="Text 7"/>
          <p:cNvSpPr/>
          <p:nvPr/>
        </p:nvSpPr>
        <p:spPr>
          <a:xfrm>
            <a:off x="640080" y="1115568"/>
            <a:ext cx="3657600" cy="1554480"/>
          </a:xfrm>
          <a:prstGeom prst="rect">
            <a:avLst/>
          </a:prstGeom>
          <a:noFill/>
          <a:ln/>
        </p:spPr>
        <p:txBody>
          <a:bodyPr wrap="square" lIns="0" tIns="0" rIns="0" bIns="0" rtlCol="0" anchor="t"/>
          <a:lstStyle/>
          <a:p>
            <a:pPr marL="0" indent="0">
              <a:lnSpc>
                <a:spcPct val="120000"/>
              </a:lnSpc>
              <a:buNone/>
            </a:pPr>
            <a:r>
              <a:rPr lang="en-US" sz="900" b="1" dirty="0">
                <a:solidFill>
                  <a:srgbClr val="FFFFFF"/>
                </a:solidFill>
                <a:latin typeface="Calibri" pitchFamily="34" charset="0"/>
                <a:ea typeface="Calibri" pitchFamily="34" charset="-122"/>
                <a:cs typeface="Calibri" pitchFamily="34" charset="-120"/>
              </a:rPr>
              <a:t>CMP: ₹1,101  |  Market Cap: ₹1,143 Cr</a:t>
            </a:r>
            <a:endParaRPr lang="en-US" sz="900" dirty="0"/>
          </a:p>
          <a:p>
            <a:pPr marL="0" indent="0">
              <a:lnSpc>
                <a:spcPct val="120000"/>
              </a:lnSpc>
              <a:buNone/>
            </a:pPr>
            <a:r>
              <a:rPr lang="en-US" sz="800" dirty="0">
                <a:solidFill>
                  <a:srgbClr val="C8D0D8"/>
                </a:solidFill>
                <a:latin typeface="Calibri" pitchFamily="34" charset="0"/>
                <a:ea typeface="Calibri" pitchFamily="34" charset="-122"/>
                <a:cs typeface="Calibri" pitchFamily="34" charset="-120"/>
              </a:rPr>
              <a:t>TTM P/E: 25x  |  EV/EBITDA: 12.3x  |  P/BV: 4.8x</a:t>
            </a:r>
            <a:endParaRPr lang="en-US" sz="900" dirty="0"/>
          </a:p>
          <a:p>
            <a:pPr marL="0" indent="0">
              <a:lnSpc>
                <a:spcPct val="120000"/>
              </a:lnSpc>
              <a:buNone/>
            </a:pPr>
            <a:endParaRPr lang="en-US" sz="900" dirty="0"/>
          </a:p>
          <a:p>
            <a:pPr marL="0" indent="0">
              <a:lnSpc>
                <a:spcPct val="120000"/>
              </a:lnSpc>
              <a:buNone/>
            </a:pPr>
            <a:r>
              <a:rPr lang="en-US" sz="780" dirty="0">
                <a:solidFill>
                  <a:srgbClr val="A8B4C0"/>
                </a:solidFill>
                <a:latin typeface="Calibri" pitchFamily="34" charset="0"/>
                <a:ea typeface="Calibri" pitchFamily="34" charset="-122"/>
                <a:cs typeface="Calibri" pitchFamily="34" charset="-120"/>
              </a:rPr>
              <a:t>The market is pricing Beta at a discount to pharma peers (median EV/EBITDA: 14.9x) due to: (a) Q3FY26 revenue dip (₹89.6 Cr vs ₹88.3 Cr YoY) from Platin CDMO exit &amp; export tender delays, (b) FY26 guidance cut to ₹400 Cr (from ₹420 Cr), (c) SME-to-main board migration creating micro-cap discount, (d) Nivian acquisition at 2.4x revenue raising integration concerns. The Street maybe embedding a near-term earnings trough into the price. However, on a DCF base case basis the stock looks massively underpriced despite the risks.</a:t>
            </a:r>
            <a:endParaRPr lang="en-US" sz="900" dirty="0"/>
          </a:p>
        </p:txBody>
      </p:sp>
      <p:sp>
        <p:nvSpPr>
          <p:cNvPr id="10" name="Shape 8"/>
          <p:cNvSpPr/>
          <p:nvPr/>
        </p:nvSpPr>
        <p:spPr>
          <a:xfrm>
            <a:off x="4663440" y="841248"/>
            <a:ext cx="4023360" cy="1920240"/>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11" name="Shape 9"/>
          <p:cNvSpPr/>
          <p:nvPr/>
        </p:nvSpPr>
        <p:spPr>
          <a:xfrm>
            <a:off x="4663440" y="841248"/>
            <a:ext cx="54864" cy="1920240"/>
          </a:xfrm>
          <a:prstGeom prst="rect">
            <a:avLst/>
          </a:prstGeom>
          <a:solidFill>
            <a:srgbClr val="1B9E5A"/>
          </a:solidFill>
          <a:ln/>
        </p:spPr>
        <p:txBody>
          <a:bodyPr/>
          <a:lstStyle/>
          <a:p>
            <a:endParaRPr lang="en-IN"/>
          </a:p>
        </p:txBody>
      </p:sp>
      <p:sp>
        <p:nvSpPr>
          <p:cNvPr id="12" name="Text 10"/>
          <p:cNvSpPr/>
          <p:nvPr/>
        </p:nvSpPr>
        <p:spPr>
          <a:xfrm>
            <a:off x="4846320" y="914400"/>
            <a:ext cx="3657600" cy="182880"/>
          </a:xfrm>
          <a:prstGeom prst="rect">
            <a:avLst/>
          </a:prstGeom>
          <a:noFill/>
          <a:ln/>
        </p:spPr>
        <p:txBody>
          <a:bodyPr wrap="square" lIns="0" tIns="0" rIns="0" bIns="0" rtlCol="0" anchor="ctr"/>
          <a:lstStyle/>
          <a:p>
            <a:pPr marL="0" indent="0">
              <a:buNone/>
            </a:pPr>
            <a:r>
              <a:rPr lang="en-US" sz="850" b="1" kern="0" spc="100" dirty="0">
                <a:solidFill>
                  <a:srgbClr val="D4A843"/>
                </a:solidFill>
                <a:latin typeface="Calibri" pitchFamily="34" charset="0"/>
                <a:ea typeface="Calibri" pitchFamily="34" charset="-122"/>
                <a:cs typeface="Calibri" pitchFamily="34" charset="-120"/>
              </a:rPr>
              <a:t>MY PRICING — INTRINSIC VALUE ASSESSMENT</a:t>
            </a:r>
            <a:endParaRPr lang="en-US" sz="850" dirty="0"/>
          </a:p>
        </p:txBody>
      </p:sp>
      <p:sp>
        <p:nvSpPr>
          <p:cNvPr id="13" name="Text 11"/>
          <p:cNvSpPr/>
          <p:nvPr/>
        </p:nvSpPr>
        <p:spPr>
          <a:xfrm>
            <a:off x="4846320" y="1115568"/>
            <a:ext cx="3657600" cy="1645920"/>
          </a:xfrm>
          <a:prstGeom prst="rect">
            <a:avLst/>
          </a:prstGeom>
          <a:noFill/>
          <a:ln/>
        </p:spPr>
        <p:txBody>
          <a:bodyPr wrap="square" lIns="0" tIns="0" rIns="0" bIns="0" rtlCol="0" anchor="t"/>
          <a:lstStyle/>
          <a:p>
            <a:pPr marL="0" indent="0">
              <a:lnSpc>
                <a:spcPct val="115000"/>
              </a:lnSpc>
              <a:buNone/>
            </a:pPr>
            <a:r>
              <a:rPr lang="en-US" sz="1000" b="1" dirty="0">
                <a:solidFill>
                  <a:srgbClr val="1B9E5A"/>
                </a:solidFill>
                <a:latin typeface="Calibri" pitchFamily="34" charset="0"/>
                <a:ea typeface="Calibri" pitchFamily="34" charset="-122"/>
                <a:cs typeface="Calibri" pitchFamily="34" charset="-120"/>
              </a:rPr>
              <a:t>DCF Base Case: ₹1,874/sh  (+70.2% Upside)</a:t>
            </a:r>
            <a:endParaRPr lang="en-US" sz="1000" dirty="0"/>
          </a:p>
          <a:p>
            <a:pPr marL="0" indent="0">
              <a:lnSpc>
                <a:spcPct val="115000"/>
              </a:lnSpc>
              <a:buNone/>
            </a:pPr>
            <a:endParaRPr lang="en-US" sz="1000" dirty="0"/>
          </a:p>
          <a:p>
            <a:pPr marL="0" indent="0">
              <a:lnSpc>
                <a:spcPct val="115000"/>
              </a:lnSpc>
              <a:buNone/>
            </a:pPr>
            <a:r>
              <a:rPr lang="en-US" sz="780" dirty="0">
                <a:solidFill>
                  <a:srgbClr val="C8D0D8"/>
                </a:solidFill>
                <a:latin typeface="Calibri" pitchFamily="34" charset="0"/>
                <a:ea typeface="Calibri" pitchFamily="34" charset="-122"/>
                <a:cs typeface="Calibri" pitchFamily="34" charset="-120"/>
              </a:rPr>
              <a:t>DCF (WACC 13%, g=5%): ₹1,874  |  Range: ₹1,170 – ₹3,663</a:t>
            </a:r>
            <a:endParaRPr lang="en-US" sz="1000" dirty="0"/>
          </a:p>
          <a:p>
            <a:pPr>
              <a:lnSpc>
                <a:spcPct val="115000"/>
              </a:lnSpc>
            </a:pPr>
            <a:r>
              <a:rPr lang="en-US" sz="780" dirty="0">
                <a:solidFill>
                  <a:srgbClr val="C8D0D8"/>
                </a:solidFill>
                <a:latin typeface="Calibri" pitchFamily="34" charset="0"/>
                <a:ea typeface="Calibri" pitchFamily="34" charset="-122"/>
                <a:cs typeface="Calibri" pitchFamily="34" charset="-120"/>
              </a:rPr>
              <a:t>P/E (Median 20.4x on FY30E): Base ₹5,381 </a:t>
            </a:r>
            <a:r>
              <a:rPr lang="en-US" sz="780" dirty="0">
                <a:solidFill>
                  <a:srgbClr val="C8D0D8"/>
                </a:solidFill>
                <a:latin typeface="Calibri" pitchFamily="34" charset="0"/>
                <a:ea typeface="Calibri" pitchFamily="34" charset="-122"/>
                <a:cs typeface="Calibri" pitchFamily="34" charset="-120"/>
                <a:sym typeface="Wingdings" panose="05000000000000000000" pitchFamily="2" charset="2"/>
              </a:rPr>
              <a:t> 4.9X </a:t>
            </a:r>
            <a:r>
              <a:rPr lang="en-US" sz="800" dirty="0">
                <a:solidFill>
                  <a:srgbClr val="C8D0D8"/>
                </a:solidFill>
                <a:latin typeface="Calibri" pitchFamily="34" charset="0"/>
                <a:ea typeface="Calibri" pitchFamily="34" charset="-122"/>
                <a:cs typeface="Calibri" pitchFamily="34" charset="-120"/>
              </a:rPr>
              <a:t>upside in the next 4-5 years</a:t>
            </a:r>
            <a:endParaRPr lang="en-US" sz="1000" dirty="0"/>
          </a:p>
          <a:p>
            <a:pPr marL="0" indent="0">
              <a:lnSpc>
                <a:spcPct val="115000"/>
              </a:lnSpc>
              <a:buNone/>
            </a:pPr>
            <a:r>
              <a:rPr lang="en-US" sz="780" dirty="0">
                <a:solidFill>
                  <a:srgbClr val="C8D0D8"/>
                </a:solidFill>
                <a:latin typeface="Calibri" pitchFamily="34" charset="0"/>
                <a:ea typeface="Calibri" pitchFamily="34" charset="-122"/>
                <a:cs typeface="Calibri" pitchFamily="34" charset="-120"/>
              </a:rPr>
              <a:t>EV/EBITDA (14.9x on FY30E): Base ₹4,863 </a:t>
            </a:r>
            <a:r>
              <a:rPr lang="en-US" sz="780" dirty="0">
                <a:solidFill>
                  <a:srgbClr val="C8D0D8"/>
                </a:solidFill>
                <a:latin typeface="Calibri" pitchFamily="34" charset="0"/>
                <a:ea typeface="Calibri" pitchFamily="34" charset="-122"/>
                <a:cs typeface="Calibri" pitchFamily="34" charset="-120"/>
                <a:sym typeface="Wingdings" panose="05000000000000000000" pitchFamily="2" charset="2"/>
              </a:rPr>
              <a:t></a:t>
            </a:r>
            <a:r>
              <a:rPr lang="en-US" sz="780" dirty="0">
                <a:solidFill>
                  <a:srgbClr val="C8D0D8"/>
                </a:solidFill>
                <a:latin typeface="Calibri" pitchFamily="34" charset="0"/>
                <a:ea typeface="Calibri" pitchFamily="34" charset="-122"/>
                <a:cs typeface="Calibri" pitchFamily="34" charset="-120"/>
              </a:rPr>
              <a:t> 4.4X upside in the next 4-5 years</a:t>
            </a:r>
            <a:endParaRPr lang="en-US" sz="1000" dirty="0"/>
          </a:p>
          <a:p>
            <a:pPr marL="0" indent="0">
              <a:lnSpc>
                <a:spcPct val="115000"/>
              </a:lnSpc>
              <a:buNone/>
            </a:pPr>
            <a:endParaRPr lang="en-US" sz="900" dirty="0"/>
          </a:p>
          <a:p>
            <a:pPr marL="0" indent="0">
              <a:lnSpc>
                <a:spcPct val="115000"/>
              </a:lnSpc>
              <a:buNone/>
            </a:pPr>
            <a:r>
              <a:rPr lang="en-US" sz="800" b="1" dirty="0">
                <a:solidFill>
                  <a:srgbClr val="FFFFFF"/>
                </a:solidFill>
                <a:latin typeface="Calibri" pitchFamily="34" charset="0"/>
                <a:ea typeface="Calibri" pitchFamily="34" charset="-122"/>
                <a:cs typeface="Calibri" pitchFamily="34" charset="-120"/>
              </a:rPr>
              <a:t>FY25-30E Revenue CAGR: 25.3%  |  PAT CAGR: 30.5%</a:t>
            </a:r>
            <a:endParaRPr lang="en-US" sz="1000" dirty="0"/>
          </a:p>
          <a:p>
            <a:pPr marL="0" indent="0">
              <a:lnSpc>
                <a:spcPct val="115000"/>
              </a:lnSpc>
              <a:buNone/>
            </a:pPr>
            <a:r>
              <a:rPr lang="en-US" sz="800" dirty="0">
                <a:solidFill>
                  <a:srgbClr val="A8B4C0"/>
                </a:solidFill>
                <a:latin typeface="Calibri" pitchFamily="34" charset="0"/>
                <a:ea typeface="Calibri" pitchFamily="34" charset="-122"/>
                <a:cs typeface="Calibri" pitchFamily="34" charset="-120"/>
              </a:rPr>
              <a:t>It is the classic case of a company in its high growth phase. Management has taken prudent steps till now with regard to capital allocation and giving realistic guidance. The downside seems limited and the market seems not to have priced in the upside. ANY MULTIPLE RERATING COULD YEILD EVEN HIGHER RETURNS OVER THE SIAD PERIOD.</a:t>
            </a:r>
            <a:endParaRPr lang="en-US" sz="800" dirty="0"/>
          </a:p>
        </p:txBody>
      </p:sp>
      <p:sp>
        <p:nvSpPr>
          <p:cNvPr id="14" name="Shape 12"/>
          <p:cNvSpPr/>
          <p:nvPr/>
        </p:nvSpPr>
        <p:spPr>
          <a:xfrm>
            <a:off x="457200" y="2880360"/>
            <a:ext cx="4023360" cy="1828800"/>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15" name="Shape 13"/>
          <p:cNvSpPr/>
          <p:nvPr/>
        </p:nvSpPr>
        <p:spPr>
          <a:xfrm>
            <a:off x="457200" y="2880360"/>
            <a:ext cx="54864" cy="1828800"/>
          </a:xfrm>
          <a:prstGeom prst="rect">
            <a:avLst/>
          </a:prstGeom>
          <a:solidFill>
            <a:srgbClr val="12A4B0"/>
          </a:solidFill>
          <a:ln/>
        </p:spPr>
        <p:txBody>
          <a:bodyPr/>
          <a:lstStyle/>
          <a:p>
            <a:endParaRPr lang="en-IN"/>
          </a:p>
        </p:txBody>
      </p:sp>
      <p:sp>
        <p:nvSpPr>
          <p:cNvPr id="16" name="Text 14"/>
          <p:cNvSpPr/>
          <p:nvPr/>
        </p:nvSpPr>
        <p:spPr>
          <a:xfrm>
            <a:off x="640080" y="2953512"/>
            <a:ext cx="3657600" cy="182880"/>
          </a:xfrm>
          <a:prstGeom prst="rect">
            <a:avLst/>
          </a:prstGeom>
          <a:noFill/>
          <a:ln/>
        </p:spPr>
        <p:txBody>
          <a:bodyPr wrap="square" lIns="0" tIns="0" rIns="0" bIns="0" rtlCol="0" anchor="ctr"/>
          <a:lstStyle/>
          <a:p>
            <a:pPr marL="0" indent="0">
              <a:buNone/>
            </a:pPr>
            <a:r>
              <a:rPr lang="en-US" sz="850" b="1" kern="0" spc="100" dirty="0">
                <a:solidFill>
                  <a:srgbClr val="D4A843"/>
                </a:solidFill>
                <a:latin typeface="Calibri" pitchFamily="34" charset="0"/>
                <a:ea typeface="Calibri" pitchFamily="34" charset="-122"/>
                <a:cs typeface="Calibri" pitchFamily="34" charset="-120"/>
              </a:rPr>
              <a:t>KEY ASSUMPTIONS</a:t>
            </a:r>
            <a:endParaRPr lang="en-US" sz="850" dirty="0"/>
          </a:p>
        </p:txBody>
      </p:sp>
      <p:sp>
        <p:nvSpPr>
          <p:cNvPr id="17" name="Text 15"/>
          <p:cNvSpPr/>
          <p:nvPr/>
        </p:nvSpPr>
        <p:spPr>
          <a:xfrm>
            <a:off x="640080" y="3154680"/>
            <a:ext cx="3657600" cy="1508760"/>
          </a:xfrm>
          <a:prstGeom prst="rect">
            <a:avLst/>
          </a:prstGeom>
          <a:noFill/>
          <a:ln/>
        </p:spPr>
        <p:txBody>
          <a:bodyPr wrap="square" lIns="0" tIns="0" rIns="0" bIns="0" rtlCol="0" anchor="t"/>
          <a:lstStyle/>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Revenue: </a:t>
            </a:r>
            <a:r>
              <a:rPr lang="en-US" sz="750" dirty="0">
                <a:solidFill>
                  <a:srgbClr val="A8B4C0"/>
                </a:solidFill>
                <a:latin typeface="Calibri" pitchFamily="34" charset="0"/>
                <a:ea typeface="Calibri" pitchFamily="34" charset="-122"/>
                <a:cs typeface="Calibri" pitchFamily="34" charset="-120"/>
              </a:rPr>
              <a:t>FY26E ₹400 Cr (mgmt guided), FY27E ₹545 Cr (mgmt targets ₹530 Cr + Nivian ₹48 Cr). FY28-30E tapers from 32% → 24% growth.</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Margins: </a:t>
            </a:r>
            <a:r>
              <a:rPr lang="en-US" sz="750" dirty="0">
                <a:solidFill>
                  <a:srgbClr val="A8B4C0"/>
                </a:solidFill>
                <a:latin typeface="Calibri" pitchFamily="34" charset="0"/>
                <a:ea typeface="Calibri" pitchFamily="34" charset="-122"/>
                <a:cs typeface="Calibri" pitchFamily="34" charset="-120"/>
              </a:rPr>
              <a:t>EBITDA 22% (FY26E) → 32.5% (FY30E). COGS improves from 47% → 42% via backward integration (34 APIs in-house). Employee cost front-loaded in FY26 (+21% YoY), operating leverage recovers FY27+.</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Exports: </a:t>
            </a:r>
            <a:r>
              <a:rPr lang="en-US" sz="750" dirty="0">
                <a:solidFill>
                  <a:srgbClr val="A8B4C0"/>
                </a:solidFill>
                <a:latin typeface="Calibri" pitchFamily="34" charset="0"/>
                <a:ea typeface="Calibri" pitchFamily="34" charset="-122"/>
                <a:cs typeface="Calibri" pitchFamily="34" charset="-120"/>
              </a:rPr>
              <a:t>25-35% forward growth (vs 64% CAGR FY20-25). EU-GMP, ANVISA, COFEPRIS approvals to drive ₹80 Cr → ₹390 Cr by FY30E.</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Nivian IVF: </a:t>
            </a:r>
            <a:r>
              <a:rPr lang="en-US" sz="750" dirty="0">
                <a:solidFill>
                  <a:srgbClr val="A8B4C0"/>
                </a:solidFill>
                <a:latin typeface="Calibri" pitchFamily="34" charset="0"/>
                <a:ea typeface="Calibri" pitchFamily="34" charset="-122"/>
                <a:cs typeface="Calibri" pitchFamily="34" charset="-120"/>
              </a:rPr>
              <a:t>₹43 Cr FY26E (9M actual ₹30.3 Cr), scaling to ₹98 Cr by FY30E. India IVF market $1.06B, 7.8% CAGR. Scuttlebutt confirms gynaecologist adoption.</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DCF: </a:t>
            </a:r>
            <a:r>
              <a:rPr lang="en-US" sz="750" dirty="0">
                <a:solidFill>
                  <a:srgbClr val="A8B4C0"/>
                </a:solidFill>
                <a:latin typeface="Calibri" pitchFamily="34" charset="0"/>
                <a:ea typeface="Calibri" pitchFamily="34" charset="-122"/>
                <a:cs typeface="Calibri" pitchFamily="34" charset="-120"/>
              </a:rPr>
              <a:t>WACC 13%, terminal growth 5%, mid-year convention. Net cash position (₹103 Cr FY25A) adds to equity value.</a:t>
            </a:r>
            <a:endParaRPr lang="en-US" sz="780" dirty="0"/>
          </a:p>
        </p:txBody>
      </p:sp>
      <p:sp>
        <p:nvSpPr>
          <p:cNvPr id="18" name="Shape 16"/>
          <p:cNvSpPr/>
          <p:nvPr/>
        </p:nvSpPr>
        <p:spPr>
          <a:xfrm>
            <a:off x="4663440" y="2880360"/>
            <a:ext cx="4023360" cy="1828800"/>
          </a:xfrm>
          <a:prstGeom prst="rect">
            <a:avLst/>
          </a:prstGeom>
          <a:solidFill>
            <a:srgbClr val="16293E"/>
          </a:solidFill>
          <a:ln/>
          <a:effectLst>
            <a:outerShdw blurRad="50800" dist="19050" dir="8100000" algn="bl" rotWithShape="0">
              <a:srgbClr val="000000">
                <a:alpha val="8000"/>
              </a:srgbClr>
            </a:outerShdw>
          </a:effectLst>
        </p:spPr>
        <p:txBody>
          <a:bodyPr/>
          <a:lstStyle/>
          <a:p>
            <a:endParaRPr lang="en-IN"/>
          </a:p>
        </p:txBody>
      </p:sp>
      <p:sp>
        <p:nvSpPr>
          <p:cNvPr id="19" name="Shape 17"/>
          <p:cNvSpPr/>
          <p:nvPr/>
        </p:nvSpPr>
        <p:spPr>
          <a:xfrm>
            <a:off x="4663440" y="2880360"/>
            <a:ext cx="54864" cy="1828800"/>
          </a:xfrm>
          <a:prstGeom prst="rect">
            <a:avLst/>
          </a:prstGeom>
          <a:solidFill>
            <a:srgbClr val="D94444"/>
          </a:solidFill>
          <a:ln/>
        </p:spPr>
        <p:txBody>
          <a:bodyPr/>
          <a:lstStyle/>
          <a:p>
            <a:endParaRPr lang="en-IN"/>
          </a:p>
        </p:txBody>
      </p:sp>
      <p:sp>
        <p:nvSpPr>
          <p:cNvPr id="20" name="Text 18"/>
          <p:cNvSpPr/>
          <p:nvPr/>
        </p:nvSpPr>
        <p:spPr>
          <a:xfrm>
            <a:off x="4846320" y="2953512"/>
            <a:ext cx="3657600" cy="182880"/>
          </a:xfrm>
          <a:prstGeom prst="rect">
            <a:avLst/>
          </a:prstGeom>
          <a:noFill/>
          <a:ln/>
        </p:spPr>
        <p:txBody>
          <a:bodyPr wrap="square" lIns="0" tIns="0" rIns="0" bIns="0" rtlCol="0" anchor="ctr"/>
          <a:lstStyle/>
          <a:p>
            <a:pPr marL="0" indent="0">
              <a:buNone/>
            </a:pPr>
            <a:r>
              <a:rPr lang="en-US" sz="850" b="1" kern="0" spc="100" dirty="0">
                <a:solidFill>
                  <a:srgbClr val="D4A843"/>
                </a:solidFill>
                <a:latin typeface="Calibri" pitchFamily="34" charset="0"/>
                <a:ea typeface="Calibri" pitchFamily="34" charset="-122"/>
                <a:cs typeface="Calibri" pitchFamily="34" charset="-120"/>
              </a:rPr>
              <a:t>KEY RISKS</a:t>
            </a:r>
            <a:endParaRPr lang="en-US" sz="850" dirty="0"/>
          </a:p>
        </p:txBody>
      </p:sp>
      <p:sp>
        <p:nvSpPr>
          <p:cNvPr id="21" name="Text 19"/>
          <p:cNvSpPr/>
          <p:nvPr/>
        </p:nvSpPr>
        <p:spPr>
          <a:xfrm>
            <a:off x="4846320" y="3154680"/>
            <a:ext cx="3657600" cy="1508760"/>
          </a:xfrm>
          <a:prstGeom prst="rect">
            <a:avLst/>
          </a:prstGeom>
          <a:noFill/>
          <a:ln/>
        </p:spPr>
        <p:txBody>
          <a:bodyPr wrap="square" lIns="0" tIns="0" rIns="0" bIns="0" rtlCol="0" anchor="t"/>
          <a:lstStyle/>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Regulatory &amp; Approval Risk: </a:t>
            </a:r>
            <a:r>
              <a:rPr lang="en-US" sz="750" dirty="0">
                <a:solidFill>
                  <a:srgbClr val="A8B4C0"/>
                </a:solidFill>
                <a:latin typeface="Calibri" pitchFamily="34" charset="0"/>
                <a:ea typeface="Calibri" pitchFamily="34" charset="-122"/>
                <a:cs typeface="Calibri" pitchFamily="34" charset="-120"/>
              </a:rPr>
              <a:t>Delays in EU-GMP, ANVISA, COFEPRIS approvals could push export revenue targets to the right. 148+ dossiers pending — conversion rate is a key variable.</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Revenue Concentration: </a:t>
            </a:r>
            <a:r>
              <a:rPr lang="en-US" sz="750" dirty="0">
                <a:solidFill>
                  <a:srgbClr val="A8B4C0"/>
                </a:solidFill>
                <a:latin typeface="Calibri" pitchFamily="34" charset="0"/>
                <a:ea typeface="Calibri" pitchFamily="34" charset="-122"/>
                <a:cs typeface="Calibri" pitchFamily="34" charset="-120"/>
              </a:rPr>
              <a:t>Top 10 brands contribute ~50% of sales. Competitive intensity in oncology generics and government tenders adds pricing pressure.</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Acquisition Integration: </a:t>
            </a:r>
            <a:r>
              <a:rPr lang="en-US" sz="750" dirty="0">
                <a:solidFill>
                  <a:srgbClr val="A8B4C0"/>
                </a:solidFill>
                <a:latin typeface="Calibri" pitchFamily="34" charset="0"/>
                <a:ea typeface="Calibri" pitchFamily="34" charset="-122"/>
                <a:cs typeface="Calibri" pitchFamily="34" charset="-120"/>
              </a:rPr>
              <a:t>Nivian (IVF) acquired at ~2.4x revenue. Cross-selling synergies via gynec field force are assumed but unproven at scale.</a:t>
            </a:r>
            <a:endParaRPr lang="en-US" sz="780" dirty="0"/>
          </a:p>
          <a:p>
            <a:pPr marL="0" indent="0">
              <a:lnSpc>
                <a:spcPct val="115000"/>
              </a:lnSpc>
              <a:buNone/>
            </a:pPr>
            <a:r>
              <a:rPr lang="en-US" sz="780" b="1" dirty="0">
                <a:solidFill>
                  <a:srgbClr val="FFFFFF"/>
                </a:solidFill>
                <a:latin typeface="Calibri" pitchFamily="34" charset="0"/>
                <a:ea typeface="Calibri" pitchFamily="34" charset="-122"/>
                <a:cs typeface="Calibri" pitchFamily="34" charset="-120"/>
              </a:rPr>
              <a:t>Execution &amp; Macro: </a:t>
            </a:r>
            <a:r>
              <a:rPr lang="en-US" sz="750" dirty="0">
                <a:solidFill>
                  <a:srgbClr val="A8B4C0"/>
                </a:solidFill>
                <a:latin typeface="Calibri" pitchFamily="34" charset="0"/>
                <a:ea typeface="Calibri" pitchFamily="34" charset="-122"/>
                <a:cs typeface="Calibri" pitchFamily="34" charset="-120"/>
              </a:rPr>
              <a:t>FY26 is a transition year (guidance cut, CDMO exit, hiring surge). Export tender unpredictability, currency risk (INR/USD), and small-cap liquidity risk remain.</a:t>
            </a:r>
            <a:endParaRPr lang="en-US" sz="780" dirty="0"/>
          </a:p>
        </p:txBody>
      </p:sp>
      <p:sp>
        <p:nvSpPr>
          <p:cNvPr id="22" name="Text 20"/>
          <p:cNvSpPr/>
          <p:nvPr/>
        </p:nvSpPr>
        <p:spPr>
          <a:xfrm>
            <a:off x="457200" y="4828032"/>
            <a:ext cx="6400800" cy="182880"/>
          </a:xfrm>
          <a:prstGeom prst="rect">
            <a:avLst/>
          </a:prstGeom>
          <a:noFill/>
          <a:ln/>
        </p:spPr>
        <p:txBody>
          <a:bodyPr wrap="square" lIns="0" tIns="0" rIns="0" bIns="0" rtlCol="0" anchor="ctr"/>
          <a:lstStyle/>
          <a:p>
            <a:pPr marL="0" indent="0">
              <a:buNone/>
            </a:pPr>
            <a:r>
              <a:rPr lang="en-US" sz="650" dirty="0">
                <a:solidFill>
                  <a:srgbClr val="5A6A78"/>
                </a:solidFill>
                <a:latin typeface="Calibri" pitchFamily="34" charset="0"/>
                <a:ea typeface="Calibri" pitchFamily="34" charset="-122"/>
                <a:cs typeface="Calibri" pitchFamily="34" charset="-120"/>
              </a:rPr>
              <a:t>Source: Company filings, Management commentary, DCF &amp; Comps model (internal)  |  Valuation as of Feb 2026</a:t>
            </a:r>
            <a:endParaRPr lang="en-US" sz="650" dirty="0"/>
          </a:p>
        </p:txBody>
      </p:sp>
      <p:sp>
        <p:nvSpPr>
          <p:cNvPr id="23" name="Text 21"/>
          <p:cNvSpPr/>
          <p:nvPr/>
        </p:nvSpPr>
        <p:spPr>
          <a:xfrm>
            <a:off x="8503920" y="4828032"/>
            <a:ext cx="365760" cy="182880"/>
          </a:xfrm>
          <a:prstGeom prst="rect">
            <a:avLst/>
          </a:prstGeom>
          <a:noFill/>
          <a:ln/>
        </p:spPr>
        <p:txBody>
          <a:bodyPr wrap="square" lIns="0" tIns="0" rIns="0" bIns="0" rtlCol="0" anchor="ctr"/>
          <a:lstStyle/>
          <a:p>
            <a:pPr marL="0" indent="0" algn="r">
              <a:buNone/>
            </a:pPr>
            <a:r>
              <a:rPr lang="en-US" sz="800" dirty="0">
                <a:solidFill>
                  <a:srgbClr val="0E7C86"/>
                </a:solidFill>
                <a:latin typeface="Calibri" pitchFamily="34" charset="0"/>
                <a:ea typeface="Calibri" pitchFamily="34" charset="-122"/>
                <a:cs typeface="Calibri" pitchFamily="34" charset="-120"/>
              </a:rPr>
              <a:t>3</a:t>
            </a:r>
            <a:endParaRPr lang="en-US" sz="800" dirty="0"/>
          </a:p>
        </p:txBody>
      </p:sp>
      <p:sp>
        <p:nvSpPr>
          <p:cNvPr id="24" name="Flowchart: Extract 23">
            <a:extLst>
              <a:ext uri="{FF2B5EF4-FFF2-40B4-BE49-F238E27FC236}">
                <a16:creationId xmlns:a16="http://schemas.microsoft.com/office/drawing/2014/main" id="{B33F9666-1562-AA9A-B534-F5E4BA501AC9}"/>
              </a:ext>
            </a:extLst>
          </p:cNvPr>
          <p:cNvSpPr/>
          <p:nvPr/>
        </p:nvSpPr>
        <p:spPr>
          <a:xfrm>
            <a:off x="2743200" y="373214"/>
            <a:ext cx="243840" cy="228600"/>
          </a:xfrm>
          <a:prstGeom prst="flowChartExtra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1363</Words>
  <Application>Microsoft Office PowerPoint</Application>
  <PresentationFormat>On-screen Show (16:9)</PresentationFormat>
  <Paragraphs>165</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Beta Drugs Ltd — Stock Pitch</dc:title>
  <dc:subject>PptxGenJS Presentation</dc:subject>
  <dc:creator>Buy-Side Equity Research</dc:creator>
  <cp:lastModifiedBy>Harsh Vijay</cp:lastModifiedBy>
  <cp:revision>4</cp:revision>
  <dcterms:created xsi:type="dcterms:W3CDTF">2026-02-20T02:59:11Z</dcterms:created>
  <dcterms:modified xsi:type="dcterms:W3CDTF">2026-02-22T15:12:06Z</dcterms:modified>
</cp:coreProperties>
</file>