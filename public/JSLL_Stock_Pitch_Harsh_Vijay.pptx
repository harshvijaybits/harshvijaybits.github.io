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304" r:id="rId2"/>
    <p:sldId id="283" r:id="rId3"/>
    <p:sldId id="291" r:id="rId4"/>
    <p:sldId id="292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2022</c:v>
                </c:pt>
                <c:pt idx="3">
                  <c:v>2025E</c:v>
                </c:pt>
                <c:pt idx="4">
                  <c:v>2028E</c:v>
                </c:pt>
                <c:pt idx="5">
                  <c:v>2030E</c:v>
                </c:pt>
                <c:pt idx="6">
                  <c:v>2033E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5.6</c:v>
                </c:pt>
                <c:pt idx="1">
                  <c:v>7.1</c:v>
                </c:pt>
                <c:pt idx="2">
                  <c:v>11.5</c:v>
                </c:pt>
                <c:pt idx="3">
                  <c:v>20.399999999999999</c:v>
                </c:pt>
                <c:pt idx="4">
                  <c:v>33</c:v>
                </c:pt>
                <c:pt idx="5">
                  <c:v>46.3</c:v>
                </c:pt>
                <c:pt idx="6">
                  <c:v>85.8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95-4B97-A703-0A12C66078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30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FY26E</c:v>
                </c:pt>
                <c:pt idx="5">
                  <c:v>FY27E</c:v>
                </c:pt>
                <c:pt idx="6">
                  <c:v>FY28E</c:v>
                </c:pt>
                <c:pt idx="7">
                  <c:v>FY29E</c:v>
                </c:pt>
                <c:pt idx="8">
                  <c:v>FY30E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130</c:v>
                </c:pt>
                <c:pt idx="1">
                  <c:v>197</c:v>
                </c:pt>
                <c:pt idx="2">
                  <c:v>324</c:v>
                </c:pt>
                <c:pt idx="3">
                  <c:v>469</c:v>
                </c:pt>
                <c:pt idx="4">
                  <c:v>750</c:v>
                </c:pt>
                <c:pt idx="5">
                  <c:v>1088</c:v>
                </c:pt>
                <c:pt idx="6">
                  <c:v>1501</c:v>
                </c:pt>
                <c:pt idx="7">
                  <c:v>1951</c:v>
                </c:pt>
                <c:pt idx="8">
                  <c:v>2439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99-4A88-9A86-4B1989AC36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FY26E</c:v>
                </c:pt>
                <c:pt idx="5">
                  <c:v>FY27E</c:v>
                </c:pt>
                <c:pt idx="6">
                  <c:v>FY28E</c:v>
                </c:pt>
                <c:pt idx="7">
                  <c:v>FY29E</c:v>
                </c:pt>
                <c:pt idx="8">
                  <c:v>FY30E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</c:v>
                </c:pt>
                <c:pt idx="1">
                  <c:v>33</c:v>
                </c:pt>
                <c:pt idx="2">
                  <c:v>85</c:v>
                </c:pt>
                <c:pt idx="3">
                  <c:v>134</c:v>
                </c:pt>
                <c:pt idx="4">
                  <c:v>338</c:v>
                </c:pt>
                <c:pt idx="5">
                  <c:v>500</c:v>
                </c:pt>
                <c:pt idx="6">
                  <c:v>713</c:v>
                </c:pt>
                <c:pt idx="7">
                  <c:v>936</c:v>
                </c:pt>
                <c:pt idx="8">
                  <c:v>1195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99-4A88-9A86-4B1989AC36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PAT Margin %</c:v>
                </c:pt>
              </c:strCache>
            </c:strRef>
          </c:tx>
          <c:spPr>
            <a:ln w="25400" cap="rnd">
              <a:solidFill>
                <a:srgbClr val="10B98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0B981"/>
              </a:solidFill>
              <a:ln w="9525">
                <a:solidFill>
                  <a:srgbClr val="10B981"/>
                </a:solidFill>
              </a:ln>
            </c:spPr>
          </c:marker>
          <c:dLbls>
            <c:numFmt formatCode="0.0&quot;%&quot;" sourceLinked="0"/>
            <c:spPr>
              <a:noFill/>
              <a:ln>
                <a:noFill/>
              </a:ln>
            </c:spPr>
            <c:txPr>
              <a:bodyPr rot="0" vert="horz" wrap="square" anchor="ctr"/>
              <a:lstStyle/>
              <a:p>
                <a:pPr>
                  <a:defRPr sz="800" b="1">
                    <a:solidFill>
                      <a:srgbClr val="10B981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FY26E</c:v>
                </c:pt>
                <c:pt idx="5">
                  <c:v>FY27E</c:v>
                </c:pt>
                <c:pt idx="6">
                  <c:v>FY28E</c:v>
                </c:pt>
                <c:pt idx="7">
                  <c:v>FY29E</c:v>
                </c:pt>
                <c:pt idx="8">
                  <c:v>FY30E</c:v>
                </c:pt>
              </c:strCache>
            </c:strRef>
          </c:cat>
          <c:val>
            <c:numRef>
              <c:f>Sheet1!$D$2:$D$10</c:f>
              <c:numCache>
                <c:formatCode>0.0</c:formatCode>
                <c:ptCount val="9"/>
                <c:pt idx="0">
                  <c:v>8.8000000000000007</c:v>
                </c:pt>
                <c:pt idx="1">
                  <c:v>10.199999999999999</c:v>
                </c:pt>
                <c:pt idx="2">
                  <c:v>16</c:v>
                </c:pt>
                <c:pt idx="3">
                  <c:v>15.8</c:v>
                </c:pt>
                <c:pt idx="4">
                  <c:v>29.4</c:v>
                </c:pt>
                <c:pt idx="5">
                  <c:v>30.6</c:v>
                </c:pt>
                <c:pt idx="6">
                  <c:v>32</c:v>
                </c:pt>
                <c:pt idx="7">
                  <c:v>32.6</c:v>
                </c:pt>
                <c:pt idx="8">
                  <c:v>33.4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2F-41BE-9AE5-4956103666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600"/>
        <c:axId val="2094734601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catAx>
        <c:axId val="2094734600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extTo"/>
        <c:crossAx val="2094734601"/>
        <c:crosses val="autoZero"/>
        <c:auto val="1"/>
        <c:lblAlgn val="ctr"/>
        <c:lblOffset val="100"/>
        <c:noMultiLvlLbl val="1"/>
      </c:catAx>
      <c:valAx>
        <c:axId val="2094734601"/>
        <c:scaling>
          <c:orientation val="minMax"/>
          <c:max val="45"/>
          <c:min val="0"/>
        </c:scaling>
        <c:delete val="0"/>
        <c:axPos val="r"/>
        <c:numFmt formatCode="0&quot;%&quot;" sourceLinked="0"/>
        <c:majorTickMark val="out"/>
        <c:minorTickMark val="none"/>
        <c:tickLblPos val="nextTo"/>
        <c:spPr>
          <a:ln w="6350" cap="flat">
            <a:solidFill>
              <a:srgbClr val="10B981"/>
            </a:solidFill>
            <a:prstDash val="solid"/>
            <a:round/>
          </a:ln>
        </c:spPr>
        <c:txPr>
          <a:bodyPr/>
          <a:lstStyle/>
          <a:p>
            <a:pPr>
              <a:defRPr sz="700">
                <a:solidFill>
                  <a:srgbClr val="10B981"/>
                </a:solidFill>
                <a:latin typeface="Arial"/>
              </a:defRPr>
            </a:pPr>
            <a:endParaRPr lang="en-US"/>
          </a:p>
        </c:txPr>
        <c:crossAx val="209473460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83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2750"/>
            <a:ext cx="652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Ayurveda &amp; AYUSH Healthcare Boom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53720" y="762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A $20B+ global market growing at ~17-20% CAGR, backed by WHO integration (ICD-11), $288M PLI scheme, AYUSH insurance mandates (400M+ lives), and a 15x sector expansion in the last decade ($2.85B '14 → $43.3B '24).</a:t>
            </a:r>
          </a:p>
        </p:txBody>
      </p:sp>
      <p:sp>
        <p:nvSpPr>
          <p:cNvPr id="21" name="Text 16"/>
          <p:cNvSpPr/>
          <p:nvPr/>
        </p:nvSpPr>
        <p:spPr>
          <a:xfrm>
            <a:off x="368300" y="270002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Ayurveda Market Trajectory (USD Bn)</a:t>
            </a:r>
            <a:endParaRPr lang="en-US" sz="10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368300" y="2941320"/>
          <a:ext cx="3921760" cy="1699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17"/>
          <p:cNvSpPr/>
          <p:nvPr/>
        </p:nvSpPr>
        <p:spPr>
          <a:xfrm>
            <a:off x="4323080" y="2567940"/>
            <a:ext cx="4419600" cy="995680"/>
          </a:xfrm>
          <a:prstGeom prst="roundRect">
            <a:avLst>
              <a:gd name="adj" fmla="val 5000"/>
            </a:avLst>
          </a:prstGeom>
          <a:solidFill>
            <a:srgbClr val="0F304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Text 18"/>
          <p:cNvSpPr/>
          <p:nvPr/>
        </p:nvSpPr>
        <p:spPr>
          <a:xfrm>
            <a:off x="4394200" y="2609850"/>
            <a:ext cx="421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Arial" pitchFamily="34" charset="0"/>
              </a:rPr>
              <a:t>KEY MACRO TAILWINDS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2482A7B-CFC1-6C57-2814-3BF06009052A}"/>
              </a:ext>
            </a:extLst>
          </p:cNvPr>
          <p:cNvGrpSpPr/>
          <p:nvPr/>
        </p:nvGrpSpPr>
        <p:grpSpPr>
          <a:xfrm>
            <a:off x="4338320" y="2826703"/>
            <a:ext cx="4318000" cy="704215"/>
            <a:chOff x="4419600" y="3225800"/>
            <a:chExt cx="4318000" cy="704215"/>
          </a:xfrm>
        </p:grpSpPr>
        <p:sp>
          <p:nvSpPr>
            <p:cNvPr id="25" name="Text 19"/>
            <p:cNvSpPr/>
            <p:nvPr/>
          </p:nvSpPr>
          <p:spPr>
            <a:xfrm>
              <a:off x="4419600" y="3225800"/>
              <a:ext cx="4318000" cy="73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A5E9"/>
                  </a:solidFill>
                  <a:latin typeface="Calibri" pitchFamily="34" charset="0"/>
                </a:rPr>
                <a:t>▸ </a:t>
              </a: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</a:rPr>
                <a:t>WHO Global Centre for Traditional Medicine (GCTM) in Jamnagar — India as science hub</a:t>
              </a:r>
            </a:p>
          </p:txBody>
        </p:sp>
        <p:sp>
          <p:nvSpPr>
            <p:cNvPr id="26" name="Text 20"/>
            <p:cNvSpPr/>
            <p:nvPr/>
          </p:nvSpPr>
          <p:spPr>
            <a:xfrm>
              <a:off x="4419600" y="3365500"/>
              <a:ext cx="4216400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A5E9"/>
                  </a:solidFill>
                  <a:latin typeface="Calibri" pitchFamily="34" charset="0"/>
                </a:rPr>
                <a:t>▸ </a:t>
              </a: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</a:rPr>
                <a:t>AYUSH insurance mandates covering 400M+ lives under Ayushman Bharat</a:t>
              </a:r>
            </a:p>
          </p:txBody>
        </p:sp>
        <p:sp>
          <p:nvSpPr>
            <p:cNvPr id="27" name="Text 21"/>
            <p:cNvSpPr/>
            <p:nvPr/>
          </p:nvSpPr>
          <p:spPr>
            <a:xfrm>
              <a:off x="4424680" y="3524250"/>
              <a:ext cx="4216400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A5E9"/>
                  </a:solidFill>
                  <a:latin typeface="Calibri" pitchFamily="34" charset="0"/>
                </a:rPr>
                <a:t>▸ </a:t>
              </a: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</a:rPr>
                <a:t>Rising chronic disease burden → massive preventive care shift underway</a:t>
              </a:r>
            </a:p>
          </p:txBody>
        </p:sp>
        <p:sp>
          <p:nvSpPr>
            <p:cNvPr id="28" name="Text 22"/>
            <p:cNvSpPr/>
            <p:nvPr/>
          </p:nvSpPr>
          <p:spPr>
            <a:xfrm>
              <a:off x="4419600" y="3679190"/>
              <a:ext cx="4216400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A5E9"/>
                  </a:solidFill>
                  <a:latin typeface="Calibri" pitchFamily="34" charset="0"/>
                </a:rPr>
                <a:t>▸ </a:t>
              </a: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</a:rPr>
                <a:t>e-Ayush visa + Heal in India ($2.2B budget) → wellness tourism $28B+ mkt</a:t>
              </a:r>
            </a:p>
          </p:txBody>
        </p:sp>
        <p:sp>
          <p:nvSpPr>
            <p:cNvPr id="29" name="Text 23"/>
            <p:cNvSpPr/>
            <p:nvPr/>
          </p:nvSpPr>
          <p:spPr>
            <a:xfrm>
              <a:off x="4419600" y="3834765"/>
              <a:ext cx="4216400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A5E9"/>
                  </a:solidFill>
                  <a:latin typeface="Calibri" pitchFamily="34" charset="0"/>
                </a:rPr>
                <a:t>▸ </a:t>
              </a: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</a:rPr>
                <a:t>$288M PLI scheme for AYUSH + BIMSTEC Ayurveda Centre of Excellence</a:t>
              </a:r>
            </a:p>
          </p:txBody>
        </p:sp>
      </p:grpSp>
      <p:sp>
        <p:nvSpPr>
          <p:cNvPr id="30" name="Text 24"/>
          <p:cNvSpPr/>
          <p:nvPr/>
        </p:nvSpPr>
        <p:spPr>
          <a:xfrm>
            <a:off x="368300" y="4826000"/>
            <a:ext cx="838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6070"/>
                </a:solidFill>
                <a:latin typeface="Calibri" pitchFamily="34" charset="0"/>
              </a:rPr>
              <a:t>Sources: Grand View Research, IBEF, Ministry of AYUSH, Mordor Intelligence, IMARC, Screener.in, PIB  |  March 2026  |  JSLL CMP ₹582  |  All projections are estimates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D89169-445E-2C6C-DFCA-3E3FE499DFBE}"/>
              </a:ext>
            </a:extLst>
          </p:cNvPr>
          <p:cNvGrpSpPr/>
          <p:nvPr/>
        </p:nvGrpSpPr>
        <p:grpSpPr>
          <a:xfrm>
            <a:off x="553720" y="1264920"/>
            <a:ext cx="7950200" cy="1234440"/>
            <a:chOff x="548640" y="1356360"/>
            <a:chExt cx="7950200" cy="123444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D3A9649-3118-91D0-D017-9F141437E38C}"/>
                </a:ext>
              </a:extLst>
            </p:cNvPr>
            <p:cNvGrpSpPr/>
            <p:nvPr/>
          </p:nvGrpSpPr>
          <p:grpSpPr>
            <a:xfrm>
              <a:off x="548640" y="1356360"/>
              <a:ext cx="7950200" cy="1234440"/>
              <a:chOff x="546100" y="1737360"/>
              <a:chExt cx="7950200" cy="1234440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546100" y="1737360"/>
                <a:ext cx="1930400" cy="1234440"/>
              </a:xfrm>
              <a:prstGeom prst="roundRect">
                <a:avLst>
                  <a:gd name="adj" fmla="val 5000"/>
                </a:avLst>
              </a:prstGeom>
              <a:solidFill>
                <a:srgbClr val="0F3044"/>
              </a:solidFill>
              <a:ln/>
              <a:effectLst>
                <a:outerShdw blurRad="50800" dist="25400" dir="8100000" algn="b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7" name="Shape 5"/>
              <p:cNvSpPr/>
              <p:nvPr/>
            </p:nvSpPr>
            <p:spPr>
              <a:xfrm>
                <a:off x="546100" y="1737360"/>
                <a:ext cx="54864" cy="1234440"/>
              </a:xfrm>
              <a:prstGeom prst="rect">
                <a:avLst/>
              </a:prstGeom>
              <a:solidFill>
                <a:srgbClr val="0EA5E9"/>
              </a:solidFill>
              <a:ln/>
            </p:spPr>
          </p:sp>
          <p:pic>
            <p:nvPicPr>
              <p:cNvPr id="8" name="Image 0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8500" y="1866900"/>
                <a:ext cx="254000" cy="254000"/>
              </a:xfrm>
              <a:prstGeom prst="rect">
                <a:avLst/>
              </a:prstGeom>
            </p:spPr>
          </p:pic>
          <p:sp>
            <p:nvSpPr>
              <p:cNvPr id="9" name="Text 6"/>
              <p:cNvSpPr/>
              <p:nvPr/>
            </p:nvSpPr>
            <p:spPr>
              <a:xfrm>
                <a:off x="698500" y="2120900"/>
                <a:ext cx="16510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F59E0B"/>
                    </a:solidFill>
                    <a:latin typeface="Georgia" pitchFamily="34" charset="0"/>
                  </a:rPr>
                  <a:t>$20.4B</a:t>
                </a:r>
              </a:p>
            </p:txBody>
          </p:sp>
          <p:sp>
            <p:nvSpPr>
              <p:cNvPr id="10" name="Text 7"/>
              <p:cNvSpPr/>
              <p:nvPr/>
            </p:nvSpPr>
            <p:spPr>
              <a:xfrm>
                <a:off x="698500" y="2349500"/>
                <a:ext cx="165100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Global Ayurveda</a:t>
                </a:r>
                <a:endParaRPr lang="en-US" sz="1000" dirty="0"/>
              </a:p>
              <a:p>
                <a:pPr marL="0" indent="0">
                  <a:buNone/>
                </a:pPr>
                <a:r>
                  <a:rPr lang="en-US" sz="100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Market (2025)</a:t>
                </a:r>
                <a:endParaRPr lang="en-US" sz="1000" dirty="0"/>
              </a:p>
            </p:txBody>
          </p:sp>
          <p:sp>
            <p:nvSpPr>
              <p:cNvPr id="11" name="Shape 8"/>
              <p:cNvSpPr/>
              <p:nvPr/>
            </p:nvSpPr>
            <p:spPr>
              <a:xfrm>
                <a:off x="2552700" y="1737360"/>
                <a:ext cx="1930400" cy="1234440"/>
              </a:xfrm>
              <a:prstGeom prst="roundRect">
                <a:avLst>
                  <a:gd name="adj" fmla="val 5000"/>
                </a:avLst>
              </a:prstGeom>
              <a:solidFill>
                <a:srgbClr val="0F3044"/>
              </a:solidFill>
              <a:ln/>
              <a:effectLst>
                <a:outerShdw blurRad="50800" dist="25400" dir="8100000" algn="b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12" name="Shape 9"/>
              <p:cNvSpPr/>
              <p:nvPr/>
            </p:nvSpPr>
            <p:spPr>
              <a:xfrm>
                <a:off x="2552700" y="1737360"/>
                <a:ext cx="54864" cy="1234440"/>
              </a:xfrm>
              <a:prstGeom prst="rect">
                <a:avLst/>
              </a:prstGeom>
              <a:solidFill>
                <a:srgbClr val="0EA5E9"/>
              </a:solidFill>
              <a:ln/>
            </p:spPr>
          </p:sp>
          <p:pic>
            <p:nvPicPr>
              <p:cNvPr id="13" name="Image 1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5100" y="1866900"/>
                <a:ext cx="254000" cy="254000"/>
              </a:xfrm>
              <a:prstGeom prst="rect">
                <a:avLst/>
              </a:prstGeom>
            </p:spPr>
          </p:pic>
          <p:sp>
            <p:nvSpPr>
              <p:cNvPr id="14" name="Text 10"/>
              <p:cNvSpPr/>
              <p:nvPr/>
            </p:nvSpPr>
            <p:spPr>
              <a:xfrm>
                <a:off x="2705100" y="2120900"/>
                <a:ext cx="16510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F59E0B"/>
                    </a:solidFill>
                    <a:latin typeface="Georgia" pitchFamily="34" charset="0"/>
                  </a:rPr>
                  <a:t>~17% CAGR</a:t>
                </a:r>
              </a:p>
            </p:txBody>
          </p:sp>
          <p:sp>
            <p:nvSpPr>
              <p:cNvPr id="15" name="Text 11"/>
              <p:cNvSpPr/>
              <p:nvPr/>
            </p:nvSpPr>
            <p:spPr>
              <a:xfrm>
                <a:off x="2705100" y="2349500"/>
                <a:ext cx="165100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India AYUSH Sector</a:t>
                </a:r>
                <a:endParaRPr lang="en-US" sz="1000" dirty="0"/>
              </a:p>
              <a:p>
                <a:pPr marL="0" indent="0">
                  <a:buNone/>
                </a:pPr>
                <a:r>
                  <a:rPr lang="en-US" sz="100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Growth (2024-32)</a:t>
                </a:r>
                <a:endParaRPr lang="en-US" sz="1000" dirty="0"/>
              </a:p>
            </p:txBody>
          </p:sp>
          <p:sp>
            <p:nvSpPr>
              <p:cNvPr id="16" name="Shape 12"/>
              <p:cNvSpPr/>
              <p:nvPr/>
            </p:nvSpPr>
            <p:spPr>
              <a:xfrm>
                <a:off x="4559300" y="1737360"/>
                <a:ext cx="1930400" cy="1234440"/>
              </a:xfrm>
              <a:prstGeom prst="roundRect">
                <a:avLst>
                  <a:gd name="adj" fmla="val 5000"/>
                </a:avLst>
              </a:prstGeom>
              <a:solidFill>
                <a:srgbClr val="0F3044"/>
              </a:solidFill>
              <a:ln/>
              <a:effectLst>
                <a:outerShdw blurRad="50800" dist="25400" dir="8100000" algn="b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17" name="Shape 13"/>
              <p:cNvSpPr/>
              <p:nvPr/>
            </p:nvSpPr>
            <p:spPr>
              <a:xfrm>
                <a:off x="4559300" y="1737360"/>
                <a:ext cx="54864" cy="1234440"/>
              </a:xfrm>
              <a:prstGeom prst="rect">
                <a:avLst/>
              </a:prstGeom>
              <a:solidFill>
                <a:srgbClr val="0EA5E9"/>
              </a:solidFill>
              <a:ln/>
            </p:spPr>
          </p:sp>
          <p:pic>
            <p:nvPicPr>
              <p:cNvPr id="18" name="Image 2" descr="preencoded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11700" y="1866900"/>
                <a:ext cx="254000" cy="254000"/>
              </a:xfrm>
              <a:prstGeom prst="rect">
                <a:avLst/>
              </a:prstGeom>
            </p:spPr>
          </p:pic>
          <p:sp>
            <p:nvSpPr>
              <p:cNvPr id="19" name="Text 14"/>
              <p:cNvSpPr/>
              <p:nvPr/>
            </p:nvSpPr>
            <p:spPr>
              <a:xfrm>
                <a:off x="4711700" y="2120900"/>
                <a:ext cx="16510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F59E0B"/>
                    </a:solidFill>
                    <a:latin typeface="Georgia" pitchFamily="34" charset="0"/>
                  </a:rPr>
                  <a:t>₹3,993 Cr</a:t>
                </a:r>
              </a:p>
            </p:txBody>
          </p:sp>
          <p:sp>
            <p:nvSpPr>
              <p:cNvPr id="20" name="Text 15"/>
              <p:cNvSpPr/>
              <p:nvPr/>
            </p:nvSpPr>
            <p:spPr>
              <a:xfrm>
                <a:off x="4711700" y="2349500"/>
                <a:ext cx="165100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Govt AYUSH Budget</a:t>
                </a:r>
                <a:endParaRPr lang="en-US" sz="1000" dirty="0"/>
              </a:p>
              <a:p>
                <a:pPr marL="0" indent="0">
                  <a:buNone/>
                </a:pPr>
                <a:r>
                  <a:rPr lang="en-US" sz="1000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FY26 (+14% YoY)</a:t>
                </a:r>
                <a:endParaRPr lang="en-US" sz="1000" dirty="0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7293BBDC-7C68-4262-92DC-87968670C5E9}"/>
                  </a:ext>
                </a:extLst>
              </p:cNvPr>
              <p:cNvSpPr/>
              <p:nvPr/>
            </p:nvSpPr>
            <p:spPr>
              <a:xfrm>
                <a:off x="6565900" y="1739900"/>
                <a:ext cx="1930400" cy="1231900"/>
              </a:xfrm>
              <a:prstGeom prst="roundRect">
                <a:avLst>
                  <a:gd name="adj" fmla="val 5000"/>
                </a:avLst>
              </a:prstGeom>
              <a:solidFill>
                <a:srgbClr val="1E293B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IN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09DCC99-FDEE-44A7-82C0-077FACF433DC}"/>
                  </a:ext>
                </a:extLst>
              </p:cNvPr>
              <p:cNvSpPr txBox="1"/>
              <p:nvPr/>
            </p:nvSpPr>
            <p:spPr>
              <a:xfrm>
                <a:off x="6743700" y="1828800"/>
                <a:ext cx="1689100" cy="457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IN" sz="1000">
                    <a:solidFill>
                      <a:srgbClr val="94A3B8"/>
                    </a:solidFill>
                    <a:latin typeface="Calibri"/>
                    <a:ea typeface="Calibri"/>
                    <a:cs typeface="Calibri"/>
                  </a:rPr>
                  <a:t>Wellness Tourism
India (2025)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9F883B8-D884-4510-9553-60405DA0B084}"/>
                  </a:ext>
                </a:extLst>
              </p:cNvPr>
              <p:cNvSpPr txBox="1"/>
              <p:nvPr/>
            </p:nvSpPr>
            <p:spPr>
              <a:xfrm>
                <a:off x="6743700" y="2222500"/>
                <a:ext cx="1689100" cy="5461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IN" sz="2200" b="1" dirty="0">
                    <a:solidFill>
                      <a:srgbClr val="F59E0B"/>
                    </a:solidFill>
                    <a:latin typeface="Georgia"/>
                  </a:rPr>
                  <a:t>$28B+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DFB4697-51DA-431A-9008-C4552EB2055D}"/>
                </a:ext>
              </a:extLst>
            </p:cNvPr>
            <p:cNvSpPr/>
            <p:nvPr/>
          </p:nvSpPr>
          <p:spPr>
            <a:xfrm>
              <a:off x="6589776" y="1356360"/>
              <a:ext cx="50800" cy="1231900"/>
            </a:xfrm>
            <a:prstGeom prst="rect">
              <a:avLst/>
            </a:prstGeom>
            <a:solidFill>
              <a:srgbClr val="10B98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IN"/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3ED6381-5B4F-4A1F-AC36-5FB2C06806DC}"/>
              </a:ext>
            </a:extLst>
          </p:cNvPr>
          <p:cNvSpPr/>
          <p:nvPr/>
        </p:nvSpPr>
        <p:spPr>
          <a:xfrm>
            <a:off x="4318000" y="3623310"/>
            <a:ext cx="4445000" cy="120269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E9D9AD-A1CF-405F-9BBC-BD09394693C4}"/>
              </a:ext>
            </a:extLst>
          </p:cNvPr>
          <p:cNvSpPr txBox="1"/>
          <p:nvPr/>
        </p:nvSpPr>
        <p:spPr>
          <a:xfrm>
            <a:off x="4419600" y="3613150"/>
            <a:ext cx="4191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000" b="1" dirty="0">
                <a:solidFill>
                  <a:srgbClr val="10B981"/>
                </a:solidFill>
                <a:latin typeface="Arial"/>
                <a:cs typeface="Arial"/>
              </a:rPr>
              <a:t>MARKET INSIGHTS &amp; ANALYSIS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D8BF9B-884B-4B28-9997-5334B0A28CA9}"/>
              </a:ext>
            </a:extLst>
          </p:cNvPr>
          <p:cNvSpPr txBox="1"/>
          <p:nvPr/>
        </p:nvSpPr>
        <p:spPr>
          <a:xfrm>
            <a:off x="4363720" y="3803650"/>
            <a:ext cx="42164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India Ayurvedic products mkt: ₹1,018B (2025) → ₹3,729B by 2034 (15.5% CAGR)</a:t>
            </a:r>
            <a:endParaRPr lang="en-IN" sz="9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629684-6553-4336-B9E0-7D8289912261}"/>
              </a:ext>
            </a:extLst>
          </p:cNvPr>
          <p:cNvSpPr txBox="1"/>
          <p:nvPr/>
        </p:nvSpPr>
        <p:spPr>
          <a:xfrm>
            <a:off x="4363720" y="3961130"/>
            <a:ext cx="42164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AYUSH exports grew 5.9% in FY25 to ₹5,907 Cr; quantity up 21.5% YoY</a:t>
            </a:r>
            <a:endParaRPr lang="en-IN" sz="9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21E898-4982-4F81-A21D-C5859BA07478}"/>
              </a:ext>
            </a:extLst>
          </p:cNvPr>
          <p:cNvSpPr txBox="1"/>
          <p:nvPr/>
        </p:nvSpPr>
        <p:spPr>
          <a:xfrm>
            <a:off x="4363720" y="4114800"/>
            <a:ext cx="42164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WHO ICD-11 now includes Ayurveda/Siddha/Unani module (2025 update)</a:t>
            </a:r>
            <a:endParaRPr lang="en-IN" sz="9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FA9663-7C7E-4356-AA63-D9FF444DBF72}"/>
              </a:ext>
            </a:extLst>
          </p:cNvPr>
          <p:cNvSpPr txBox="1"/>
          <p:nvPr/>
        </p:nvSpPr>
        <p:spPr>
          <a:xfrm>
            <a:off x="4363720" y="4273550"/>
            <a:ext cx="42164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E-commerce crossed 25% of sector sales in 2024; D2C brands gaining share</a:t>
            </a:r>
            <a:endParaRPr lang="en-IN" sz="9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1C36F9-BE83-4F87-990F-1FB6420C45E9}"/>
              </a:ext>
            </a:extLst>
          </p:cNvPr>
          <p:cNvSpPr txBox="1"/>
          <p:nvPr/>
        </p:nvSpPr>
        <p:spPr>
          <a:xfrm>
            <a:off x="4363720" y="4435475"/>
            <a:ext cx="42164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AYUSH sector: 15x growth in 10 yrs ($2.85B '14 → $43.3B '24)</a:t>
            </a:r>
            <a:endParaRPr lang="en-IN" sz="9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B22E42-8316-4023-BD1E-F529F85CB29D}"/>
              </a:ext>
            </a:extLst>
          </p:cNvPr>
          <p:cNvSpPr txBox="1"/>
          <p:nvPr/>
        </p:nvSpPr>
        <p:spPr>
          <a:xfrm>
            <a:off x="4363720" y="4597400"/>
            <a:ext cx="4216400" cy="11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Healthcare 58% of Ayurvedic products; skin/hair 26% — therapy led</a:t>
            </a:r>
            <a:endParaRPr lang="en-IN" sz="9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675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Jeena Sikho Lifecare Ltd  (NSE: JSLL)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8463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54864" cy="141732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601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JSLL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2344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leading Ayurvedic hospital chain (est. 2009), operating 40+ hospitals and 80+ clinics across 21 states under the "Shuddhi" brand. The company offers 250+ herbal products and is rapidly scaling beds, OTC distribution (via Entero partnership across 1.25L stores), and international expansion (UAE, Nepal, Kazakhstan, US FDA).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32120" y="868680"/>
            <a:ext cx="1554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23560" y="941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623560" y="1143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₹8,812 Cr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223760" y="868680"/>
            <a:ext cx="1554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0" y="941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 (Feb '26)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315200" y="1143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₹~582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532120" y="1581912"/>
            <a:ext cx="1554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623560" y="1655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(TTM)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623560" y="1856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~60x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223760" y="1581912"/>
            <a:ext cx="1554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15200" y="1655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52-Wk Range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315200" y="1856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₹313 – 850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EBITDA (₹ Cr) &amp; PAT Margin (%)</a:t>
            </a:r>
          </a:p>
        </p:txBody>
      </p:sp>
      <p:graphicFrame>
        <p:nvGraphicFramePr>
          <p:cNvPr id="23" name="Chart 0"/>
          <p:cNvGraphicFramePr/>
          <p:nvPr/>
        </p:nvGraphicFramePr>
        <p:xfrm>
          <a:off x="274320" y="2606040"/>
          <a:ext cx="4351020" cy="19324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 20"/>
          <p:cNvSpPr/>
          <p:nvPr/>
        </p:nvSpPr>
        <p:spPr>
          <a:xfrm>
            <a:off x="484632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Snapshot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4777740" y="2615184"/>
          <a:ext cx="4091940" cy="1932434"/>
        </p:xfrm>
        <a:graphic>
          <a:graphicData uri="http://schemas.openxmlformats.org/drawingml/2006/table">
            <a:tbl>
              <a:tblPr/>
              <a:tblGrid>
                <a:gridCol w="830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4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FY30E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FY35E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(₹Cr)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2,439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5,571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 (₹Cr)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 (₹Cr)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(39.6)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(52.8)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1,983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2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Hospitals / Beds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/ 1,270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/ 2,050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/ 2,800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/ 8,500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 / 14,200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D/E Ratio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Text 21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JSLL Financial Model, BSE Filings, Screener.in  |  All projected figures are estimates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723021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Jeena Sikho Lifecare — Valuation &amp; Risk Framework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77640" cy="1920240"/>
          </a:xfrm>
          <a:prstGeom prst="rect">
            <a:avLst/>
          </a:prstGeom>
          <a:solidFill>
            <a:srgbClr val="0F3044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192024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051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PRICING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₹582</a:t>
            </a:r>
          </a:p>
        </p:txBody>
      </p:sp>
      <p:sp>
        <p:nvSpPr>
          <p:cNvPr id="10" name="Text 7"/>
          <p:cNvSpPr/>
          <p:nvPr/>
        </p:nvSpPr>
        <p:spPr>
          <a:xfrm>
            <a:off x="1965960" y="1417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18745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Cap: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₹7,228 Cr  |  P/E 35.4x  |  EV/EBITDA 22.6x</a:t>
            </a:r>
          </a:p>
        </p:txBody>
      </p:sp>
      <p:sp>
        <p:nvSpPr>
          <p:cNvPr id="12" name="Text 9"/>
          <p:cNvSpPr/>
          <p:nvPr/>
        </p:nvSpPr>
        <p:spPr>
          <a:xfrm>
            <a:off x="685800" y="209397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52-Wk: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₹313 – ₹850  |  D/E 0.30  |  ROCE 50.2%  |  ROE 37.9%</a:t>
            </a:r>
          </a:p>
        </p:txBody>
      </p:sp>
      <p:sp>
        <p:nvSpPr>
          <p:cNvPr id="13" name="Text 10"/>
          <p:cNvSpPr/>
          <p:nvPr/>
        </p:nvSpPr>
        <p:spPr>
          <a:xfrm>
            <a:off x="685800" y="23134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Implied: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35x P/E, pricing in ~45% growth for 2+ yrs. OPM 43.9%.</a:t>
            </a:r>
          </a:p>
        </p:txBody>
      </p:sp>
      <p:sp>
        <p:nvSpPr>
          <p:cNvPr id="14" name="Text 11"/>
          <p:cNvSpPr/>
          <p:nvPr/>
        </p:nvSpPr>
        <p:spPr>
          <a:xfrm>
            <a:off x="685800" y="25328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Debt: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₹106 Cr (lease liabilities + borrowings). Int. Coverage 26.7x</a:t>
            </a:r>
          </a:p>
        </p:txBody>
      </p:sp>
      <p:sp>
        <p:nvSpPr>
          <p:cNvPr id="15" name="Shape 12"/>
          <p:cNvSpPr/>
          <p:nvPr/>
        </p:nvSpPr>
        <p:spPr>
          <a:xfrm>
            <a:off x="4617720" y="914400"/>
            <a:ext cx="3977640" cy="1920240"/>
          </a:xfrm>
          <a:prstGeom prst="rect">
            <a:avLst/>
          </a:prstGeom>
          <a:solidFill>
            <a:srgbClr val="0F3044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17720" y="914400"/>
            <a:ext cx="54864" cy="1920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051560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1102632"/>
            <a:ext cx="32004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FRAMEWORK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00600" y="1417320"/>
            <a:ext cx="1691640" cy="77724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20" name="Text 16"/>
          <p:cNvSpPr/>
          <p:nvPr/>
        </p:nvSpPr>
        <p:spPr>
          <a:xfrm>
            <a:off x="4846320" y="1500619"/>
            <a:ext cx="160020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Intrinsic Value (Today)</a:t>
            </a:r>
          </a:p>
        </p:txBody>
      </p:sp>
      <p:sp>
        <p:nvSpPr>
          <p:cNvPr id="21" name="Text 17"/>
          <p:cNvSpPr/>
          <p:nvPr/>
        </p:nvSpPr>
        <p:spPr>
          <a:xfrm>
            <a:off x="4846320" y="1645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₹792</a:t>
            </a:r>
          </a:p>
        </p:txBody>
      </p:sp>
      <p:sp>
        <p:nvSpPr>
          <p:cNvPr id="22" name="Text 18"/>
          <p:cNvSpPr/>
          <p:nvPr/>
        </p:nvSpPr>
        <p:spPr>
          <a:xfrm>
            <a:off x="4846320" y="1965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+36.1% upside</a:t>
            </a:r>
          </a:p>
        </p:txBody>
      </p:sp>
      <p:sp>
        <p:nvSpPr>
          <p:cNvPr id="23" name="Shape 19"/>
          <p:cNvSpPr/>
          <p:nvPr/>
        </p:nvSpPr>
        <p:spPr>
          <a:xfrm>
            <a:off x="6629400" y="1417320"/>
            <a:ext cx="1691640" cy="77724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24" name="Text 20"/>
          <p:cNvSpPr/>
          <p:nvPr/>
        </p:nvSpPr>
        <p:spPr>
          <a:xfrm>
            <a:off x="6675120" y="1500619"/>
            <a:ext cx="160020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Multiple — FY36E Price</a:t>
            </a:r>
          </a:p>
        </p:txBody>
      </p:sp>
      <p:sp>
        <p:nvSpPr>
          <p:cNvPr id="25" name="Text 21"/>
          <p:cNvSpPr/>
          <p:nvPr/>
        </p:nvSpPr>
        <p:spPr>
          <a:xfrm>
            <a:off x="6675120" y="1667440"/>
            <a:ext cx="16002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₹4,825</a:t>
            </a:r>
          </a:p>
        </p:txBody>
      </p:sp>
      <p:sp>
        <p:nvSpPr>
          <p:cNvPr id="26" name="Text 22"/>
          <p:cNvSpPr/>
          <p:nvPr/>
        </p:nvSpPr>
        <p:spPr>
          <a:xfrm>
            <a:off x="6675120" y="2003539"/>
            <a:ext cx="160020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21.2% CAGR | 8.3x in 11 yrs</a:t>
            </a:r>
          </a:p>
        </p:txBody>
      </p:sp>
      <p:sp>
        <p:nvSpPr>
          <p:cNvPr id="27" name="Text 23"/>
          <p:cNvSpPr/>
          <p:nvPr/>
        </p:nvSpPr>
        <p:spPr>
          <a:xfrm>
            <a:off x="4800600" y="2321181"/>
            <a:ext cx="3611880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(DCF): </a:t>
            </a: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— ₹792 vs CMP ₹582 (+36.1% upside)</a:t>
            </a:r>
          </a:p>
        </p:txBody>
      </p:sp>
      <p:sp>
        <p:nvSpPr>
          <p:cNvPr id="28" name="Text 24"/>
          <p:cNvSpPr/>
          <p:nvPr/>
        </p:nvSpPr>
        <p:spPr>
          <a:xfrm>
            <a:off x="4800600" y="2565170"/>
            <a:ext cx="3611880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range: ₹571–₹1,139  |  Exit mult. is hardcoded 15x — not from comps</a:t>
            </a:r>
          </a:p>
        </p:txBody>
      </p:sp>
      <p:sp>
        <p:nvSpPr>
          <p:cNvPr id="29" name="Shape 25"/>
          <p:cNvSpPr/>
          <p:nvPr/>
        </p:nvSpPr>
        <p:spPr>
          <a:xfrm>
            <a:off x="457200" y="2971800"/>
            <a:ext cx="3977640" cy="1920240"/>
          </a:xfrm>
          <a:prstGeom prst="rect">
            <a:avLst/>
          </a:prstGeom>
          <a:solidFill>
            <a:srgbClr val="0F3044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57200" y="2971800"/>
            <a:ext cx="54864" cy="19202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81528"/>
            <a:ext cx="228600" cy="2286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32688" y="3081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85800" y="3364992"/>
            <a:ext cx="3520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WACC: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14.09% (Ke 14.2%, β 1.0, Rf 6.7%, ERP 7.5%, Debt Wt 1.4%)</a:t>
            </a:r>
          </a:p>
        </p:txBody>
      </p:sp>
      <p:sp>
        <p:nvSpPr>
          <p:cNvPr id="34" name="Text 29"/>
          <p:cNvSpPr/>
          <p:nvPr/>
        </p:nvSpPr>
        <p:spPr>
          <a:xfrm>
            <a:off x="685800" y="3575304"/>
            <a:ext cx="3520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g: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 — conservative vs India nominal GDP 6-7%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685800" y="3785616"/>
            <a:ext cx="3520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CAGR: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FY26-31 ~32% (60% → 22%, tapering)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685800" y="3995928"/>
            <a:ext cx="3520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Mgn: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steady-state (from 28.6% in FY25)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685800" y="4206240"/>
            <a:ext cx="3520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Beds: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2,050 → 10,000 in 6 yrs (₹3L/bed, asset-light)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685800" y="4416552"/>
            <a:ext cx="3520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+ve: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FY26E; FCF/PAT conversion hits ~1x by FY31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685800" y="4615154"/>
            <a:ext cx="35204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DCF = present value (today). Exit Multiple = future price (FY36E). These are NOT blended — different time horizons.</a:t>
            </a:r>
          </a:p>
        </p:txBody>
      </p:sp>
      <p:sp>
        <p:nvSpPr>
          <p:cNvPr id="40" name="Shape 35"/>
          <p:cNvSpPr/>
          <p:nvPr/>
        </p:nvSpPr>
        <p:spPr>
          <a:xfrm>
            <a:off x="4617720" y="2971800"/>
            <a:ext cx="3977640" cy="1920240"/>
          </a:xfrm>
          <a:prstGeom prst="rect">
            <a:avLst/>
          </a:prstGeom>
          <a:solidFill>
            <a:srgbClr val="0F3044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4617720" y="2971800"/>
            <a:ext cx="54864" cy="19202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081528"/>
            <a:ext cx="228600" cy="22860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093208" y="3081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4846320" y="33649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from 2K to 10K beds requires massive hiring &amp; quality control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4846320" y="36118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Valuation: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35x P/E, more reasonable but still above peer avg 29.6x EV/EBITDA</a:t>
            </a:r>
          </a:p>
        </p:txBody>
      </p:sp>
      <p:sp>
        <p:nvSpPr>
          <p:cNvPr id="46" name="Text 40"/>
          <p:cNvSpPr/>
          <p:nvPr/>
        </p:nvSpPr>
        <p:spPr>
          <a:xfrm>
            <a:off x="4846320" y="385876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Regulatory: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regulatory standardization still evolving; GMP compliance risks</a:t>
            </a:r>
            <a:endParaRPr lang="en-US" sz="750" dirty="0"/>
          </a:p>
        </p:txBody>
      </p:sp>
      <p:sp>
        <p:nvSpPr>
          <p:cNvPr id="47" name="Text 41"/>
          <p:cNvSpPr/>
          <p:nvPr/>
        </p:nvSpPr>
        <p:spPr>
          <a:xfrm>
            <a:off x="4846320" y="410565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Margins: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EBITDA target is aspirational; ad spend &amp; employee costs may weigh</a:t>
            </a:r>
            <a:endParaRPr lang="en-US" sz="750" dirty="0"/>
          </a:p>
        </p:txBody>
      </p:sp>
      <p:sp>
        <p:nvSpPr>
          <p:cNvPr id="48" name="Text 42"/>
          <p:cNvSpPr/>
          <p:nvPr/>
        </p:nvSpPr>
        <p:spPr>
          <a:xfrm>
            <a:off x="4846320" y="43525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Liquidity: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with limited free float; high promoter holding = thin trading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4846320" y="45994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Competition: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Patanjali, Dabur, Apollo AyurVAID scaling fast in Ayurveda services</a:t>
            </a:r>
            <a:endParaRPr lang="en-US" sz="750" dirty="0"/>
          </a:p>
        </p:txBody>
      </p:sp>
      <p:sp>
        <p:nvSpPr>
          <p:cNvPr id="50" name="Text 4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For educational/analytical purposes only. Not investment advice. Actual results may vary materially from projections.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371988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963CD69-07FA-486C-88A7-E8165B3FF58D}"/>
              </a:ext>
            </a:extLst>
          </p:cNvPr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DAE6F12-9896-49CA-B9FD-8CBDAE7D303F}"/>
              </a:ext>
            </a:extLst>
          </p:cNvPr>
          <p:cNvSpPr txBox="1"/>
          <p:nvPr/>
        </p:nvSpPr>
        <p:spPr>
          <a:xfrm>
            <a:off x="546100" y="1016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400" b="1">
                <a:solidFill>
                  <a:srgbClr val="F59E0B"/>
                </a:solidFill>
              </a:rPr>
              <a:t>DEEP DIVE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1FAFFE-8012-4B11-811C-0203670CB89C}"/>
              </a:ext>
            </a:extLst>
          </p:cNvPr>
          <p:cNvSpPr txBox="1"/>
          <p:nvPr/>
        </p:nvSpPr>
        <p:spPr>
          <a:xfrm>
            <a:off x="546100" y="330200"/>
            <a:ext cx="8051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Georgia"/>
              </a:rPr>
              <a:t>Detailed Financials, Sensitivity &amp; Peer Analysis</a:t>
            </a:r>
            <a:endParaRPr lang="en-IN" sz="1600" b="1">
              <a:solidFill>
                <a:srgbClr val="FFFFFF"/>
              </a:solidFill>
              <a:latin typeface="Georgia"/>
            </a:endParaRP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8C7A3731-11D1-4C19-B358-7B5FA27E8C69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660400"/>
          <a:ext cx="8229596" cy="1676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199987002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589792209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024352538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917059279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10073697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25122389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015147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235262016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endParaRPr lang="en-IN" sz="1400" b="1">
                        <a:solidFill>
                          <a:srgbClr val="FFFFFF"/>
                        </a:solidFill>
                      </a:endParaRP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FY24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FY25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FY26E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FY27E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FY28E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FY30E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FY36E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11845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59E0B"/>
                          </a:solidFill>
                        </a:rPr>
                        <a:t>Revenue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324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469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750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1,088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1,501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2,439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6,240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8256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59E0B"/>
                          </a:solidFill>
                        </a:rPr>
                        <a:t>EB Mgn%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26.2%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28.6%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45.0%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46.0%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47.5%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49.0%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53.5%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30052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59E0B"/>
                          </a:solidFill>
                        </a:rPr>
                        <a:t>PAT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51.9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74.3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220.5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332.9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479.9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815.2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2,317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87158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59E0B"/>
                          </a:solidFill>
                        </a:rPr>
                        <a:t>FCF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(39.6)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(52.8)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158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262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405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752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2,276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39011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59E0B"/>
                          </a:solidFill>
                        </a:rPr>
                        <a:t>Beds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1,270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2,050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E2E8F0"/>
                          </a:solidFill>
                        </a:rPr>
                        <a:t>2,800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4,000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5,500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8,500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E2E8F0"/>
                          </a:solidFill>
                        </a:rPr>
                        <a:t>15,000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241983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69CBE5AF-717F-4918-AA8D-726EE8BFE587}"/>
              </a:ext>
            </a:extLst>
          </p:cNvPr>
          <p:cNvSpPr txBox="1"/>
          <p:nvPr/>
        </p:nvSpPr>
        <p:spPr>
          <a:xfrm>
            <a:off x="457200" y="240792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100" b="1" dirty="0">
                <a:solidFill>
                  <a:srgbClr val="0EA5E9"/>
                </a:solidFill>
              </a:rPr>
              <a:t>DCF Sensitivity — GGM (₹/share)</a:t>
            </a:r>
          </a:p>
        </p:txBody>
      </p: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60C0A687-2C15-46EE-A683-58116B039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787236"/>
              </p:ext>
            </p:extLst>
          </p:nvPr>
        </p:nvGraphicFramePr>
        <p:xfrm>
          <a:off x="457200" y="2636520"/>
          <a:ext cx="3810000" cy="1206500"/>
        </p:xfrm>
        <a:graphic>
          <a:graphicData uri="http://schemas.openxmlformats.org/drawingml/2006/table">
            <a:tbl>
              <a:tblPr/>
              <a:tblGrid>
                <a:gridCol w="769620">
                  <a:extLst>
                    <a:ext uri="{9D8B030D-6E8A-4147-A177-3AD203B41FA5}">
                      <a16:colId xmlns:a16="http://schemas.microsoft.com/office/drawing/2014/main" val="2133886194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66020524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574862014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4212338757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832441482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FFFFFF"/>
                          </a:solidFill>
                        </a:rPr>
                        <a:t>W/g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FFFFFF"/>
                          </a:solidFill>
                        </a:rPr>
                        <a:t>2.0%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3.0%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4.0%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5.0%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15599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59E0B"/>
                          </a:solidFill>
                        </a:rPr>
                        <a:t>12.0%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886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952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1,034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1,139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55127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59E0B"/>
                          </a:solidFill>
                        </a:rPr>
                        <a:t>13.5%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753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796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847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911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32716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59E0B"/>
                          </a:solidFill>
                        </a:rPr>
                        <a:t>14.09%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10B981"/>
                          </a:solidFill>
                        </a:rPr>
                        <a:t>712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10B981"/>
                          </a:solidFill>
                        </a:rPr>
                        <a:t>748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10B981"/>
                          </a:solidFill>
                        </a:rPr>
                        <a:t>792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10B981"/>
                          </a:solidFill>
                        </a:rPr>
                        <a:t>845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86805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59E0B"/>
                          </a:solidFill>
                        </a:rPr>
                        <a:t>17.0%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571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589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610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E2E8F0"/>
                          </a:solidFill>
                        </a:rPr>
                        <a:t>634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778318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89390F34-A54C-4932-91CC-E6E75A4C21B0}"/>
              </a:ext>
            </a:extLst>
          </p:cNvPr>
          <p:cNvSpPr txBox="1"/>
          <p:nvPr/>
        </p:nvSpPr>
        <p:spPr>
          <a:xfrm>
            <a:off x="4673600" y="2407920"/>
            <a:ext cx="401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100" b="1" dirty="0">
                <a:solidFill>
                  <a:srgbClr val="F59E0B"/>
                </a:solidFill>
              </a:rPr>
              <a:t>Peer Comps &amp; Revenue Mix</a:t>
            </a:r>
          </a:p>
        </p:txBody>
      </p: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4A21DB36-7CCA-4CFE-883A-6E6D44DE82E4}"/>
              </a:ext>
            </a:extLst>
          </p:cNvPr>
          <p:cNvGraphicFramePr>
            <a:graphicFrameLocks noGrp="1"/>
          </p:cNvGraphicFramePr>
          <p:nvPr/>
        </p:nvGraphicFramePr>
        <p:xfrm>
          <a:off x="4673600" y="2636520"/>
          <a:ext cx="4013198" cy="114300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768121465"/>
                    </a:ext>
                  </a:extLst>
                </a:gridCol>
                <a:gridCol w="999066">
                  <a:extLst>
                    <a:ext uri="{9D8B030D-6E8A-4147-A177-3AD203B41FA5}">
                      <a16:colId xmlns:a16="http://schemas.microsoft.com/office/drawing/2014/main" val="108513681"/>
                    </a:ext>
                  </a:extLst>
                </a:gridCol>
                <a:gridCol w="999066">
                  <a:extLst>
                    <a:ext uri="{9D8B030D-6E8A-4147-A177-3AD203B41FA5}">
                      <a16:colId xmlns:a16="http://schemas.microsoft.com/office/drawing/2014/main" val="545478215"/>
                    </a:ext>
                  </a:extLst>
                </a:gridCol>
                <a:gridCol w="999066">
                  <a:extLst>
                    <a:ext uri="{9D8B030D-6E8A-4147-A177-3AD203B41FA5}">
                      <a16:colId xmlns:a16="http://schemas.microsoft.com/office/drawing/2014/main" val="49742422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EV/EB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P/E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EB Mgn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63794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59E0B"/>
                          </a:solidFill>
                        </a:rPr>
                        <a:t>JSLL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59E0B"/>
                          </a:solidFill>
                        </a:rPr>
                        <a:t>22.6x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59E0B"/>
                          </a:solidFill>
                        </a:rPr>
                        <a:t>35.4x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59E0B"/>
                          </a:solidFill>
                        </a:rPr>
                        <a:t>28.6%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52747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KRM Ayur.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24.8x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34.7x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23.6%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42616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Dabur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34.4x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52.5x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2E8F0"/>
                          </a:solidFill>
                        </a:rPr>
                        <a:t>21.5%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08505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EA5E9"/>
                          </a:solidFill>
                        </a:rPr>
                        <a:t>Peer Avg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EA5E9"/>
                          </a:solidFill>
                        </a:rPr>
                        <a:t>29.6x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EA5E9"/>
                          </a:solidFill>
                        </a:rPr>
                        <a:t>43.6x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EA5E9"/>
                          </a:solidFill>
                        </a:rPr>
                        <a:t>22.6%</a:t>
                      </a:r>
                    </a:p>
                  </a:txBody>
                  <a:tcPr marT="0" marB="0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24762"/>
                  </a:ext>
                </a:extLst>
              </a:tr>
            </a:tbl>
          </a:graphicData>
        </a:graphic>
      </p:graphicFrame>
      <p:sp>
        <p:nvSpPr>
          <p:cNvPr id="75" name="Rectangle 74">
            <a:extLst>
              <a:ext uri="{FF2B5EF4-FFF2-40B4-BE49-F238E27FC236}">
                <a16:creationId xmlns:a16="http://schemas.microsoft.com/office/drawing/2014/main" id="{79C03960-459A-411D-AA61-002900A96C4D}"/>
              </a:ext>
            </a:extLst>
          </p:cNvPr>
          <p:cNvSpPr/>
          <p:nvPr/>
        </p:nvSpPr>
        <p:spPr>
          <a:xfrm>
            <a:off x="457196" y="4047490"/>
            <a:ext cx="8229600" cy="736600"/>
          </a:xfrm>
          <a:prstGeom prst="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165E46-3D22-44DD-B035-E66B6D776812}"/>
              </a:ext>
            </a:extLst>
          </p:cNvPr>
          <p:cNvSpPr txBox="1"/>
          <p:nvPr/>
        </p:nvSpPr>
        <p:spPr>
          <a:xfrm>
            <a:off x="596900" y="4004310"/>
            <a:ext cx="8001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400" b="1" dirty="0">
                <a:solidFill>
                  <a:srgbClr val="F59E0B"/>
                </a:solidFill>
              </a:rPr>
              <a:t>MANAGEMENT CREDIBILITY TRACKER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C75671-CA39-4C31-A7EB-E0EF29BB57CC}"/>
              </a:ext>
            </a:extLst>
          </p:cNvPr>
          <p:cNvSpPr txBox="1"/>
          <p:nvPr/>
        </p:nvSpPr>
        <p:spPr>
          <a:xfrm>
            <a:off x="584200" y="4250690"/>
            <a:ext cx="8001000" cy="1651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10B981"/>
                </a:solidFill>
              </a:rPr>
              <a:t>✓ FY26 Rev ₹750 Cr: 78% done in 9M (High)    ✓ EBITDA 45%+: Actual 46.4% (High)    ✓ PAT ₹1,000 Cr by FY31 (Med)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564D014-E678-4221-9FAA-400DB408E0BC}"/>
              </a:ext>
            </a:extLst>
          </p:cNvPr>
          <p:cNvSpPr txBox="1"/>
          <p:nvPr/>
        </p:nvSpPr>
        <p:spPr>
          <a:xfrm>
            <a:off x="596900" y="4424680"/>
            <a:ext cx="8001000" cy="1651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</a:rPr>
              <a:t>⚠ OTC ₹500 Cr in 2 yrs: Ambitious (Med-Low)    ⚠ Int'l Expansion UAE/Nepal/KZ/US: Early Stage (Low-Med)    Rev Mix: Hosp 70%→44%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07C80F8-61D5-4D1D-8977-BFFB56EF8D39}"/>
              </a:ext>
            </a:extLst>
          </p:cNvPr>
          <p:cNvSpPr txBox="1"/>
          <p:nvPr/>
        </p:nvSpPr>
        <p:spPr>
          <a:xfrm>
            <a:off x="584200" y="4612640"/>
            <a:ext cx="8001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IN" sz="1050" b="1" dirty="0">
                <a:solidFill>
                  <a:srgbClr val="10B981"/>
                </a:solidFill>
              </a:rPr>
              <a:t>Verdict (DCF): BUY — Intrinsic ₹792 vs CMP ₹582 (+36.1%)  |  Exit Mult FY36E: ₹4,825 (21.2% CAGR, 8.3x)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F6936A3-7ED4-4969-A9DC-CD06987ECA49}"/>
              </a:ext>
            </a:extLst>
          </p:cNvPr>
          <p:cNvSpPr txBox="1"/>
          <p:nvPr/>
        </p:nvSpPr>
        <p:spPr>
          <a:xfrm>
            <a:off x="457200" y="4841240"/>
            <a:ext cx="8229600" cy="1651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dirty="0">
                <a:solidFill>
                  <a:srgbClr val="4A6070"/>
                </a:solidFill>
              </a:rPr>
              <a:t>Source: JSLL Financial Model, Screener.in | CMP ₹582, Mkt Cap ₹7,228 Cr, Debt ₹106 Cr | WACC 14.09%, Terminal g 4.0% | Mar 2026</a:t>
            </a:r>
          </a:p>
        </p:txBody>
      </p:sp>
    </p:spTree>
    <p:extLst>
      <p:ext uri="{BB962C8B-B14F-4D97-AF65-F5344CB8AC3E}">
        <p14:creationId xmlns:p14="http://schemas.microsoft.com/office/powerpoint/2010/main" val="3561344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604E65-2200-4A85-9677-734AE602CB0F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1226</Words>
  <Application>Microsoft Office PowerPoint</Application>
  <PresentationFormat>On-screen Show (16:9)</PresentationFormat>
  <Paragraphs>231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Jeena Sikho Lifecare Ltd — Sell-Side Stock Pitch</dc:title>
  <dc:subject>PptxGenJS Presentation</dc:subject>
  <dc:creator>Equity Research</dc:creator>
  <cp:lastModifiedBy>Harsh Vijay</cp:lastModifiedBy>
  <cp:revision>2</cp:revision>
  <dcterms:created xsi:type="dcterms:W3CDTF">2026-02-18T18:06:34Z</dcterms:created>
  <dcterms:modified xsi:type="dcterms:W3CDTF">2026-03-16T14:25:44Z</dcterms:modified>
</cp:coreProperties>
</file>