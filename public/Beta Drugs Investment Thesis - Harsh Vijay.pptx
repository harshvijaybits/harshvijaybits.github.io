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750" b="0" i="0" u="none" strike="noStrike">
                <a:solidFill>
                  <a:srgbClr val="1A2332"/>
                </a:solidFill>
                <a:latin typeface="Arial"/>
              </a:defRPr>
            </a:pPr>
            <a:r>
              <a:rPr lang="en-IN" sz="750" b="0" i="0" u="none" strike="noStrike">
                <a:solidFill>
                  <a:srgbClr val="1A2332"/>
                </a:solidFill>
                <a:latin typeface="Arial"/>
              </a:rPr>
              <a:t>Revenue Trajectory (₹ Cr)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  <c:pt idx="7">
                  <c:v>FY28E</c:v>
                </c:pt>
                <c:pt idx="8">
                  <c:v>FY29E</c:v>
                </c:pt>
                <c:pt idx="9">
                  <c:v>FY30E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91.2</c:v>
                </c:pt>
                <c:pt idx="1">
                  <c:v>184</c:v>
                </c:pt>
                <c:pt idx="2">
                  <c:v>227.1</c:v>
                </c:pt>
                <c:pt idx="3">
                  <c:v>297.10000000000002</c:v>
                </c:pt>
                <c:pt idx="4">
                  <c:v>368.8</c:v>
                </c:pt>
                <c:pt idx="5">
                  <c:v>400</c:v>
                </c:pt>
                <c:pt idx="6">
                  <c:v>545</c:v>
                </c:pt>
                <c:pt idx="7">
                  <c:v>720</c:v>
                </c:pt>
                <c:pt idx="8">
                  <c:v>920</c:v>
                </c:pt>
                <c:pt idx="9">
                  <c:v>1140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95-45C6-A12D-6761B46FEA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6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6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750" b="0" i="0" u="none" strike="noStrike">
                <a:solidFill>
                  <a:srgbClr val="1A2332"/>
                </a:solidFill>
                <a:latin typeface="Arial"/>
              </a:defRPr>
            </a:pPr>
            <a:r>
              <a:rPr lang="en-IN" sz="750" b="0" i="0" u="none" strike="noStrike">
                <a:solidFill>
                  <a:srgbClr val="1A2332"/>
                </a:solidFill>
                <a:latin typeface="Arial"/>
              </a:rPr>
              <a:t>EBITDA Margin Trajectory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 (%)</c:v>
                </c:pt>
              </c:strCache>
            </c:strRef>
          </c:tx>
          <c:spPr>
            <a:ln w="2540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  <c:pt idx="7">
                  <c:v>FY28E</c:v>
                </c:pt>
                <c:pt idx="8">
                  <c:v>FY29E</c:v>
                </c:pt>
                <c:pt idx="9">
                  <c:v>FY30E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21.1</c:v>
                </c:pt>
                <c:pt idx="1">
                  <c:v>23</c:v>
                </c:pt>
                <c:pt idx="2">
                  <c:v>27</c:v>
                </c:pt>
                <c:pt idx="3">
                  <c:v>20</c:v>
                </c:pt>
                <c:pt idx="4">
                  <c:v>23</c:v>
                </c:pt>
                <c:pt idx="5">
                  <c:v>22</c:v>
                </c:pt>
                <c:pt idx="6">
                  <c:v>24.5</c:v>
                </c:pt>
                <c:pt idx="7">
                  <c:v>28</c:v>
                </c:pt>
                <c:pt idx="8">
                  <c:v>30.5</c:v>
                </c:pt>
                <c:pt idx="9">
                  <c:v>32.5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3DA-40E6-B202-4EBC87A775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6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6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09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DRUGS LTD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Pharma &amp; Oncology — Macro Landscape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27432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01168"/>
            <a:ext cx="2331720" cy="1024128"/>
          </a:xfrm>
          <a:prstGeom prst="rect">
            <a:avLst/>
          </a:prstGeom>
          <a:solidFill>
            <a:srgbClr val="16293E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0" y="201168"/>
            <a:ext cx="54864" cy="10241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74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~$65B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66560" y="658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Pharma Market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FY25E, 3rd largest by volume globally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2331720" cy="1024128"/>
          </a:xfrm>
          <a:prstGeom prst="rect">
            <a:avLst/>
          </a:prstGeom>
          <a:solidFill>
            <a:srgbClr val="16293E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1371600"/>
            <a:ext cx="54864" cy="10241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Oncology Market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0" y="2039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at ~12-20% CAGR to 2030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2331720" cy="1024128"/>
          </a:xfrm>
          <a:prstGeom prst="rect">
            <a:avLst/>
          </a:prstGeom>
          <a:solidFill>
            <a:srgbClr val="16293E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542032"/>
            <a:ext cx="54864" cy="10241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6151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$22.5B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2999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CDMO Market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3209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$44.6B by 2029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0" y="3712464"/>
            <a:ext cx="2331720" cy="1024128"/>
          </a:xfrm>
          <a:prstGeom prst="rect">
            <a:avLst/>
          </a:prstGeom>
          <a:solidFill>
            <a:srgbClr val="16293E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3712464"/>
            <a:ext cx="54864" cy="10241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7856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1.46M+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41696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Incidence (India)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4379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 in 2024, rising annually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" y="10515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PHARMA — STRUCTURAL TAILWINDS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132588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world's 3rd largest pharmaceutical producer by volume, valued at ~$65B in FY25 and projected to reach $130-175B by 2030-33 (11-13% CAGR). Our country supplies 20% of global generics, 50% of global vaccine demand, and serves 200+ countries/territories. Government initiatives — PLI schemes for APIs &amp; bulk drugs, Ayushman Bharat expansion to 150K wellness centres — are accelerating domestic consumption, especially in Tier-2/3 cities. Contract manufacturing (CDMO) is a key growth lever: India's CDMO market is expected to double from $22.5B (2024) to $44.6B by 2029, driven by cost advantages and regulatory track records. Patent cliffs of ~$4B annually (2024-26) in developed markets create a massive window for Indian generic makers.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28346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— THE FASTEST GROWING THERAPEUTIC SEGMENT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108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oncology drug market was valued at ~$2B in 2025 and is the largest pharma segment, growing at an 8-20% CAGR through 2030 (varying estimates). Key drivers: 1.46M+ new cancer diagnoses in 2024 (rising annually), Ayushman Bharat adding 17 high-cost oncology drugs to reimbursement (cutting household spend ~55%), and the National Cancer Grid expanding to 300+ centres. Biosimilar oncology drugs (trastuzumab, rituximab) are gaining rapid uptake under state cancer schemes. Indian companies are well-positioned in cytotoxic manufacturing — a high-barrier niche requiring cleanroom capabilities and regulatory approvals (EU-GMP, ANVISA, COFEPRIS). Beta Drugs operates at the intersection of these tailwinds: oncology-focused, CDMO-capable, export-oriented, and vertically integrated in API manufacturing.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IMARC, Mordor Intelligence, Technavio, IQVIA, ISPE, MarkNtel Advisors, Company AR FY25  |  All market figures approximate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DRUGS LTD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&amp; Financial Snapshot</a:t>
            </a:r>
            <a:endParaRPr lang="en-US" sz="16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1ABB82-0B31-00A9-1265-C44307E83A38}"/>
              </a:ext>
            </a:extLst>
          </p:cNvPr>
          <p:cNvGrpSpPr/>
          <p:nvPr/>
        </p:nvGrpSpPr>
        <p:grpSpPr>
          <a:xfrm>
            <a:off x="365760" y="676656"/>
            <a:ext cx="4206240" cy="1490472"/>
            <a:chOff x="457200" y="777240"/>
            <a:chExt cx="4114800" cy="1645920"/>
          </a:xfrm>
        </p:grpSpPr>
        <p:sp>
          <p:nvSpPr>
            <p:cNvPr id="5" name="Shape 3"/>
            <p:cNvSpPr/>
            <p:nvPr/>
          </p:nvSpPr>
          <p:spPr>
            <a:xfrm>
              <a:off x="457200" y="777240"/>
              <a:ext cx="4114800" cy="16459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457200" y="777240"/>
              <a:ext cx="64008" cy="1645920"/>
            </a:xfrm>
            <a:prstGeom prst="rect">
              <a:avLst/>
            </a:prstGeom>
            <a:solidFill>
              <a:srgbClr val="0E7C86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658368" y="850392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kern="0" spc="150" dirty="0">
                  <a:solidFill>
                    <a:srgbClr val="0E7C8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ABOUT THE COMPANY</a:t>
              </a:r>
              <a:endParaRPr lang="en-US" sz="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58368" y="1069848"/>
              <a:ext cx="3749040" cy="1353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00" b="1" dirty="0">
                  <a:solidFill>
                    <a:srgbClr val="1A23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Founded 1985 (Adley Group) | HQ: Baddi, Himachal Pradesh</a:t>
              </a:r>
              <a:endParaRPr lang="en-US" sz="800" dirty="0"/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780" dirty="0">
                  <a:solidFill>
                    <a:srgbClr val="1A23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India's leading cytotoxic oncology drug manufacturer. Operates across Branded Formulations, CDMO, Exports (46+ countries, 268 market filings), API (34 oncology APIs in-house via Adley Lab, Derabassi), Dermatology (Inspira Derma, turned profitable Nov '25), and IVF (66% stake in Nivian Lifesciences acquired Jan '26 for ₹69.4 Cr). Serves top pharma cos. incl. Glenmark, Intas, Alkem, Torrent, Hetero. Forbes Asia 'Best Under a Billion' winner 3 consecutive years. Recently migrated from SME to NSE Main Board (Nov '25). Preferential issue of ₹117 Cr (Tanas Capital — backed by BII, SwedFund, SIDBI, Merck, J&amp;J) strengthens balance sheet.</a:t>
              </a:r>
              <a:endParaRPr lang="en-US" sz="8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9BE4A9B-6900-0337-D28B-F90E1A53EC11}"/>
              </a:ext>
            </a:extLst>
          </p:cNvPr>
          <p:cNvGrpSpPr/>
          <p:nvPr/>
        </p:nvGrpSpPr>
        <p:grpSpPr>
          <a:xfrm>
            <a:off x="4800600" y="430445"/>
            <a:ext cx="4114800" cy="1965960"/>
            <a:chOff x="4800600" y="777240"/>
            <a:chExt cx="4114800" cy="1965960"/>
          </a:xfrm>
        </p:grpSpPr>
        <p:sp>
          <p:nvSpPr>
            <p:cNvPr id="9" name="Shape 7"/>
            <p:cNvSpPr/>
            <p:nvPr/>
          </p:nvSpPr>
          <p:spPr>
            <a:xfrm>
              <a:off x="4800600" y="777240"/>
              <a:ext cx="1280160" cy="9144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4800600" y="886968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E7C8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₹1,143 Cr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800600" y="118872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A23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 Cap</a:t>
              </a:r>
              <a:endParaRPr lang="en-US" sz="7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800600" y="137160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8A96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CMP ₹1,101</a:t>
              </a:r>
              <a:endParaRPr lang="en-US" sz="7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217920" y="777240"/>
              <a:ext cx="1280160" cy="9144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6217920" y="886968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E7C8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₹368.8 Cr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217920" y="118872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A23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FY25 Revenue</a:t>
              </a:r>
              <a:endParaRPr lang="en-US" sz="7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217920" y="137160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8A96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4-Yr CAGR 41.8%</a:t>
              </a:r>
              <a:endParaRPr lang="en-US" sz="7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635240" y="777240"/>
              <a:ext cx="1280160" cy="9144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8" name="Text 16"/>
            <p:cNvSpPr/>
            <p:nvPr/>
          </p:nvSpPr>
          <p:spPr>
            <a:xfrm>
              <a:off x="7635240" y="886968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E7C8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₹84.9 Cr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7635240" y="118872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A23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FY25 EBITDA</a:t>
              </a:r>
              <a:endParaRPr lang="en-US" sz="7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635240" y="137160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8A96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 23.0%</a:t>
              </a:r>
              <a:endParaRPr lang="en-US" sz="7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800600" y="1828800"/>
              <a:ext cx="1280160" cy="9144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Text 20"/>
            <p:cNvSpPr/>
            <p:nvPr/>
          </p:nvSpPr>
          <p:spPr>
            <a:xfrm>
              <a:off x="4800600" y="1938528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E7C8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₹72.6 Cr</a:t>
              </a:r>
              <a:endParaRPr lang="en-US" sz="13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800600" y="224028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A23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FY25 PAT</a:t>
              </a:r>
              <a:endParaRPr lang="en-US" sz="7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800600" y="242316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8A96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NPM 19.7%</a:t>
              </a:r>
              <a:endParaRPr lang="en-US" sz="7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217920" y="1828800"/>
              <a:ext cx="1280160" cy="9144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6" name="Text 24"/>
            <p:cNvSpPr/>
            <p:nvPr/>
          </p:nvSpPr>
          <p:spPr>
            <a:xfrm>
              <a:off x="6217920" y="1938528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E7C8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38.7%</a:t>
              </a:r>
              <a:endParaRPr lang="en-US" sz="13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217920" y="224028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A23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FY25 ROCE</a:t>
              </a:r>
              <a:endParaRPr lang="en-US" sz="7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217920" y="242316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8A96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ROE 36.8%</a:t>
              </a:r>
              <a:endParaRPr lang="en-US" sz="7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635240" y="1828800"/>
              <a:ext cx="1280160" cy="9144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0" name="Text 28"/>
            <p:cNvSpPr/>
            <p:nvPr/>
          </p:nvSpPr>
          <p:spPr>
            <a:xfrm>
              <a:off x="7635240" y="1938528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E7C8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0.09x</a:t>
              </a:r>
              <a:endParaRPr lang="en-US" sz="13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635240" y="224028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A23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FY25 D/E</a:t>
              </a:r>
              <a:endParaRPr lang="en-US" sz="75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7635240" y="2423160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8A96A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 Cash ₹103 Cr</a:t>
              </a:r>
              <a:endParaRPr lang="en-US" sz="700" dirty="0"/>
            </a:p>
          </p:txBody>
        </p:sp>
      </p:grpSp>
      <p:sp>
        <p:nvSpPr>
          <p:cNvPr id="33" name="Text 31"/>
          <p:cNvSpPr/>
          <p:nvPr/>
        </p:nvSpPr>
        <p:spPr>
          <a:xfrm>
            <a:off x="431190" y="219523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(₹ Cr)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010936"/>
              </p:ext>
            </p:extLst>
          </p:nvPr>
        </p:nvGraphicFramePr>
        <p:xfrm>
          <a:off x="431190" y="2396405"/>
          <a:ext cx="3886200" cy="10972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FY23A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FY30E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297.1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(₹)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264.4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4846320" y="24323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&amp; CASH FLOW (₹ Cr)</a:t>
            </a:r>
            <a:endParaRPr lang="en-US" sz="800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058311"/>
              </p:ext>
            </p:extLst>
          </p:nvPr>
        </p:nvGraphicFramePr>
        <p:xfrm>
          <a:off x="4846320" y="2600621"/>
          <a:ext cx="3657600" cy="10972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FY23A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FY30E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Equity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380.1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913.8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272.3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424.3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513.6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602.3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1,159.5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Debt/(Cash)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(103.0)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(125.8)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(174.8)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(452.6)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7" name="Chart 0"/>
          <p:cNvGraphicFramePr/>
          <p:nvPr>
            <p:extLst>
              <p:ext uri="{D42A27DB-BD31-4B8C-83A1-F6EECF244321}">
                <p14:modId xmlns:p14="http://schemas.microsoft.com/office/powerpoint/2010/main" val="3574653578"/>
              </p:ext>
            </p:extLst>
          </p:nvPr>
        </p:nvGraphicFramePr>
        <p:xfrm>
          <a:off x="457200" y="3539405"/>
          <a:ext cx="4206240" cy="1352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8" name="Chart 1"/>
          <p:cNvGraphicFramePr/>
          <p:nvPr>
            <p:extLst>
              <p:ext uri="{D42A27DB-BD31-4B8C-83A1-F6EECF244321}">
                <p14:modId xmlns:p14="http://schemas.microsoft.com/office/powerpoint/2010/main" val="2203786717"/>
              </p:ext>
            </p:extLst>
          </p:nvPr>
        </p:nvGraphicFramePr>
        <p:xfrm>
          <a:off x="4846320" y="3697901"/>
          <a:ext cx="3931920" cy="122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Text 33"/>
          <p:cNvSpPr/>
          <p:nvPr/>
        </p:nvSpPr>
        <p:spPr>
          <a:xfrm>
            <a:off x="457200" y="4926245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filings, Internal model estimates  |  E = Estimated  |  FY ending March</a:t>
            </a:r>
            <a:endParaRPr lang="en-US" sz="650" dirty="0"/>
          </a:p>
        </p:txBody>
      </p:sp>
      <p:sp>
        <p:nvSpPr>
          <p:cNvPr id="40" name="Text 34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DRUGS LTD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— BUY 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252984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41248"/>
            <a:ext cx="4023360" cy="1920240"/>
          </a:xfrm>
          <a:prstGeom prst="rect">
            <a:avLst/>
          </a:prstGeom>
          <a:solidFill>
            <a:srgbClr val="16293E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41248"/>
            <a:ext cx="54864" cy="1920240"/>
          </a:xfrm>
          <a:prstGeom prst="rect">
            <a:avLst/>
          </a:prstGeom>
          <a:solidFill>
            <a:srgbClr val="D9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14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PRICING — WHAT THE STREET SEES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115568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CMP: ₹1,101  |  Market Cap: ₹1,143 Cr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P/E: 15.3x  |  EV/EBITDA: 12.3x  |  P/BV: 5.6x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8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pricing Beta at a discount to pharma peers (median P/E: 26.6x, EV/EBITDA: 17.1x) due to: (a) Q3FY26 revenue dip (₹89.6 Cr vs ₹88.3 Cr YoY) from Platin CDMO exit &amp; export tender delays, (b) FY26 guidance cut to ₹400 Cr (from ₹420 Cr), (c) SME-to-main board migration creating micro-cap discount, (d) Nivian acquisition at 2.4x revenue raising integration concerns. The Street is embedding a near-term earnings trough into the price.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023360" cy="1920240"/>
          </a:xfrm>
          <a:prstGeom prst="rect">
            <a:avLst/>
          </a:prstGeom>
          <a:solidFill>
            <a:srgbClr val="16293E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41248"/>
            <a:ext cx="54864" cy="1920240"/>
          </a:xfrm>
          <a:prstGeom prst="rect">
            <a:avLst/>
          </a:prstGeom>
          <a:solidFill>
            <a:srgbClr val="1B9E5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14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PRICING — INTRINSIC VALUE ASSESSMENT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46320" y="1115568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B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Base Case: ₹1,874/sh  (+70% Upside)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(WACC 13%, g=5%): ₹1,874  |  Range: ₹1,405 – ₹3,663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(Median 26.6x on FY30E): Base ₹4,438, High ₹7,021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 (17.1x on FY30E): Base ₹3,482, High ₹5,665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FY25-30E Revenue CAGR: 25.3%  |  PAT CAGR: 30.5%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FY30E EPS: ₹264 → At 15x exit P/E = ₹3,966 (260% upside)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conservative 10x FY30E EPS = ₹2,644 (140% upside)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828800"/>
          </a:xfrm>
          <a:prstGeom prst="rect">
            <a:avLst/>
          </a:prstGeom>
          <a:solidFill>
            <a:srgbClr val="16293E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54864" cy="1828800"/>
          </a:xfrm>
          <a:prstGeom prst="rect">
            <a:avLst/>
          </a:prstGeom>
          <a:solidFill>
            <a:srgbClr val="12A4B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535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</a:t>
            </a:r>
            <a:r>
              <a:rPr lang="en-US" sz="7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FY26E ₹400 Cr (mgmt guided), FY27E ₹545 Cr (mgmt targets ₹530 Cr + Nivian ₹48 Cr). FY28-30E tapers from 32% → 24% growth.</a:t>
            </a:r>
            <a:endParaRPr lang="en-US" sz="7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Margins: </a:t>
            </a:r>
            <a:r>
              <a:rPr lang="en-US" sz="7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22% (FY26E) → 32.5% (FY30E). COGS improves from 47% → 42% via backward integration (34 APIs in-house). Employee cost front-loaded in FY26 (+21% YoY), operating leverage recovers FY27+.</a:t>
            </a:r>
            <a:endParaRPr lang="en-US" sz="7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</a:t>
            </a:r>
            <a:r>
              <a:rPr lang="en-US" sz="7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25-35% forward growth (vs 64% CAGR FY20-25). EU-GMP, ANVISA, COFEPRIS approvals to drive ₹80 Cr → ₹390 Cr by FY30E.</a:t>
            </a:r>
            <a:endParaRPr lang="en-US" sz="7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Nivian IVF: </a:t>
            </a:r>
            <a:r>
              <a:rPr lang="en-US" sz="7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 Cr FY26E (9M actual ₹30.3 Cr), scaling to ₹98 Cr by FY30E. India IVF market $1.06B, 7.8% CAGR. Scuttlebutt confirms gynaecologist adoption.</a:t>
            </a:r>
            <a:endParaRPr lang="en-US" sz="7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DCF: </a:t>
            </a:r>
            <a:r>
              <a:rPr lang="en-US" sz="7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13%, terminal growth 5%, mid-year convention. Net cash position (₹103 Cr FY25A) adds to equity value.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828800"/>
          </a:xfrm>
          <a:prstGeom prst="rect">
            <a:avLst/>
          </a:prstGeom>
          <a:solidFill>
            <a:srgbClr val="16293E"/>
          </a:solidFill>
          <a:ln/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80360"/>
            <a:ext cx="54864" cy="1828800"/>
          </a:xfrm>
          <a:prstGeom prst="rect">
            <a:avLst/>
          </a:prstGeom>
          <a:solidFill>
            <a:srgbClr val="D9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9535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315468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Approval Risk: </a:t>
            </a:r>
            <a:r>
              <a:rPr lang="en-US" sz="7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EU-GMP, ANVISA, COFEPRIS approvals could push export revenue targets to the right. 148+ dossiers pending — conversion rate is a key variable.</a:t>
            </a:r>
            <a:endParaRPr lang="en-US" sz="7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Concentration: </a:t>
            </a:r>
            <a:r>
              <a:rPr lang="en-US" sz="7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brands contribute ~50% of sales. Competitive intensity in oncology generics and government tenders adds pricing pressure.</a:t>
            </a:r>
            <a:endParaRPr lang="en-US" sz="7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Integration: </a:t>
            </a:r>
            <a:r>
              <a:rPr lang="en-US" sz="7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Nivian (IVF) acquired at ~2.4x revenue. Cross-selling synergies via gynec field force are assumed but unproven at scale.</a:t>
            </a:r>
            <a:endParaRPr lang="en-US" sz="7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Macro: </a:t>
            </a:r>
            <a:r>
              <a:rPr lang="en-US" sz="750" dirty="0">
                <a:solidFill>
                  <a:srgbClr val="A8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is a transition year (guidance cut, CDMO exit, hiring surge). Export tender unpredictability, currency risk (INR/USD), and small-cap liquidity risk remain.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Company filings, Management commentary, DCF &amp; Comps model (internal)  |  Valuation as of Feb 2026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503920" y="4828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Flowchart: Extract 23">
            <a:extLst>
              <a:ext uri="{FF2B5EF4-FFF2-40B4-BE49-F238E27FC236}">
                <a16:creationId xmlns:a16="http://schemas.microsoft.com/office/drawing/2014/main" id="{B33F9666-1562-AA9A-B534-F5E4BA501AC9}"/>
              </a:ext>
            </a:extLst>
          </p:cNvPr>
          <p:cNvSpPr/>
          <p:nvPr/>
        </p:nvSpPr>
        <p:spPr>
          <a:xfrm>
            <a:off x="2743200" y="373214"/>
            <a:ext cx="243840" cy="228600"/>
          </a:xfrm>
          <a:prstGeom prst="flowChartExtra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1316</Words>
  <Application>Microsoft Office PowerPoint</Application>
  <PresentationFormat>On-screen Show (16:9)</PresentationFormat>
  <Paragraphs>166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Beta Drugs Ltd — Stock Pitch</dc:title>
  <dc:subject>PptxGenJS Presentation</dc:subject>
  <dc:creator>Buy-Side Equity Research</dc:creator>
  <cp:lastModifiedBy>Harsh Vijay</cp:lastModifiedBy>
  <cp:revision>2</cp:revision>
  <dcterms:created xsi:type="dcterms:W3CDTF">2026-02-20T02:59:11Z</dcterms:created>
  <dcterms:modified xsi:type="dcterms:W3CDTF">2026-02-20T03:18:21Z</dcterms:modified>
</cp:coreProperties>
</file>